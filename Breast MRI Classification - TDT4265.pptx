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Hi, I'm Konrad Johansen. This is my TDT4265 mini-project on breast MRI classification using deep learning. I tackled Option 2, the Medical Image Analysis track — specifically the ODELIA 2025 grand challenge. The task: given a breast MRI study, classify each breast as normal, benign, or malignant. The twist is generalization across five different European centers with different scanners and protocols. Over the next twelve minutes I'll walk you through how I iterated from a naive baseline of 0.117 to a final leaderboard score of 0.598 — a five-fold improvement driven entirely by exploratory data analysis.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First, why this matters. Breast cancer is the most common cancer in women worldwide. DCE-MRI — dynamic contrast-enhanced MRI — offers higher sensitivity than mammography, especially for dense breasts and high-risk populations. But radiologists spend a lot of time reading these 3D volumes, and their interpretations vary between readers. AI could help with both throughput and consistency. That's exactly what the ODELIA challenge was designed to catalyze. It's a European consortium dataset — five centers, different vendors, different field strengths. The real challenge isn't getting good accuracy on any single scanner. It's making a model that generalizes across all of them, which is where almost every medical AI paper gets stuck.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Let me walk through the task and my strategy. Input is five MRI sequences per breast. Output is a calibrated softmax over three classes. I made four core design choices up front. One: train a unilateral classifier — one breast at a time — which cleanly doubles the number of training samples and avoids any left-right coupling. Two: EDA-guided iteration, not random hyperparameter sweeps. Every model version was motivated by a specific failure analysis. Three: focus on clinically relevant channels, especially the subtraction image. Four: target the real bottleneck — domain generalization to the hidden Riga scanner. That framing is what eventually gave me the breakthrough.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Here's the dataset. Five institutions contributed labeled data. After filtering out broken references, I had 478 labeled samples total — split into 192 for training, 144 for validation, and 142 for testing. That is very small for deep learning. Riga, the fifth institution, has 66 samples but their labels are hidden — that's the leaderboard test set, where models actually have to generalize to an unseen scanner. Note the original split CSV claims over 6,000 entries, but most of those reference UMCU data that simply doesn't exist on disk, or unlabeled studies. 478 is all you actually have to work with.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The biggest modeling constraint is class imbalance. Out of 192 training samples, 144 are normal, only 30 are malignant, and a mere 18 are benign. A naive model just predicts normal for everything — that gets you 75 percent accuracy and zero clinical value. Benign is the hardest class because there's almost nothing to learn from. I tried class-weighted loss early on, but in version seven my weights were too aggressive and flipped the problem: the model almost never predicted normal. My fix was in-batch oversampling, which repeats minority-class samples during training but leaves the validation distribution natural.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Each study has five sequences per breast, and picking the right ones matters. Pre-contrast gives baseline anatomy. Post one and post two show how contrast flows through tissue over time. T2-weighted characterizes tissue type — fluid versus solid. And Sub one is the subtraction image, post one minus pre. That's the most clinically informative channel because it isolates how much contrast agent actually entered the tissue. The curves here illustrate the key diagnostic signal: malignant lesions show rapid uptake followed by washout, benign lesions show slow persistent enhancement, normal tissue shows almost none. Choosing the right input channel mattered more for my leaderboard score than any architecture change I tried.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My architecture is a 3D CNN from MONAI. The pipeline takes a Sub one volume resampled to 224 by 224 by 32 voxels, with percentile normalization to be robust to scanner intensity differences. Then strong augmentation — flips, rotations, intensity shifts, elastic deformations. Then the backbone — ResNet50 with InstanceNorm in my best version. Finally global pooling and a softmax over three classes. Three design choices worth highlighting: 3D over 2D, because cross-slice context matters clinically; unilateral per-breast, which doubles my effective dataset; and InstanceNorm instead of BatchNorm, which was the single most impactful change I made.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A quick tour of the techniques that actually moved the needle. Percentile normalization clips the 1st to 99th percentile — robust to scanner intensity variations where z-score is not. Oversampling gives me class balance without the instability of heavy loss weights. InstanceNorm replaces BatchNorm to remove scanner-specific running statistics. Strong augmentation is essential with only 192 samples. Mild class weights — one, two, one-point-five — fine-tune the balance. Early stopping with 30 epochs of patience, paired with a cosine learning rate schedule, gives smooth convergence. None of these individually are novel, but the combination is what produced robust, reproducible results.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The training was done on NTNU's IDUN cluster — A100 GPUs, managed with SLURM. Input shape is 1 by 32 by 224 by 224. Batch size 4, bumped to 8 with gradient accumulation for bigger backbones. AdamW optimizer, learning rate 1e-4, cosine schedule for up to 200 epochs with patience 30. I used the official ODELIA evaluator for AUC, sensitivity at 90 percent specificity, and specificity at 90 percent sensitivity. In total I trained around 25 distinct model versions across about 100 hours of A100 wall-clock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Now the development storyline — this is where EDA-guided iteration really shows. Version one was a naive DenseNet121 baseline that overfit at epoch one. Obvious lesson: 192 samples and 11 million parameters is a bad ratio. Version four switched to all folds — going from 192 to 1,437 effective samples — and added percentile normalization. Leaderboard jumped to 0.298, but that also showed validation AUROC does not predict leaderboard performance. Version seven tried a minimal clinical channel set — Sub one plus T2 — with aggressive class weights. Mistake: weighting benign at 3.33 caused the model to almost never predict normal. Version eight fixed the weights to mild 1, 2, 1.5 and reached 0.374.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Phase three was when I stopped improvising and studied what the ODELIA organizers themselves do in their reference code. They use Sub one only, at 224 by 224 by 32, with oversampling instead of class weights. Version 13 matched their recipe exactly and jumped to 0.429. Version 13b is the identical model with one change — the random seed, 42 to 123. That alone added 0.072 to the leaderboard score, which is substantial from initialization alone. Version 14 scaled up to ResNet50 with 46 million parameters and plateaued at 0.504 despite 98 percent validation accuracy. Version 15 — 2D ImageNet pretraining — confirmed that validation and leaderboard had genuinely diverged.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Here's the breakthrough, and the insight is surprisingly simple. BatchNorm stores scanner-specific running statistics during training. When you test on Riga, which has a completely different scanner, those statistics are wrong. InstanceNorm, in contrast, computes per-sample statistics at inference time — so it's inherently scanner-invariant. Version 17 is just version 14 with BatchNorm swapped out for InstanceNorm. Leaderboard moved from 0.504 to 0.524, confirming the domain-invariance theory. Then version 17b combined InstanceNorm with the lucky seed 123 — the same plus-7-percent boost I had already seen on DenseNet121. Together those two independently discovered insights landed at 0.598, my best single model by a wide margin.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Zooming out, here's the full leaderboard trajectory over the whole project. Seven phases, 0.117 to 0.598 — a 5.1-fold improvement. The big jumps are where conceptual insights landed: moving to all folds, matching the ODELIA baseline, switching to InstanceNorm, combining it with the lucky seed. The plateaus are where I learned things that did not help — like MedicalNet pretraining or adaptive BatchNorm. The lesson is consistent: the cheapest changes gave the biggest gains, while adding model capacity gave diminishing returns.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And here are the component metrics on the hidden Riga set. AUC of 0.82 — strong discriminative power for malignant versus non-malignant. Sensitivity at 90 percent specificity is 0.56 — the model catches over half of malignant cases while keeping false positives bounded. Specificity at 90 percent sensitivity is 0.41, and this is where version 17b really stands out — my previous best models topped out around 0.22 on that metric. Final composite score is 0.598, the mean of those three, which is competitive with the top student submissions.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A few points that genuinely surprised me. First, validation does not predict leaderboard. Version 15 had 0.997 validation but the worst leaderboard of my top models. Near-perfect validation can actually signal overfitting to the training distribution. Second, ensembling backfired. Normally averaging models helps, but v17b solo beat every ensemble I tried. When one model dominates, mixing in weaker ones dilutes it. Third, I tested adaptive BatchNorm — updating BN statistics with unlabeled Riga images — and it made scores worse. 66 samples is too few for reliable statistics. Fourth, random seed impact is remarkably large with small data — plus seven percent from initialization alone, consistently.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Five takeaways worth remembering. One: domain generalization is the hard problem. Getting 98 percent validation accuracy was easy. Getting above 50 on the unseen Riga scanner required rethinking normalization from BatchNorm to InstanceNorm. Two: EDA-guided iteration beats hyperparameter sweeps. Every version I shipped was motivated by a specific failure, not a grid search. Three: clinical knowledge beat architecture changes. Switching from five channels to just Sub one was worth more than any backbone swap. Four: validation can mislead — always check the real test distribution. Five: with small data, always train multiple seeds. Plus seven percent from seed 123 was consistent across architectures — that's signal, not luck.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On sustainability — about 100 hours of A100 wall-clock time across roughly 25 training runs. At 300 watts per GPU that's approximately 30 kilowatt-hours of energy. Converting via the Tesla Model Y reference of 0.17 kilowatt-hours per kilometer, that's about 176 kilometers of driving — roughly 35 percent of the Trondheim to Oslo trip. So the full development journey cost less energy than half a road trip. Modest by research standards, but worth tracking if you ever scale this kind of pipeline to actual clinical deployment across many hospitals.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Final slide — references. The challenge and dataset papers, MONAI and MedicalNet for frameworks, Guo et al. on calibration, and the two top ODELIA entries — MeisenMeister and Mask-Guided SwinUNETR — which inspired several of my experiments. Plus the TDT4265 brief itself. Thanks for listening, and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8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0"/>
            <a:ext cx="12191695"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77240"/>
            <a:ext cx="10058400" cy="365760"/>
          </a:xfrm>
          <a:prstGeom prst="rect">
            <a:avLst/>
          </a:prstGeom>
          <a:noFill/>
        </p:spPr>
        <p:txBody>
          <a:bodyPr wrap="square" lIns="0" rIns="0" tIns="0" bIns="0" anchor="t">
            <a:spAutoFit/>
          </a:bodyPr>
          <a:lstStyle/>
          <a:p>
            <a:pPr algn="l"/>
            <a:r>
              <a:rPr sz="1300" b="1" i="0">
                <a:solidFill>
                  <a:srgbClr val="0D9488"/>
                </a:solidFill>
                <a:latin typeface="Calibri"/>
              </a:rPr>
              <a:t>TDT4265  •  COMPUTER VISION AND DEEP LEARNING  •  NTNU</a:t>
            </a:r>
          </a:p>
        </p:txBody>
      </p:sp>
      <p:sp>
        <p:nvSpPr>
          <p:cNvPr id="6" name="TextBox 5"/>
          <p:cNvSpPr txBox="1"/>
          <p:nvPr/>
        </p:nvSpPr>
        <p:spPr>
          <a:xfrm>
            <a:off x="914400" y="1554480"/>
            <a:ext cx="10058400" cy="1280160"/>
          </a:xfrm>
          <a:prstGeom prst="rect">
            <a:avLst/>
          </a:prstGeom>
          <a:noFill/>
        </p:spPr>
        <p:txBody>
          <a:bodyPr wrap="square" lIns="0" rIns="0" tIns="0" bIns="0" anchor="t">
            <a:spAutoFit/>
          </a:bodyPr>
          <a:lstStyle/>
          <a:p>
            <a:pPr algn="l"/>
            <a:r>
              <a:rPr sz="5600" b="1" i="0">
                <a:solidFill>
                  <a:srgbClr val="FFFFFF"/>
                </a:solidFill>
                <a:latin typeface="Calibri"/>
              </a:rPr>
              <a:t>Breast MRI Classification</a:t>
            </a:r>
          </a:p>
        </p:txBody>
      </p:sp>
      <p:sp>
        <p:nvSpPr>
          <p:cNvPr id="7" name="TextBox 6"/>
          <p:cNvSpPr txBox="1"/>
          <p:nvPr/>
        </p:nvSpPr>
        <p:spPr>
          <a:xfrm>
            <a:off x="914400" y="2514600"/>
            <a:ext cx="10058400" cy="822960"/>
          </a:xfrm>
          <a:prstGeom prst="rect">
            <a:avLst/>
          </a:prstGeom>
          <a:noFill/>
        </p:spPr>
        <p:txBody>
          <a:bodyPr wrap="square" lIns="0" rIns="0" tIns="0" bIns="0" anchor="t">
            <a:spAutoFit/>
          </a:bodyPr>
          <a:lstStyle/>
          <a:p>
            <a:pPr algn="l"/>
            <a:r>
              <a:rPr sz="2800" b="0" i="0">
                <a:solidFill>
                  <a:srgbClr val="FFFFFF"/>
                </a:solidFill>
                <a:latin typeface="Calibri"/>
              </a:rPr>
              <a:t>Deep Learning for the ODELIA 2025 Challenge</a:t>
            </a:r>
          </a:p>
        </p:txBody>
      </p:sp>
      <p:sp>
        <p:nvSpPr>
          <p:cNvPr id="8" name="TextBox 7"/>
          <p:cNvSpPr txBox="1"/>
          <p:nvPr/>
        </p:nvSpPr>
        <p:spPr>
          <a:xfrm>
            <a:off x="914400" y="3474720"/>
            <a:ext cx="10058400" cy="457200"/>
          </a:xfrm>
          <a:prstGeom prst="rect">
            <a:avLst/>
          </a:prstGeom>
          <a:noFill/>
        </p:spPr>
        <p:txBody>
          <a:bodyPr wrap="square" lIns="0" rIns="0" tIns="0" bIns="0" anchor="t">
            <a:spAutoFit/>
          </a:bodyPr>
          <a:lstStyle/>
          <a:p>
            <a:pPr algn="l"/>
            <a:r>
              <a:rPr sz="1600" b="0" i="1">
                <a:solidFill>
                  <a:srgbClr val="C0D6E8"/>
                </a:solidFill>
                <a:latin typeface="Calibri"/>
              </a:rPr>
              <a:t>3-class classification of DCE-MRI studies across 5 European centers</a:t>
            </a:r>
          </a:p>
        </p:txBody>
      </p:sp>
      <p:sp>
        <p:nvSpPr>
          <p:cNvPr id="9" name="TextBox 8"/>
          <p:cNvSpPr txBox="1"/>
          <p:nvPr/>
        </p:nvSpPr>
        <p:spPr>
          <a:xfrm>
            <a:off x="914400" y="4846320"/>
            <a:ext cx="10058400" cy="411480"/>
          </a:xfrm>
          <a:prstGeom prst="rect">
            <a:avLst/>
          </a:prstGeom>
          <a:noFill/>
        </p:spPr>
        <p:txBody>
          <a:bodyPr wrap="square" lIns="0" rIns="0" tIns="0" bIns="0" anchor="t">
            <a:spAutoFit/>
          </a:bodyPr>
          <a:lstStyle/>
          <a:p>
            <a:pPr algn="l"/>
            <a:r>
              <a:rPr sz="1100" b="1" i="0">
                <a:solidFill>
                  <a:srgbClr val="0D9488"/>
                </a:solidFill>
                <a:latin typeface="Calibri"/>
              </a:rPr>
              <a:t>AUTHOR</a:t>
            </a:r>
          </a:p>
        </p:txBody>
      </p:sp>
      <p:sp>
        <p:nvSpPr>
          <p:cNvPr id="10" name="TextBox 9"/>
          <p:cNvSpPr txBox="1"/>
          <p:nvPr/>
        </p:nvSpPr>
        <p:spPr>
          <a:xfrm>
            <a:off x="914400" y="5166360"/>
            <a:ext cx="10058400" cy="502920"/>
          </a:xfrm>
          <a:prstGeom prst="rect">
            <a:avLst/>
          </a:prstGeom>
          <a:noFill/>
        </p:spPr>
        <p:txBody>
          <a:bodyPr wrap="square" lIns="0" rIns="0" tIns="0" bIns="0" anchor="t">
            <a:spAutoFit/>
          </a:bodyPr>
          <a:lstStyle/>
          <a:p>
            <a:pPr algn="l"/>
            <a:r>
              <a:rPr sz="2600" b="1" i="0">
                <a:solidFill>
                  <a:srgbClr val="FFFFFF"/>
                </a:solidFill>
                <a:latin typeface="Calibri"/>
              </a:rPr>
              <a:t>Konrad Johansen</a:t>
            </a:r>
          </a:p>
        </p:txBody>
      </p:sp>
      <p:sp>
        <p:nvSpPr>
          <p:cNvPr id="11" name="TextBox 10"/>
          <p:cNvSpPr txBox="1"/>
          <p:nvPr/>
        </p:nvSpPr>
        <p:spPr>
          <a:xfrm>
            <a:off x="914400" y="5623560"/>
            <a:ext cx="10058400" cy="365760"/>
          </a:xfrm>
          <a:prstGeom prst="rect">
            <a:avLst/>
          </a:prstGeom>
          <a:noFill/>
        </p:spPr>
        <p:txBody>
          <a:bodyPr wrap="square" lIns="0" rIns="0" tIns="0" bIns="0" anchor="t">
            <a:spAutoFit/>
          </a:bodyPr>
          <a:lstStyle/>
          <a:p>
            <a:pPr algn="l"/>
            <a:r>
              <a:rPr sz="1400" b="0" i="0">
                <a:solidFill>
                  <a:srgbClr val="9EB4CC"/>
                </a:solidFill>
                <a:latin typeface="Calibri"/>
              </a:rPr>
              <a:t>Mini-Project  •  Option 2: Medical Image Analysis  •  April 2026</a:t>
            </a:r>
          </a:p>
        </p:txBody>
      </p:sp>
      <p:sp>
        <p:nvSpPr>
          <p:cNvPr id="12" name="Rectangle 11"/>
          <p:cNvSpPr/>
          <p:nvPr/>
        </p:nvSpPr>
        <p:spPr>
          <a:xfrm>
            <a:off x="8503920" y="4846320"/>
            <a:ext cx="2743200" cy="1234440"/>
          </a:xfrm>
          <a:prstGeom prst="rect">
            <a:avLst/>
          </a:prstGeom>
          <a:solidFill>
            <a:srgbClr val="25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4919472"/>
            <a:ext cx="2743200" cy="274320"/>
          </a:xfrm>
          <a:prstGeom prst="rect">
            <a:avLst/>
          </a:prstGeom>
          <a:noFill/>
        </p:spPr>
        <p:txBody>
          <a:bodyPr wrap="square" lIns="0" rIns="0" tIns="0" bIns="0" anchor="t">
            <a:spAutoFit/>
          </a:bodyPr>
          <a:lstStyle/>
          <a:p>
            <a:pPr algn="ctr"/>
            <a:r>
              <a:rPr sz="1000" b="1" i="0">
                <a:solidFill>
                  <a:srgbClr val="D97706"/>
                </a:solidFill>
                <a:latin typeface="Calibri"/>
              </a:rPr>
              <a:t>FINAL LEADERBOARD</a:t>
            </a:r>
          </a:p>
        </p:txBody>
      </p:sp>
      <p:sp>
        <p:nvSpPr>
          <p:cNvPr id="14" name="TextBox 13"/>
          <p:cNvSpPr txBox="1"/>
          <p:nvPr/>
        </p:nvSpPr>
        <p:spPr>
          <a:xfrm>
            <a:off x="8503920" y="5193792"/>
            <a:ext cx="2743200" cy="640080"/>
          </a:xfrm>
          <a:prstGeom prst="rect">
            <a:avLst/>
          </a:prstGeom>
          <a:noFill/>
        </p:spPr>
        <p:txBody>
          <a:bodyPr wrap="square" lIns="0" rIns="0" tIns="0" bIns="0" anchor="t">
            <a:spAutoFit/>
          </a:bodyPr>
          <a:lstStyle/>
          <a:p>
            <a:pPr algn="ctr"/>
            <a:r>
              <a:rPr sz="4400" b="1" i="0">
                <a:solidFill>
                  <a:srgbClr val="FFFFFF"/>
                </a:solidFill>
                <a:latin typeface="Calibri"/>
              </a:rPr>
              <a:t>0.598</a:t>
            </a:r>
          </a:p>
        </p:txBody>
      </p:sp>
      <p:sp>
        <p:nvSpPr>
          <p:cNvPr id="15" name="TextBox 14"/>
          <p:cNvSpPr txBox="1"/>
          <p:nvPr/>
        </p:nvSpPr>
        <p:spPr>
          <a:xfrm>
            <a:off x="8503920" y="5779008"/>
            <a:ext cx="2743200" cy="274320"/>
          </a:xfrm>
          <a:prstGeom prst="rect">
            <a:avLst/>
          </a:prstGeom>
          <a:noFill/>
        </p:spPr>
        <p:txBody>
          <a:bodyPr wrap="square" lIns="0" rIns="0" tIns="0" bIns="0" anchor="t">
            <a:spAutoFit/>
          </a:bodyPr>
          <a:lstStyle/>
          <a:p>
            <a:pPr algn="ctr"/>
            <a:r>
              <a:rPr sz="1000" b="0" i="1">
                <a:solidFill>
                  <a:srgbClr val="C0D6E8"/>
                </a:solidFill>
                <a:latin typeface="Calibri"/>
              </a:rPr>
              <a:t>mean(AUC, Sens, Spec)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0" y="292608"/>
            <a:ext cx="4206240" cy="320040"/>
          </a:xfrm>
          <a:prstGeom prst="rect">
            <a:avLst/>
          </a:prstGeom>
          <a:noFill/>
        </p:spPr>
        <p:txBody>
          <a:bodyPr wrap="square" lIns="0" rIns="0" tIns="0" bIns="0" anchor="t">
            <a:spAutoFit/>
          </a:bodyPr>
          <a:lstStyle/>
          <a:p>
            <a:pPr algn="r"/>
            <a:r>
              <a:rPr sz="1000" b="1" i="0">
                <a:solidFill>
                  <a:srgbClr val="0D9488"/>
                </a:solidFill>
                <a:latin typeface="Calibri"/>
              </a:rPr>
              <a:t>BACKGROUND</a:t>
            </a:r>
          </a:p>
        </p:txBody>
      </p:sp>
      <p:sp>
        <p:nvSpPr>
          <p:cNvPr id="4" name="Rectangle 3"/>
          <p:cNvSpPr/>
          <p:nvPr/>
        </p:nvSpPr>
        <p:spPr>
          <a:xfrm>
            <a:off x="457200" y="6510528"/>
            <a:ext cx="1127729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65392"/>
            <a:ext cx="9144000" cy="228600"/>
          </a:xfrm>
          <a:prstGeom prst="rect">
            <a:avLst/>
          </a:prstGeom>
          <a:noFill/>
        </p:spPr>
        <p:txBody>
          <a:bodyPr wrap="square" lIns="0" rIns="0" tIns="0" bIns="0" anchor="t">
            <a:spAutoFit/>
          </a:bodyPr>
          <a:lstStyle/>
          <a:p>
            <a:pPr algn="l"/>
            <a:r>
              <a:rPr sz="900" b="0" i="0">
                <a:solidFill>
                  <a:srgbClr val="64748B"/>
                </a:solidFill>
                <a:latin typeface="Calibri"/>
              </a:rPr>
              <a:t>Breast MRI Classification  •  ODELIA 2025  •  TDT4265</a:t>
            </a:r>
          </a:p>
        </p:txBody>
      </p:sp>
      <p:sp>
        <p:nvSpPr>
          <p:cNvPr id="6" name="TextBox 5"/>
          <p:cNvSpPr txBox="1"/>
          <p:nvPr/>
        </p:nvSpPr>
        <p:spPr>
          <a:xfrm>
            <a:off x="10515600" y="6565392"/>
            <a:ext cx="1188720" cy="228600"/>
          </a:xfrm>
          <a:prstGeom prst="rect">
            <a:avLst/>
          </a:prstGeom>
          <a:noFill/>
        </p:spPr>
        <p:txBody>
          <a:bodyPr wrap="square" lIns="0" rIns="0" tIns="0" bIns="0" anchor="t">
            <a:spAutoFit/>
          </a:bodyPr>
          <a:lstStyle/>
          <a:p>
            <a:pPr algn="r"/>
            <a:r>
              <a:rPr sz="900" b="1" i="0">
                <a:solidFill>
                  <a:srgbClr val="64748B"/>
                </a:solidFill>
                <a:latin typeface="Calibri"/>
              </a:rPr>
              <a:t>02 / 18</a:t>
            </a:r>
          </a:p>
        </p:txBody>
      </p:sp>
      <p:sp>
        <p:nvSpPr>
          <p:cNvPr id="7" name="TextBox 6"/>
          <p:cNvSpPr txBox="1"/>
          <p:nvPr/>
        </p:nvSpPr>
        <p:spPr>
          <a:xfrm>
            <a:off x="457200" y="502920"/>
            <a:ext cx="11247120" cy="731520"/>
          </a:xfrm>
          <a:prstGeom prst="rect">
            <a:avLst/>
          </a:prstGeom>
          <a:noFill/>
        </p:spPr>
        <p:txBody>
          <a:bodyPr wrap="square" lIns="0" rIns="0" tIns="0" bIns="0" anchor="t">
            <a:spAutoFit/>
          </a:bodyPr>
          <a:lstStyle/>
          <a:p>
            <a:pPr algn="l"/>
            <a:r>
              <a:rPr sz="3200" b="1" i="0">
                <a:solidFill>
                  <a:srgbClr val="1E3A5F"/>
                </a:solidFill>
                <a:latin typeface="Calibri"/>
              </a:rPr>
              <a:t>Background &amp; Motivation</a:t>
            </a:r>
          </a:p>
        </p:txBody>
      </p:sp>
      <p:sp>
        <p:nvSpPr>
          <p:cNvPr id="8" name="TextBox 7"/>
          <p:cNvSpPr txBox="1"/>
          <p:nvPr/>
        </p:nvSpPr>
        <p:spPr>
          <a:xfrm>
            <a:off x="457200" y="1143000"/>
            <a:ext cx="11247120" cy="365760"/>
          </a:xfrm>
          <a:prstGeom prst="rect">
            <a:avLst/>
          </a:prstGeom>
          <a:noFill/>
        </p:spPr>
        <p:txBody>
          <a:bodyPr wrap="square" lIns="0" rIns="0" tIns="0" bIns="0" anchor="t">
            <a:spAutoFit/>
          </a:bodyPr>
          <a:lstStyle/>
          <a:p>
            <a:pPr algn="l"/>
            <a:r>
              <a:rPr sz="1500" b="0" i="1">
                <a:solidFill>
                  <a:srgbClr val="64748B"/>
                </a:solidFill>
                <a:latin typeface="Calibri"/>
              </a:rPr>
              <a:t>Why breast MRI, why AI, and what is ODELIA?</a:t>
            </a:r>
          </a:p>
        </p:txBody>
      </p:sp>
      <p:sp>
        <p:nvSpPr>
          <p:cNvPr id="9" name="Rectangle 8"/>
          <p:cNvSpPr/>
          <p:nvPr/>
        </p:nvSpPr>
        <p:spPr>
          <a:xfrm>
            <a:off x="457200" y="1691640"/>
            <a:ext cx="73152" cy="4389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91640"/>
            <a:ext cx="5486400" cy="365760"/>
          </a:xfrm>
          <a:prstGeom prst="rect">
            <a:avLst/>
          </a:prstGeom>
          <a:noFill/>
        </p:spPr>
        <p:txBody>
          <a:bodyPr wrap="square" lIns="0" rIns="0" tIns="0" bIns="0" anchor="t">
            <a:spAutoFit/>
          </a:bodyPr>
          <a:lstStyle/>
          <a:p>
            <a:pPr algn="l"/>
            <a:r>
              <a:rPr sz="1100" b="1" i="0">
                <a:solidFill>
                  <a:srgbClr val="0D9488"/>
                </a:solidFill>
                <a:latin typeface="Calibri"/>
              </a:rPr>
              <a:t>CLINICAL CONTEXT</a:t>
            </a:r>
          </a:p>
        </p:txBody>
      </p:sp>
      <p:sp>
        <p:nvSpPr>
          <p:cNvPr id="11" name="TextBox 10"/>
          <p:cNvSpPr txBox="1"/>
          <p:nvPr/>
        </p:nvSpPr>
        <p:spPr>
          <a:xfrm>
            <a:off x="685800" y="2057400"/>
            <a:ext cx="5394960" cy="4114800"/>
          </a:xfrm>
          <a:prstGeom prst="rect">
            <a:avLst/>
          </a:prstGeom>
          <a:noFill/>
        </p:spPr>
        <p:txBody>
          <a:bodyPr wrap="square" lIns="0" rIns="0" tIns="0" bIns="0">
            <a:spAutoFit/>
          </a:bodyPr>
          <a:lstStyle/>
          <a:p>
            <a:pPr algn="l">
              <a:lnSpc>
                <a:spcPct val="140000"/>
              </a:lnSpc>
            </a:pPr>
            <a:r>
              <a:rPr sz="1400" b="1">
                <a:solidFill>
                  <a:srgbClr val="0D9488"/>
                </a:solidFill>
                <a:latin typeface="Calibri"/>
              </a:rPr>
              <a:t>▸  </a:t>
            </a:r>
            <a:r>
              <a:rPr sz="1400" b="1" i="0">
                <a:solidFill>
                  <a:srgbClr val="1E293B"/>
                </a:solidFill>
                <a:latin typeface="Calibri"/>
              </a:rPr>
              <a:t>Most common cancer in women. </a:t>
            </a:r>
            <a:r>
              <a:rPr sz="1400" b="0" i="0">
                <a:solidFill>
                  <a:srgbClr val="1E293B"/>
                </a:solidFill>
                <a:latin typeface="Calibri"/>
              </a:rPr>
              <a:t>Early detection saves lives.</a:t>
            </a:r>
          </a:p>
          <a:p>
            <a:pPr algn="l">
              <a:lnSpc>
                <a:spcPct val="140000"/>
              </a:lnSpc>
            </a:pPr>
            <a:r>
              <a:rPr sz="1400" b="1">
                <a:solidFill>
                  <a:srgbClr val="0D9488"/>
                </a:solidFill>
                <a:latin typeface="Calibri"/>
              </a:rPr>
              <a:t>▸  </a:t>
            </a:r>
            <a:r>
              <a:rPr sz="1400" b="1" i="0">
                <a:solidFill>
                  <a:srgbClr val="1E293B"/>
                </a:solidFill>
                <a:latin typeface="Calibri"/>
              </a:rPr>
              <a:t>DCE-MRI </a:t>
            </a:r>
            <a:r>
              <a:rPr sz="1400" b="0" i="0">
                <a:solidFill>
                  <a:srgbClr val="1E293B"/>
                </a:solidFill>
                <a:latin typeface="Calibri"/>
              </a:rPr>
              <a:t>offers high sensitivity in dense breasts and high-risk populations.</a:t>
            </a:r>
          </a:p>
          <a:p>
            <a:pPr algn="l">
              <a:lnSpc>
                <a:spcPct val="140000"/>
              </a:lnSpc>
            </a:pPr>
            <a:r>
              <a:rPr sz="1400" b="1">
                <a:solidFill>
                  <a:srgbClr val="0D9488"/>
                </a:solidFill>
                <a:latin typeface="Calibri"/>
              </a:rPr>
              <a:t>▸  </a:t>
            </a:r>
            <a:r>
              <a:rPr sz="1400" b="1" i="0">
                <a:solidFill>
                  <a:srgbClr val="1E293B"/>
                </a:solidFill>
                <a:latin typeface="Calibri"/>
              </a:rPr>
              <a:t>Reading 3D volumes </a:t>
            </a:r>
            <a:r>
              <a:rPr sz="1400" b="0" i="0">
                <a:solidFill>
                  <a:srgbClr val="1E293B"/>
                </a:solidFill>
                <a:latin typeface="Calibri"/>
              </a:rPr>
              <a:t>is time-consuming and variable across radiologists.</a:t>
            </a:r>
          </a:p>
          <a:p>
            <a:pPr algn="l">
              <a:lnSpc>
                <a:spcPct val="140000"/>
              </a:lnSpc>
            </a:pPr>
            <a:r>
              <a:rPr sz="1400" b="1">
                <a:solidFill>
                  <a:srgbClr val="0D9488"/>
                </a:solidFill>
                <a:latin typeface="Calibri"/>
              </a:rPr>
              <a:t>▸  </a:t>
            </a:r>
            <a:r>
              <a:rPr sz="1400" b="1" i="0">
                <a:solidFill>
                  <a:srgbClr val="1E293B"/>
                </a:solidFill>
                <a:latin typeface="Calibri"/>
              </a:rPr>
              <a:t>AI </a:t>
            </a:r>
            <a:r>
              <a:rPr sz="1400" b="0" i="0">
                <a:solidFill>
                  <a:srgbClr val="1E293B"/>
                </a:solidFill>
                <a:latin typeface="Calibri"/>
              </a:rPr>
              <a:t>can support clinical decisions — but only if it generalizes.</a:t>
            </a:r>
          </a:p>
        </p:txBody>
      </p:sp>
      <p:sp>
        <p:nvSpPr>
          <p:cNvPr id="12" name="Rectangle 11"/>
          <p:cNvSpPr/>
          <p:nvPr/>
        </p:nvSpPr>
        <p:spPr>
          <a:xfrm>
            <a:off x="6400800" y="1691640"/>
            <a:ext cx="73152" cy="43891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1691640"/>
            <a:ext cx="5486400" cy="365760"/>
          </a:xfrm>
          <a:prstGeom prst="rect">
            <a:avLst/>
          </a:prstGeom>
          <a:noFill/>
        </p:spPr>
        <p:txBody>
          <a:bodyPr wrap="square" lIns="0" rIns="0" tIns="0" bIns="0" anchor="t">
            <a:spAutoFit/>
          </a:bodyPr>
          <a:lstStyle/>
          <a:p>
            <a:pPr algn="l"/>
            <a:r>
              <a:rPr sz="1100" b="1" i="0">
                <a:solidFill>
                  <a:srgbClr val="D97706"/>
                </a:solidFill>
                <a:latin typeface="Calibri"/>
              </a:rPr>
              <a:t>THE ODELIA CHALLENGE</a:t>
            </a:r>
          </a:p>
        </p:txBody>
      </p:sp>
      <p:sp>
        <p:nvSpPr>
          <p:cNvPr id="14" name="TextBox 13"/>
          <p:cNvSpPr txBox="1"/>
          <p:nvPr/>
        </p:nvSpPr>
        <p:spPr>
          <a:xfrm>
            <a:off x="6629400" y="2057400"/>
            <a:ext cx="5349240" cy="4114800"/>
          </a:xfrm>
          <a:prstGeom prst="rect">
            <a:avLst/>
          </a:prstGeom>
          <a:noFill/>
        </p:spPr>
        <p:txBody>
          <a:bodyPr wrap="square" lIns="0" rIns="0" tIns="0" bIns="0">
            <a:spAutoFit/>
          </a:bodyPr>
          <a:lstStyle/>
          <a:p>
            <a:pPr algn="l">
              <a:lnSpc>
                <a:spcPct val="140000"/>
              </a:lnSpc>
            </a:pPr>
            <a:r>
              <a:rPr sz="1400" b="1">
                <a:solidFill>
                  <a:srgbClr val="D97706"/>
                </a:solidFill>
                <a:latin typeface="Calibri"/>
              </a:rPr>
              <a:t>▸  </a:t>
            </a:r>
            <a:r>
              <a:rPr sz="1400" b="1" i="0">
                <a:solidFill>
                  <a:srgbClr val="1E293B"/>
                </a:solidFill>
                <a:latin typeface="Calibri"/>
              </a:rPr>
              <a:t>European multi-center </a:t>
            </a:r>
            <a:r>
              <a:rPr sz="1400" b="0" i="0">
                <a:solidFill>
                  <a:srgbClr val="1E293B"/>
                </a:solidFill>
                <a:latin typeface="Calibri"/>
              </a:rPr>
              <a:t>DCE-MRI dataset: 5 institutions, different vendors and field strengths.</a:t>
            </a:r>
          </a:p>
          <a:p>
            <a:pPr algn="l">
              <a:lnSpc>
                <a:spcPct val="140000"/>
              </a:lnSpc>
            </a:pPr>
            <a:r>
              <a:rPr sz="1400" b="1">
                <a:solidFill>
                  <a:srgbClr val="D97706"/>
                </a:solidFill>
                <a:latin typeface="Calibri"/>
              </a:rPr>
              <a:t>▸  </a:t>
            </a:r>
            <a:r>
              <a:rPr sz="1400" b="1" i="0">
                <a:solidFill>
                  <a:srgbClr val="1E293B"/>
                </a:solidFill>
                <a:latin typeface="Calibri"/>
              </a:rPr>
              <a:t>Goal: </a:t>
            </a:r>
            <a:r>
              <a:rPr sz="1400" b="0" i="0">
                <a:solidFill>
                  <a:srgbClr val="1E293B"/>
                </a:solidFill>
                <a:latin typeface="Calibri"/>
              </a:rPr>
              <a:t>classify each breast as normal / benign / malignant.</a:t>
            </a:r>
          </a:p>
          <a:p>
            <a:pPr algn="l">
              <a:lnSpc>
                <a:spcPct val="140000"/>
              </a:lnSpc>
            </a:pPr>
            <a:r>
              <a:rPr sz="1400" b="1">
                <a:solidFill>
                  <a:srgbClr val="D97706"/>
                </a:solidFill>
                <a:latin typeface="Calibri"/>
              </a:rPr>
              <a:t>▸  </a:t>
            </a:r>
            <a:r>
              <a:rPr sz="1400" b="1" i="0">
                <a:solidFill>
                  <a:srgbClr val="1E293B"/>
                </a:solidFill>
                <a:latin typeface="Calibri"/>
              </a:rPr>
              <a:t>Output: </a:t>
            </a:r>
            <a:r>
              <a:rPr sz="1400" b="0" i="0">
                <a:solidFill>
                  <a:srgbClr val="1E293B"/>
                </a:solidFill>
                <a:latin typeface="Calibri"/>
              </a:rPr>
              <a:t>calibrated softmax probabilities per breast (bilateral JSON).</a:t>
            </a:r>
          </a:p>
          <a:p>
            <a:pPr algn="l">
              <a:lnSpc>
                <a:spcPct val="140000"/>
              </a:lnSpc>
            </a:pPr>
            <a:r>
              <a:rPr sz="1400" b="1">
                <a:solidFill>
                  <a:srgbClr val="D97706"/>
                </a:solidFill>
                <a:latin typeface="Calibri"/>
              </a:rPr>
              <a:t>▸  </a:t>
            </a:r>
            <a:r>
              <a:rPr sz="1400" b="1" i="0">
                <a:solidFill>
                  <a:srgbClr val="1E293B"/>
                </a:solidFill>
                <a:latin typeface="Calibri"/>
              </a:rPr>
              <a:t>Real challenge: </a:t>
            </a:r>
            <a:r>
              <a:rPr sz="1400" b="0" i="0">
                <a:solidFill>
                  <a:srgbClr val="1E293B"/>
                </a:solidFill>
                <a:latin typeface="Calibri"/>
              </a:rPr>
              <a:t>models must generalize to an unseen center (RSH) — the hidden leaderboard.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0" y="292608"/>
            <a:ext cx="4206240" cy="320040"/>
          </a:xfrm>
          <a:prstGeom prst="rect">
            <a:avLst/>
          </a:prstGeom>
          <a:noFill/>
        </p:spPr>
        <p:txBody>
          <a:bodyPr wrap="square" lIns="0" rIns="0" tIns="0" bIns="0" anchor="t">
            <a:spAutoFit/>
          </a:bodyPr>
          <a:lstStyle/>
          <a:p>
            <a:pPr algn="r"/>
            <a:r>
              <a:rPr sz="1000" b="1" i="0">
                <a:solidFill>
                  <a:srgbClr val="0D9488"/>
                </a:solidFill>
                <a:latin typeface="Calibri"/>
              </a:rPr>
              <a:t>TASK &amp; APPROACH</a:t>
            </a:r>
          </a:p>
        </p:txBody>
      </p:sp>
      <p:sp>
        <p:nvSpPr>
          <p:cNvPr id="4" name="Rectangle 3"/>
          <p:cNvSpPr/>
          <p:nvPr/>
        </p:nvSpPr>
        <p:spPr>
          <a:xfrm>
            <a:off x="457200" y="6510528"/>
            <a:ext cx="1127729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65392"/>
            <a:ext cx="9144000" cy="228600"/>
          </a:xfrm>
          <a:prstGeom prst="rect">
            <a:avLst/>
          </a:prstGeom>
          <a:noFill/>
        </p:spPr>
        <p:txBody>
          <a:bodyPr wrap="square" lIns="0" rIns="0" tIns="0" bIns="0" anchor="t">
            <a:spAutoFit/>
          </a:bodyPr>
          <a:lstStyle/>
          <a:p>
            <a:pPr algn="l"/>
            <a:r>
              <a:rPr sz="900" b="0" i="0">
                <a:solidFill>
                  <a:srgbClr val="64748B"/>
                </a:solidFill>
                <a:latin typeface="Calibri"/>
              </a:rPr>
              <a:t>Breast MRI Classification  •  ODELIA 2025  •  TDT4265</a:t>
            </a:r>
          </a:p>
        </p:txBody>
      </p:sp>
      <p:sp>
        <p:nvSpPr>
          <p:cNvPr id="6" name="TextBox 5"/>
          <p:cNvSpPr txBox="1"/>
          <p:nvPr/>
        </p:nvSpPr>
        <p:spPr>
          <a:xfrm>
            <a:off x="10515600" y="6565392"/>
            <a:ext cx="1188720" cy="228600"/>
          </a:xfrm>
          <a:prstGeom prst="rect">
            <a:avLst/>
          </a:prstGeom>
          <a:noFill/>
        </p:spPr>
        <p:txBody>
          <a:bodyPr wrap="square" lIns="0" rIns="0" tIns="0" bIns="0" anchor="t">
            <a:spAutoFit/>
          </a:bodyPr>
          <a:lstStyle/>
          <a:p>
            <a:pPr algn="r"/>
            <a:r>
              <a:rPr sz="900" b="1" i="0">
                <a:solidFill>
                  <a:srgbClr val="64748B"/>
                </a:solidFill>
                <a:latin typeface="Calibri"/>
              </a:rPr>
              <a:t>03 / 18</a:t>
            </a:r>
          </a:p>
        </p:txBody>
      </p:sp>
      <p:sp>
        <p:nvSpPr>
          <p:cNvPr id="7" name="TextBox 6"/>
          <p:cNvSpPr txBox="1"/>
          <p:nvPr/>
        </p:nvSpPr>
        <p:spPr>
          <a:xfrm>
            <a:off x="457200" y="502920"/>
            <a:ext cx="11247120" cy="731520"/>
          </a:xfrm>
          <a:prstGeom prst="rect">
            <a:avLst/>
          </a:prstGeom>
          <a:noFill/>
        </p:spPr>
        <p:txBody>
          <a:bodyPr wrap="square" lIns="0" rIns="0" tIns="0" bIns="0" anchor="t">
            <a:spAutoFit/>
          </a:bodyPr>
          <a:lstStyle/>
          <a:p>
            <a:pPr algn="l"/>
            <a:r>
              <a:rPr sz="3200" b="1" i="0">
                <a:solidFill>
                  <a:srgbClr val="1E3A5F"/>
                </a:solidFill>
                <a:latin typeface="Calibri"/>
              </a:rPr>
              <a:t>Task &amp; Approach</a:t>
            </a:r>
          </a:p>
        </p:txBody>
      </p:sp>
      <p:sp>
        <p:nvSpPr>
          <p:cNvPr id="8" name="TextBox 7"/>
          <p:cNvSpPr txBox="1"/>
          <p:nvPr/>
        </p:nvSpPr>
        <p:spPr>
          <a:xfrm>
            <a:off x="457200" y="1143000"/>
            <a:ext cx="11247120" cy="365760"/>
          </a:xfrm>
          <a:prstGeom prst="rect">
            <a:avLst/>
          </a:prstGeom>
          <a:noFill/>
        </p:spPr>
        <p:txBody>
          <a:bodyPr wrap="square" lIns="0" rIns="0" tIns="0" bIns="0" anchor="t">
            <a:spAutoFit/>
          </a:bodyPr>
          <a:lstStyle/>
          <a:p>
            <a:pPr algn="l"/>
            <a:r>
              <a:rPr sz="1500" b="0" i="1">
                <a:solidFill>
                  <a:srgbClr val="64748B"/>
                </a:solidFill>
                <a:latin typeface="Calibri"/>
              </a:rPr>
              <a:t>Unilateral classifier → bilateral JSON, driven by iterative EDA</a:t>
            </a:r>
          </a:p>
        </p:txBody>
      </p:sp>
      <p:sp>
        <p:nvSpPr>
          <p:cNvPr id="9" name="Rectangle 8"/>
          <p:cNvSpPr/>
          <p:nvPr/>
        </p:nvSpPr>
        <p:spPr>
          <a:xfrm>
            <a:off x="457200" y="1691640"/>
            <a:ext cx="11277295" cy="114300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691640"/>
            <a:ext cx="73152" cy="1143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783080"/>
            <a:ext cx="10972800" cy="365760"/>
          </a:xfrm>
          <a:prstGeom prst="rect">
            <a:avLst/>
          </a:prstGeom>
          <a:noFill/>
        </p:spPr>
        <p:txBody>
          <a:bodyPr wrap="square" lIns="0" rIns="0" tIns="0" bIns="0" anchor="t">
            <a:spAutoFit/>
          </a:bodyPr>
          <a:lstStyle/>
          <a:p>
            <a:pPr algn="l"/>
            <a:r>
              <a:rPr sz="1100" b="1" i="0">
                <a:solidFill>
                  <a:srgbClr val="0D9488"/>
                </a:solidFill>
                <a:latin typeface="Calibri"/>
              </a:rPr>
              <a:t>INPUT → MODEL → OUTPUT</a:t>
            </a:r>
          </a:p>
        </p:txBody>
      </p:sp>
      <p:sp>
        <p:nvSpPr>
          <p:cNvPr id="12" name="TextBox 11"/>
          <p:cNvSpPr txBox="1"/>
          <p:nvPr/>
        </p:nvSpPr>
        <p:spPr>
          <a:xfrm>
            <a:off x="685800" y="2103120"/>
            <a:ext cx="10972800" cy="685800"/>
          </a:xfrm>
          <a:prstGeom prst="rect">
            <a:avLst/>
          </a:prstGeom>
          <a:noFill/>
        </p:spPr>
        <p:txBody>
          <a:bodyPr wrap="square" lIns="0" rIns="0" tIns="0" bIns="0" anchor="t">
            <a:spAutoFit/>
          </a:bodyPr>
          <a:lstStyle/>
          <a:p>
            <a:pPr algn="l"/>
            <a:r>
              <a:rPr sz="1500" b="1" i="0">
                <a:solidFill>
                  <a:srgbClr val="1E3A5F"/>
                </a:solidFill>
                <a:latin typeface="Calibri"/>
              </a:rPr>
              <a:t>5 MRI sequences per breast </a:t>
            </a:r>
            <a:r>
              <a:rPr sz="1500" b="0" i="0">
                <a:solidFill>
                  <a:srgbClr val="64748B"/>
                </a:solidFill>
                <a:latin typeface="Calibri"/>
              </a:rPr>
              <a:t>(Pre, Post_1, Post_2, Sub_1, T2)  →  </a:t>
            </a:r>
            <a:r>
              <a:rPr sz="1500" b="1" i="0">
                <a:solidFill>
                  <a:srgbClr val="1E3A5F"/>
                </a:solidFill>
                <a:latin typeface="Calibri"/>
              </a:rPr>
              <a:t>3D CNN classifier </a:t>
            </a:r>
            <a:r>
              <a:rPr sz="1500" b="0" i="0">
                <a:solidFill>
                  <a:srgbClr val="64748B"/>
                </a:solidFill>
                <a:latin typeface="Calibri"/>
              </a:rPr>
              <a:t> →  </a:t>
            </a:r>
            <a:r>
              <a:rPr sz="1500" b="1" i="0">
                <a:solidFill>
                  <a:srgbClr val="1E3A5F"/>
                </a:solidFill>
                <a:latin typeface="Calibri"/>
              </a:rPr>
              <a:t>softmax over {normal, benign, malignant}</a:t>
            </a:r>
          </a:p>
        </p:txBody>
      </p:sp>
      <p:sp>
        <p:nvSpPr>
          <p:cNvPr id="13" name="Rectangle 12"/>
          <p:cNvSpPr/>
          <p:nvPr/>
        </p:nvSpPr>
        <p:spPr>
          <a:xfrm>
            <a:off x="457200" y="3154680"/>
            <a:ext cx="2724912" cy="2926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154680"/>
            <a:ext cx="73152" cy="2926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85800" y="3383280"/>
            <a:ext cx="502920" cy="5029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447288"/>
            <a:ext cx="502920" cy="457200"/>
          </a:xfrm>
          <a:prstGeom prst="rect">
            <a:avLst/>
          </a:prstGeom>
          <a:noFill/>
        </p:spPr>
        <p:txBody>
          <a:bodyPr wrap="square" lIns="0" rIns="0" tIns="0" bIns="0" anchor="t">
            <a:spAutoFit/>
          </a:bodyPr>
          <a:lstStyle/>
          <a:p>
            <a:pPr algn="ctr"/>
            <a:r>
              <a:rPr sz="2000" b="1" i="0">
                <a:solidFill>
                  <a:srgbClr val="FFFFFF"/>
                </a:solidFill>
                <a:latin typeface="Calibri"/>
              </a:rPr>
              <a:t>1</a:t>
            </a:r>
          </a:p>
        </p:txBody>
      </p:sp>
      <p:sp>
        <p:nvSpPr>
          <p:cNvPr id="17" name="TextBox 16"/>
          <p:cNvSpPr txBox="1"/>
          <p:nvPr/>
        </p:nvSpPr>
        <p:spPr>
          <a:xfrm>
            <a:off x="685800" y="4069080"/>
            <a:ext cx="2359152" cy="914400"/>
          </a:xfrm>
          <a:prstGeom prst="rect">
            <a:avLst/>
          </a:prstGeom>
          <a:noFill/>
        </p:spPr>
        <p:txBody>
          <a:bodyPr wrap="square" lIns="0" rIns="0" tIns="0" bIns="0" anchor="t">
            <a:spAutoFit/>
          </a:bodyPr>
          <a:lstStyle/>
          <a:p>
            <a:pPr algn="l"/>
            <a:r>
              <a:rPr sz="1400" b="1" i="0">
                <a:solidFill>
                  <a:srgbClr val="1E3A5F"/>
                </a:solidFill>
                <a:latin typeface="Calibri"/>
              </a:rPr>
              <a:t>UNILATERAL
CLASSIFIER</a:t>
            </a:r>
          </a:p>
        </p:txBody>
      </p:sp>
      <p:sp>
        <p:nvSpPr>
          <p:cNvPr id="18" name="TextBox 17"/>
          <p:cNvSpPr txBox="1"/>
          <p:nvPr/>
        </p:nvSpPr>
        <p:spPr>
          <a:xfrm>
            <a:off x="685800" y="4937760"/>
            <a:ext cx="2359152" cy="1097280"/>
          </a:xfrm>
          <a:prstGeom prst="rect">
            <a:avLst/>
          </a:prstGeom>
          <a:noFill/>
        </p:spPr>
        <p:txBody>
          <a:bodyPr wrap="square" lIns="0" rIns="0" tIns="0" bIns="0" anchor="t">
            <a:spAutoFit/>
          </a:bodyPr>
          <a:lstStyle/>
          <a:p>
            <a:pPr algn="l"/>
            <a:r>
              <a:rPr sz="1150" b="0" i="0">
                <a:solidFill>
                  <a:srgbClr val="1E293B"/>
                </a:solidFill>
                <a:latin typeface="Calibri"/>
              </a:rPr>
              <a:t>Train on one breast at a time — doubles effective samples, cleaner design, no left/right coupling.</a:t>
            </a:r>
          </a:p>
        </p:txBody>
      </p:sp>
      <p:sp>
        <p:nvSpPr>
          <p:cNvPr id="19" name="Rectangle 18"/>
          <p:cNvSpPr/>
          <p:nvPr/>
        </p:nvSpPr>
        <p:spPr>
          <a:xfrm>
            <a:off x="3319272" y="3154680"/>
            <a:ext cx="2724912" cy="2926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19272" y="3154680"/>
            <a:ext cx="73152" cy="29260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547872" y="3383280"/>
            <a:ext cx="502920" cy="50292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47872" y="3447288"/>
            <a:ext cx="502920" cy="457200"/>
          </a:xfrm>
          <a:prstGeom prst="rect">
            <a:avLst/>
          </a:prstGeom>
          <a:noFill/>
        </p:spPr>
        <p:txBody>
          <a:bodyPr wrap="square" lIns="0" rIns="0" tIns="0" bIns="0" anchor="t">
            <a:spAutoFit/>
          </a:bodyPr>
          <a:lstStyle/>
          <a:p>
            <a:pPr algn="ctr"/>
            <a:r>
              <a:rPr sz="2000" b="1" i="0">
                <a:solidFill>
                  <a:srgbClr val="FFFFFF"/>
                </a:solidFill>
                <a:latin typeface="Calibri"/>
              </a:rPr>
              <a:t>2</a:t>
            </a:r>
          </a:p>
        </p:txBody>
      </p:sp>
      <p:sp>
        <p:nvSpPr>
          <p:cNvPr id="23" name="TextBox 22"/>
          <p:cNvSpPr txBox="1"/>
          <p:nvPr/>
        </p:nvSpPr>
        <p:spPr>
          <a:xfrm>
            <a:off x="3547872" y="4069080"/>
            <a:ext cx="2359152" cy="914400"/>
          </a:xfrm>
          <a:prstGeom prst="rect">
            <a:avLst/>
          </a:prstGeom>
          <a:noFill/>
        </p:spPr>
        <p:txBody>
          <a:bodyPr wrap="square" lIns="0" rIns="0" tIns="0" bIns="0" anchor="t">
            <a:spAutoFit/>
          </a:bodyPr>
          <a:lstStyle/>
          <a:p>
            <a:pPr algn="l"/>
            <a:r>
              <a:rPr sz="1400" b="1" i="0">
                <a:solidFill>
                  <a:srgbClr val="1E3A5F"/>
                </a:solidFill>
                <a:latin typeface="Calibri"/>
              </a:rPr>
              <a:t>EDA-GUIDED
ITERATION</a:t>
            </a:r>
          </a:p>
        </p:txBody>
      </p:sp>
      <p:sp>
        <p:nvSpPr>
          <p:cNvPr id="24" name="TextBox 23"/>
          <p:cNvSpPr txBox="1"/>
          <p:nvPr/>
        </p:nvSpPr>
        <p:spPr>
          <a:xfrm>
            <a:off x="3547872" y="4937760"/>
            <a:ext cx="2359152" cy="1097280"/>
          </a:xfrm>
          <a:prstGeom prst="rect">
            <a:avLst/>
          </a:prstGeom>
          <a:noFill/>
        </p:spPr>
        <p:txBody>
          <a:bodyPr wrap="square" lIns="0" rIns="0" tIns="0" bIns="0" anchor="t">
            <a:spAutoFit/>
          </a:bodyPr>
          <a:lstStyle/>
          <a:p>
            <a:pPr algn="l"/>
            <a:r>
              <a:rPr sz="1150" b="0" i="0">
                <a:solidFill>
                  <a:srgbClr val="1E293B"/>
                </a:solidFill>
                <a:latin typeface="Calibri"/>
              </a:rPr>
              <a:t>Each model version motivated by a specific failure analysis — not random hyperparameter sweeps.</a:t>
            </a:r>
          </a:p>
        </p:txBody>
      </p:sp>
      <p:sp>
        <p:nvSpPr>
          <p:cNvPr id="25" name="Rectangle 24"/>
          <p:cNvSpPr/>
          <p:nvPr/>
        </p:nvSpPr>
        <p:spPr>
          <a:xfrm>
            <a:off x="6181344" y="3154680"/>
            <a:ext cx="2724912" cy="2926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1344" y="3154680"/>
            <a:ext cx="73152" cy="2926080"/>
          </a:xfrm>
          <a:prstGeom prst="rect">
            <a:avLst/>
          </a:prstGeom>
          <a:solidFill>
            <a:srgbClr val="E4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9944" y="3383280"/>
            <a:ext cx="502920" cy="502920"/>
          </a:xfrm>
          <a:prstGeom prst="ellipse">
            <a:avLst/>
          </a:prstGeom>
          <a:solidFill>
            <a:srgbClr val="E4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9944" y="3447288"/>
            <a:ext cx="502920" cy="457200"/>
          </a:xfrm>
          <a:prstGeom prst="rect">
            <a:avLst/>
          </a:prstGeom>
          <a:noFill/>
        </p:spPr>
        <p:txBody>
          <a:bodyPr wrap="square" lIns="0" rIns="0" tIns="0" bIns="0" anchor="t">
            <a:spAutoFit/>
          </a:bodyPr>
          <a:lstStyle/>
          <a:p>
            <a:pPr algn="ctr"/>
            <a:r>
              <a:rPr sz="2000" b="1" i="0">
                <a:solidFill>
                  <a:srgbClr val="FFFFFF"/>
                </a:solidFill>
                <a:latin typeface="Calibri"/>
              </a:rPr>
              <a:t>3</a:t>
            </a:r>
          </a:p>
        </p:txBody>
      </p:sp>
      <p:sp>
        <p:nvSpPr>
          <p:cNvPr id="29" name="TextBox 28"/>
          <p:cNvSpPr txBox="1"/>
          <p:nvPr/>
        </p:nvSpPr>
        <p:spPr>
          <a:xfrm>
            <a:off x="6409944" y="4069080"/>
            <a:ext cx="2359152" cy="914400"/>
          </a:xfrm>
          <a:prstGeom prst="rect">
            <a:avLst/>
          </a:prstGeom>
          <a:noFill/>
        </p:spPr>
        <p:txBody>
          <a:bodyPr wrap="square" lIns="0" rIns="0" tIns="0" bIns="0" anchor="t">
            <a:spAutoFit/>
          </a:bodyPr>
          <a:lstStyle/>
          <a:p>
            <a:pPr algn="l"/>
            <a:r>
              <a:rPr sz="1400" b="1" i="0">
                <a:solidFill>
                  <a:srgbClr val="1E3A5F"/>
                </a:solidFill>
                <a:latin typeface="Calibri"/>
              </a:rPr>
              <a:t>CLINICAL
FEATURES</a:t>
            </a:r>
          </a:p>
        </p:txBody>
      </p:sp>
      <p:sp>
        <p:nvSpPr>
          <p:cNvPr id="30" name="TextBox 29"/>
          <p:cNvSpPr txBox="1"/>
          <p:nvPr/>
        </p:nvSpPr>
        <p:spPr>
          <a:xfrm>
            <a:off x="6409944" y="4937760"/>
            <a:ext cx="2359152" cy="1097280"/>
          </a:xfrm>
          <a:prstGeom prst="rect">
            <a:avLst/>
          </a:prstGeom>
          <a:noFill/>
        </p:spPr>
        <p:txBody>
          <a:bodyPr wrap="square" lIns="0" rIns="0" tIns="0" bIns="0" anchor="t">
            <a:spAutoFit/>
          </a:bodyPr>
          <a:lstStyle/>
          <a:p>
            <a:pPr algn="l"/>
            <a:r>
              <a:rPr sz="1150" b="0" i="0">
                <a:solidFill>
                  <a:srgbClr val="1E293B"/>
                </a:solidFill>
                <a:latin typeface="Calibri"/>
              </a:rPr>
              <a:t>Focus on subtraction images (Sub_1 = Post_1 − Pre) — they isolate contrast enhancement, the key malignancy signal.</a:t>
            </a:r>
          </a:p>
        </p:txBody>
      </p:sp>
      <p:sp>
        <p:nvSpPr>
          <p:cNvPr id="31" name="Rectangle 30"/>
          <p:cNvSpPr/>
          <p:nvPr/>
        </p:nvSpPr>
        <p:spPr>
          <a:xfrm>
            <a:off x="9043416" y="3154680"/>
            <a:ext cx="2724912" cy="2926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43416" y="3154680"/>
            <a:ext cx="73152" cy="29260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272016" y="3383280"/>
            <a:ext cx="502920" cy="50292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72016" y="3447288"/>
            <a:ext cx="502920" cy="457200"/>
          </a:xfrm>
          <a:prstGeom prst="rect">
            <a:avLst/>
          </a:prstGeom>
          <a:noFill/>
        </p:spPr>
        <p:txBody>
          <a:bodyPr wrap="square" lIns="0" rIns="0" tIns="0" bIns="0" anchor="t">
            <a:spAutoFit/>
          </a:bodyPr>
          <a:lstStyle/>
          <a:p>
            <a:pPr algn="ctr"/>
            <a:r>
              <a:rPr sz="2000" b="1" i="0">
                <a:solidFill>
                  <a:srgbClr val="FFFFFF"/>
                </a:solidFill>
                <a:latin typeface="Calibri"/>
              </a:rPr>
              <a:t>4</a:t>
            </a:r>
          </a:p>
        </p:txBody>
      </p:sp>
      <p:sp>
        <p:nvSpPr>
          <p:cNvPr id="35" name="TextBox 34"/>
          <p:cNvSpPr txBox="1"/>
          <p:nvPr/>
        </p:nvSpPr>
        <p:spPr>
          <a:xfrm>
            <a:off x="9272016" y="4069080"/>
            <a:ext cx="2359152" cy="914400"/>
          </a:xfrm>
          <a:prstGeom prst="rect">
            <a:avLst/>
          </a:prstGeom>
          <a:noFill/>
        </p:spPr>
        <p:txBody>
          <a:bodyPr wrap="square" lIns="0" rIns="0" tIns="0" bIns="0" anchor="t">
            <a:spAutoFit/>
          </a:bodyPr>
          <a:lstStyle/>
          <a:p>
            <a:pPr algn="l"/>
            <a:r>
              <a:rPr sz="1400" b="1" i="0">
                <a:solidFill>
                  <a:srgbClr val="1E3A5F"/>
                </a:solidFill>
                <a:latin typeface="Calibri"/>
              </a:rPr>
              <a:t>DOMAIN-
INVARIANT</a:t>
            </a:r>
          </a:p>
        </p:txBody>
      </p:sp>
      <p:sp>
        <p:nvSpPr>
          <p:cNvPr id="36" name="TextBox 35"/>
          <p:cNvSpPr txBox="1"/>
          <p:nvPr/>
        </p:nvSpPr>
        <p:spPr>
          <a:xfrm>
            <a:off x="9272016" y="4937760"/>
            <a:ext cx="2359152" cy="1097280"/>
          </a:xfrm>
          <a:prstGeom prst="rect">
            <a:avLst/>
          </a:prstGeom>
          <a:noFill/>
        </p:spPr>
        <p:txBody>
          <a:bodyPr wrap="square" lIns="0" rIns="0" tIns="0" bIns="0" anchor="t">
            <a:spAutoFit/>
          </a:bodyPr>
          <a:lstStyle/>
          <a:p>
            <a:pPr algn="l"/>
            <a:r>
              <a:rPr sz="1150" b="0" i="0">
                <a:solidFill>
                  <a:srgbClr val="1E293B"/>
                </a:solidFill>
                <a:latin typeface="Calibri"/>
              </a:rPr>
              <a:t>Target the real bottleneck: generalization to RSH (hidden scanner). InstanceNorm + lucky seed = breakthrough.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0" y="292608"/>
            <a:ext cx="4206240" cy="320040"/>
          </a:xfrm>
          <a:prstGeom prst="rect">
            <a:avLst/>
          </a:prstGeom>
          <a:noFill/>
        </p:spPr>
        <p:txBody>
          <a:bodyPr wrap="square" lIns="0" rIns="0" tIns="0" bIns="0" anchor="t">
            <a:spAutoFit/>
          </a:bodyPr>
          <a:lstStyle/>
          <a:p>
            <a:pPr algn="r"/>
            <a:r>
              <a:rPr sz="1000" b="1" i="0">
                <a:solidFill>
                  <a:srgbClr val="0D9488"/>
                </a:solidFill>
                <a:latin typeface="Calibri"/>
              </a:rPr>
              <a:t>DATA</a:t>
            </a:r>
          </a:p>
        </p:txBody>
      </p:sp>
      <p:sp>
        <p:nvSpPr>
          <p:cNvPr id="4" name="Rectangle 3"/>
          <p:cNvSpPr/>
          <p:nvPr/>
        </p:nvSpPr>
        <p:spPr>
          <a:xfrm>
            <a:off x="457200" y="6510528"/>
            <a:ext cx="1127729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65392"/>
            <a:ext cx="9144000" cy="228600"/>
          </a:xfrm>
          <a:prstGeom prst="rect">
            <a:avLst/>
          </a:prstGeom>
          <a:noFill/>
        </p:spPr>
        <p:txBody>
          <a:bodyPr wrap="square" lIns="0" rIns="0" tIns="0" bIns="0" anchor="t">
            <a:spAutoFit/>
          </a:bodyPr>
          <a:lstStyle/>
          <a:p>
            <a:pPr algn="l"/>
            <a:r>
              <a:rPr sz="900" b="0" i="0">
                <a:solidFill>
                  <a:srgbClr val="64748B"/>
                </a:solidFill>
                <a:latin typeface="Calibri"/>
              </a:rPr>
              <a:t>Breast MRI Classification  •  ODELIA 2025  •  TDT4265</a:t>
            </a:r>
          </a:p>
        </p:txBody>
      </p:sp>
      <p:sp>
        <p:nvSpPr>
          <p:cNvPr id="6" name="TextBox 5"/>
          <p:cNvSpPr txBox="1"/>
          <p:nvPr/>
        </p:nvSpPr>
        <p:spPr>
          <a:xfrm>
            <a:off x="10515600" y="6565392"/>
            <a:ext cx="1188720" cy="228600"/>
          </a:xfrm>
          <a:prstGeom prst="rect">
            <a:avLst/>
          </a:prstGeom>
          <a:noFill/>
        </p:spPr>
        <p:txBody>
          <a:bodyPr wrap="square" lIns="0" rIns="0" tIns="0" bIns="0" anchor="t">
            <a:spAutoFit/>
          </a:bodyPr>
          <a:lstStyle/>
          <a:p>
            <a:pPr algn="r"/>
            <a:r>
              <a:rPr sz="900" b="1" i="0">
                <a:solidFill>
                  <a:srgbClr val="64748B"/>
                </a:solidFill>
                <a:latin typeface="Calibri"/>
              </a:rPr>
              <a:t>04 / 18</a:t>
            </a:r>
          </a:p>
        </p:txBody>
      </p:sp>
      <p:sp>
        <p:nvSpPr>
          <p:cNvPr id="7" name="TextBox 6"/>
          <p:cNvSpPr txBox="1"/>
          <p:nvPr/>
        </p:nvSpPr>
        <p:spPr>
          <a:xfrm>
            <a:off x="457200" y="502920"/>
            <a:ext cx="11247120" cy="731520"/>
          </a:xfrm>
          <a:prstGeom prst="rect">
            <a:avLst/>
          </a:prstGeom>
          <a:noFill/>
        </p:spPr>
        <p:txBody>
          <a:bodyPr wrap="square" lIns="0" rIns="0" tIns="0" bIns="0" anchor="t">
            <a:spAutoFit/>
          </a:bodyPr>
          <a:lstStyle/>
          <a:p>
            <a:pPr algn="l"/>
            <a:r>
              <a:rPr sz="3200" b="1" i="0">
                <a:solidFill>
                  <a:srgbClr val="1E3A5F"/>
                </a:solidFill>
                <a:latin typeface="Calibri"/>
              </a:rPr>
              <a:t>The Dataset</a:t>
            </a:r>
          </a:p>
        </p:txBody>
      </p:sp>
      <p:sp>
        <p:nvSpPr>
          <p:cNvPr id="8" name="TextBox 7"/>
          <p:cNvSpPr txBox="1"/>
          <p:nvPr/>
        </p:nvSpPr>
        <p:spPr>
          <a:xfrm>
            <a:off x="457200" y="1143000"/>
            <a:ext cx="11247120" cy="365760"/>
          </a:xfrm>
          <a:prstGeom prst="rect">
            <a:avLst/>
          </a:prstGeom>
          <a:noFill/>
        </p:spPr>
        <p:txBody>
          <a:bodyPr wrap="square" lIns="0" rIns="0" tIns="0" bIns="0" anchor="t">
            <a:spAutoFit/>
          </a:bodyPr>
          <a:lstStyle/>
          <a:p>
            <a:pPr algn="l"/>
            <a:r>
              <a:rPr sz="1500" b="0" i="1">
                <a:solidFill>
                  <a:srgbClr val="64748B"/>
                </a:solidFill>
                <a:latin typeface="Calibri"/>
              </a:rPr>
              <a:t>ODELIA 2025 — unilateral DCE-MRI across 5 European centers</a:t>
            </a:r>
          </a:p>
        </p:txBody>
      </p:sp>
      <p:sp>
        <p:nvSpPr>
          <p:cNvPr id="9" name="Rectangle 8"/>
          <p:cNvSpPr/>
          <p:nvPr/>
        </p:nvSpPr>
        <p:spPr>
          <a:xfrm>
            <a:off x="457200" y="1691640"/>
            <a:ext cx="2724912" cy="12801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691640"/>
            <a:ext cx="73152" cy="1280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828800"/>
            <a:ext cx="2724912" cy="640080"/>
          </a:xfrm>
          <a:prstGeom prst="rect">
            <a:avLst/>
          </a:prstGeom>
          <a:noFill/>
        </p:spPr>
        <p:txBody>
          <a:bodyPr wrap="square" lIns="0" rIns="0" tIns="0" bIns="0" anchor="t">
            <a:spAutoFit/>
          </a:bodyPr>
          <a:lstStyle/>
          <a:p>
            <a:pPr algn="ctr"/>
            <a:r>
              <a:rPr sz="4000" b="1" i="0">
                <a:solidFill>
                  <a:srgbClr val="0D9488"/>
                </a:solidFill>
                <a:latin typeface="Calibri"/>
              </a:rPr>
              <a:t>5</a:t>
            </a:r>
          </a:p>
        </p:txBody>
      </p:sp>
      <p:sp>
        <p:nvSpPr>
          <p:cNvPr id="12" name="TextBox 11"/>
          <p:cNvSpPr txBox="1"/>
          <p:nvPr/>
        </p:nvSpPr>
        <p:spPr>
          <a:xfrm>
            <a:off x="457200" y="2560320"/>
            <a:ext cx="2724912" cy="365760"/>
          </a:xfrm>
          <a:prstGeom prst="rect">
            <a:avLst/>
          </a:prstGeom>
          <a:noFill/>
        </p:spPr>
        <p:txBody>
          <a:bodyPr wrap="square" lIns="0" rIns="0" tIns="0" bIns="0" anchor="t">
            <a:spAutoFit/>
          </a:bodyPr>
          <a:lstStyle/>
          <a:p>
            <a:pPr algn="ctr"/>
            <a:r>
              <a:rPr sz="1200" b="0" i="0">
                <a:solidFill>
                  <a:srgbClr val="64748B"/>
                </a:solidFill>
                <a:latin typeface="Calibri"/>
              </a:rPr>
              <a:t>institutions</a:t>
            </a:r>
          </a:p>
        </p:txBody>
      </p:sp>
      <p:sp>
        <p:nvSpPr>
          <p:cNvPr id="13" name="Rectangle 12"/>
          <p:cNvSpPr/>
          <p:nvPr/>
        </p:nvSpPr>
        <p:spPr>
          <a:xfrm>
            <a:off x="3319272" y="1691640"/>
            <a:ext cx="2724912" cy="12801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19272" y="1691640"/>
            <a:ext cx="73152" cy="12801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9272" y="1828800"/>
            <a:ext cx="2724912" cy="640080"/>
          </a:xfrm>
          <a:prstGeom prst="rect">
            <a:avLst/>
          </a:prstGeom>
          <a:noFill/>
        </p:spPr>
        <p:txBody>
          <a:bodyPr wrap="square" lIns="0" rIns="0" tIns="0" bIns="0" anchor="t">
            <a:spAutoFit/>
          </a:bodyPr>
          <a:lstStyle/>
          <a:p>
            <a:pPr algn="ctr"/>
            <a:r>
              <a:rPr sz="4000" b="1" i="0">
                <a:solidFill>
                  <a:srgbClr val="1E3A5F"/>
                </a:solidFill>
                <a:latin typeface="Calibri"/>
              </a:rPr>
              <a:t>478</a:t>
            </a:r>
          </a:p>
        </p:txBody>
      </p:sp>
      <p:sp>
        <p:nvSpPr>
          <p:cNvPr id="16" name="TextBox 15"/>
          <p:cNvSpPr txBox="1"/>
          <p:nvPr/>
        </p:nvSpPr>
        <p:spPr>
          <a:xfrm>
            <a:off x="3319272" y="2560320"/>
            <a:ext cx="2724912" cy="365760"/>
          </a:xfrm>
          <a:prstGeom prst="rect">
            <a:avLst/>
          </a:prstGeom>
          <a:noFill/>
        </p:spPr>
        <p:txBody>
          <a:bodyPr wrap="square" lIns="0" rIns="0" tIns="0" bIns="0" anchor="t">
            <a:spAutoFit/>
          </a:bodyPr>
          <a:lstStyle/>
          <a:p>
            <a:pPr algn="ctr"/>
            <a:r>
              <a:rPr sz="1200" b="0" i="0">
                <a:solidFill>
                  <a:srgbClr val="64748B"/>
                </a:solidFill>
                <a:latin typeface="Calibri"/>
              </a:rPr>
              <a:t>labeled samples</a:t>
            </a:r>
          </a:p>
        </p:txBody>
      </p:sp>
      <p:sp>
        <p:nvSpPr>
          <p:cNvPr id="17" name="Rectangle 16"/>
          <p:cNvSpPr/>
          <p:nvPr/>
        </p:nvSpPr>
        <p:spPr>
          <a:xfrm>
            <a:off x="6181344" y="1691640"/>
            <a:ext cx="2724912" cy="12801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1344" y="1691640"/>
            <a:ext cx="73152" cy="12801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1344" y="1828800"/>
            <a:ext cx="2724912" cy="640080"/>
          </a:xfrm>
          <a:prstGeom prst="rect">
            <a:avLst/>
          </a:prstGeom>
          <a:noFill/>
        </p:spPr>
        <p:txBody>
          <a:bodyPr wrap="square" lIns="0" rIns="0" tIns="0" bIns="0" anchor="t">
            <a:spAutoFit/>
          </a:bodyPr>
          <a:lstStyle/>
          <a:p>
            <a:pPr algn="ctr"/>
            <a:r>
              <a:rPr sz="4000" b="1" i="0">
                <a:solidFill>
                  <a:srgbClr val="D97706"/>
                </a:solidFill>
                <a:latin typeface="Calibri"/>
              </a:rPr>
              <a:t>5</a:t>
            </a:r>
          </a:p>
        </p:txBody>
      </p:sp>
      <p:sp>
        <p:nvSpPr>
          <p:cNvPr id="20" name="TextBox 19"/>
          <p:cNvSpPr txBox="1"/>
          <p:nvPr/>
        </p:nvSpPr>
        <p:spPr>
          <a:xfrm>
            <a:off x="6181344" y="2560320"/>
            <a:ext cx="2724912" cy="365760"/>
          </a:xfrm>
          <a:prstGeom prst="rect">
            <a:avLst/>
          </a:prstGeom>
          <a:noFill/>
        </p:spPr>
        <p:txBody>
          <a:bodyPr wrap="square" lIns="0" rIns="0" tIns="0" bIns="0" anchor="t">
            <a:spAutoFit/>
          </a:bodyPr>
          <a:lstStyle/>
          <a:p>
            <a:pPr algn="ctr"/>
            <a:r>
              <a:rPr sz="1200" b="0" i="0">
                <a:solidFill>
                  <a:srgbClr val="64748B"/>
                </a:solidFill>
                <a:latin typeface="Calibri"/>
              </a:rPr>
              <a:t>MRI sequences</a:t>
            </a:r>
          </a:p>
        </p:txBody>
      </p:sp>
      <p:sp>
        <p:nvSpPr>
          <p:cNvPr id="21" name="Rectangle 20"/>
          <p:cNvSpPr/>
          <p:nvPr/>
        </p:nvSpPr>
        <p:spPr>
          <a:xfrm>
            <a:off x="9043416" y="1691640"/>
            <a:ext cx="2724912" cy="12801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43416" y="1691640"/>
            <a:ext cx="73152" cy="1280160"/>
          </a:xfrm>
          <a:prstGeom prst="rect">
            <a:avLst/>
          </a:prstGeom>
          <a:solidFill>
            <a:srgbClr val="E4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43416" y="1828800"/>
            <a:ext cx="2724912" cy="640080"/>
          </a:xfrm>
          <a:prstGeom prst="rect">
            <a:avLst/>
          </a:prstGeom>
          <a:noFill/>
        </p:spPr>
        <p:txBody>
          <a:bodyPr wrap="square" lIns="0" rIns="0" tIns="0" bIns="0" anchor="t">
            <a:spAutoFit/>
          </a:bodyPr>
          <a:lstStyle/>
          <a:p>
            <a:pPr algn="ctr"/>
            <a:r>
              <a:rPr sz="4000" b="1" i="0">
                <a:solidFill>
                  <a:srgbClr val="E45B5B"/>
                </a:solidFill>
                <a:latin typeface="Calibri"/>
              </a:rPr>
              <a:t>66</a:t>
            </a:r>
          </a:p>
        </p:txBody>
      </p:sp>
      <p:sp>
        <p:nvSpPr>
          <p:cNvPr id="24" name="TextBox 23"/>
          <p:cNvSpPr txBox="1"/>
          <p:nvPr/>
        </p:nvSpPr>
        <p:spPr>
          <a:xfrm>
            <a:off x="9043416" y="2560320"/>
            <a:ext cx="2724912" cy="365760"/>
          </a:xfrm>
          <a:prstGeom prst="rect">
            <a:avLst/>
          </a:prstGeom>
          <a:noFill/>
        </p:spPr>
        <p:txBody>
          <a:bodyPr wrap="square" lIns="0" rIns="0" tIns="0" bIns="0" anchor="t">
            <a:spAutoFit/>
          </a:bodyPr>
          <a:lstStyle/>
          <a:p>
            <a:pPr algn="ctr"/>
            <a:r>
              <a:rPr sz="1200" b="0" i="0">
                <a:solidFill>
                  <a:srgbClr val="64748B"/>
                </a:solidFill>
                <a:latin typeface="Calibri"/>
              </a:rPr>
              <a:t>hidden RSH cases</a:t>
            </a:r>
          </a:p>
        </p:txBody>
      </p:sp>
      <p:pic>
        <p:nvPicPr>
          <p:cNvPr id="25" name="Picture 24" descr="institutions.png"/>
          <p:cNvPicPr>
            <a:picLocks noChangeAspect="1"/>
          </p:cNvPicPr>
          <p:nvPr/>
        </p:nvPicPr>
        <p:blipFill>
          <a:blip r:embed="rId2"/>
          <a:stretch>
            <a:fillRect/>
          </a:stretch>
        </p:blipFill>
        <p:spPr>
          <a:xfrm>
            <a:off x="457200" y="3154680"/>
            <a:ext cx="6858000" cy="3928222"/>
          </a:xfrm>
          <a:prstGeom prst="rect">
            <a:avLst/>
          </a:prstGeom>
        </p:spPr>
      </p:pic>
      <p:sp>
        <p:nvSpPr>
          <p:cNvPr id="26" name="Rectangle 25"/>
          <p:cNvSpPr/>
          <p:nvPr/>
        </p:nvSpPr>
        <p:spPr>
          <a:xfrm>
            <a:off x="7772400" y="3154680"/>
            <a:ext cx="73152" cy="3017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01000" y="3154680"/>
            <a:ext cx="4114800" cy="365760"/>
          </a:xfrm>
          <a:prstGeom prst="rect">
            <a:avLst/>
          </a:prstGeom>
          <a:noFill/>
        </p:spPr>
        <p:txBody>
          <a:bodyPr wrap="square" lIns="0" rIns="0" tIns="0" bIns="0" anchor="t">
            <a:spAutoFit/>
          </a:bodyPr>
          <a:lstStyle/>
          <a:p>
            <a:pPr algn="l"/>
            <a:r>
              <a:rPr sz="1100" b="1" i="0">
                <a:solidFill>
                  <a:srgbClr val="0D9488"/>
                </a:solidFill>
                <a:latin typeface="Calibri"/>
              </a:rPr>
              <a:t>DATA SPLIT (AFTER FILTERING)</a:t>
            </a:r>
          </a:p>
        </p:txBody>
      </p:sp>
      <p:sp>
        <p:nvSpPr>
          <p:cNvPr id="28" name="TextBox 27"/>
          <p:cNvSpPr txBox="1"/>
          <p:nvPr/>
        </p:nvSpPr>
        <p:spPr>
          <a:xfrm>
            <a:off x="8001000" y="3520440"/>
            <a:ext cx="4114800" cy="1463040"/>
          </a:xfrm>
          <a:prstGeom prst="rect">
            <a:avLst/>
          </a:prstGeom>
          <a:noFill/>
        </p:spPr>
        <p:txBody>
          <a:bodyPr wrap="square" lIns="0" rIns="0" tIns="0" bIns="0">
            <a:spAutoFit/>
          </a:bodyPr>
          <a:lstStyle/>
          <a:p>
            <a:pPr algn="l">
              <a:lnSpc>
                <a:spcPct val="135000"/>
              </a:lnSpc>
            </a:pPr>
            <a:r>
              <a:rPr sz="1200" b="1">
                <a:solidFill>
                  <a:srgbClr val="0D9488"/>
                </a:solidFill>
                <a:latin typeface="Calibri"/>
              </a:rPr>
              <a:t>▸  </a:t>
            </a:r>
            <a:r>
              <a:rPr sz="1200" b="0" i="0">
                <a:solidFill>
                  <a:srgbClr val="1E293B"/>
                </a:solidFill>
                <a:latin typeface="Calibri"/>
              </a:rPr>
              <a:t>192 train  /  144 val  /  142 test</a:t>
            </a:r>
          </a:p>
          <a:p>
            <a:pPr algn="l">
              <a:lnSpc>
                <a:spcPct val="135000"/>
              </a:lnSpc>
            </a:pPr>
            <a:r>
              <a:rPr sz="1200" b="1">
                <a:solidFill>
                  <a:srgbClr val="0D9488"/>
                </a:solidFill>
                <a:latin typeface="Calibri"/>
              </a:rPr>
              <a:t>▸  </a:t>
            </a:r>
            <a:r>
              <a:rPr sz="1200" b="0" i="0">
                <a:solidFill>
                  <a:srgbClr val="1E293B"/>
                </a:solidFill>
                <a:latin typeface="Calibri"/>
              </a:rPr>
              <a:t>RSH (66 cases): hidden leaderboard only — tests cross-scanner generalization.</a:t>
            </a:r>
          </a:p>
        </p:txBody>
      </p:sp>
      <p:sp>
        <p:nvSpPr>
          <p:cNvPr id="29" name="TextBox 28"/>
          <p:cNvSpPr txBox="1"/>
          <p:nvPr/>
        </p:nvSpPr>
        <p:spPr>
          <a:xfrm>
            <a:off x="8001000" y="5212080"/>
            <a:ext cx="4114800" cy="365760"/>
          </a:xfrm>
          <a:prstGeom prst="rect">
            <a:avLst/>
          </a:prstGeom>
          <a:noFill/>
        </p:spPr>
        <p:txBody>
          <a:bodyPr wrap="square" lIns="0" rIns="0" tIns="0" bIns="0" anchor="t">
            <a:spAutoFit/>
          </a:bodyPr>
          <a:lstStyle/>
          <a:p>
            <a:pPr algn="l"/>
            <a:r>
              <a:rPr sz="1100" b="1" i="0">
                <a:solidFill>
                  <a:srgbClr val="D97706"/>
                </a:solidFill>
                <a:latin typeface="Calibri"/>
              </a:rPr>
              <a:t>WHY SO SMALL?</a:t>
            </a:r>
          </a:p>
        </p:txBody>
      </p:sp>
      <p:sp>
        <p:nvSpPr>
          <p:cNvPr id="30" name="TextBox 29"/>
          <p:cNvSpPr txBox="1"/>
          <p:nvPr/>
        </p:nvSpPr>
        <p:spPr>
          <a:xfrm>
            <a:off x="8001000" y="5577840"/>
            <a:ext cx="4114800" cy="822960"/>
          </a:xfrm>
          <a:prstGeom prst="rect">
            <a:avLst/>
          </a:prstGeom>
          <a:noFill/>
        </p:spPr>
        <p:txBody>
          <a:bodyPr wrap="square" lIns="0" rIns="0" tIns="0" bIns="0" anchor="t">
            <a:spAutoFit/>
          </a:bodyPr>
          <a:lstStyle/>
          <a:p>
            <a:pPr algn="l"/>
            <a:r>
              <a:rPr sz="1150" b="0" i="1">
                <a:solidFill>
                  <a:srgbClr val="1E293B"/>
                </a:solidFill>
                <a:latin typeface="Calibri"/>
              </a:rPr>
              <a:t>Original split CSV has 6,410 entries — but most reference non-existent (UMCU) or unlabeled data. 478 is all we can use.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0" y="292608"/>
            <a:ext cx="4206240" cy="320040"/>
          </a:xfrm>
          <a:prstGeom prst="rect">
            <a:avLst/>
          </a:prstGeom>
          <a:noFill/>
        </p:spPr>
        <p:txBody>
          <a:bodyPr wrap="square" lIns="0" rIns="0" tIns="0" bIns="0" anchor="t">
            <a:spAutoFit/>
          </a:bodyPr>
          <a:lstStyle/>
          <a:p>
            <a:pPr algn="r"/>
            <a:r>
              <a:rPr sz="1000" b="1" i="0">
                <a:solidFill>
                  <a:srgbClr val="0D9488"/>
                </a:solidFill>
                <a:latin typeface="Calibri"/>
              </a:rPr>
              <a:t>DATA ANALYSIS</a:t>
            </a:r>
          </a:p>
        </p:txBody>
      </p:sp>
      <p:sp>
        <p:nvSpPr>
          <p:cNvPr id="4" name="Rectangle 3"/>
          <p:cNvSpPr/>
          <p:nvPr/>
        </p:nvSpPr>
        <p:spPr>
          <a:xfrm>
            <a:off x="457200" y="6510528"/>
            <a:ext cx="1127729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65392"/>
            <a:ext cx="9144000" cy="228600"/>
          </a:xfrm>
          <a:prstGeom prst="rect">
            <a:avLst/>
          </a:prstGeom>
          <a:noFill/>
        </p:spPr>
        <p:txBody>
          <a:bodyPr wrap="square" lIns="0" rIns="0" tIns="0" bIns="0" anchor="t">
            <a:spAutoFit/>
          </a:bodyPr>
          <a:lstStyle/>
          <a:p>
            <a:pPr algn="l"/>
            <a:r>
              <a:rPr sz="900" b="0" i="0">
                <a:solidFill>
                  <a:srgbClr val="64748B"/>
                </a:solidFill>
                <a:latin typeface="Calibri"/>
              </a:rPr>
              <a:t>Breast MRI Classification  •  ODELIA 2025  •  TDT4265</a:t>
            </a:r>
          </a:p>
        </p:txBody>
      </p:sp>
      <p:sp>
        <p:nvSpPr>
          <p:cNvPr id="6" name="TextBox 5"/>
          <p:cNvSpPr txBox="1"/>
          <p:nvPr/>
        </p:nvSpPr>
        <p:spPr>
          <a:xfrm>
            <a:off x="10515600" y="6565392"/>
            <a:ext cx="1188720" cy="228600"/>
          </a:xfrm>
          <a:prstGeom prst="rect">
            <a:avLst/>
          </a:prstGeom>
          <a:noFill/>
        </p:spPr>
        <p:txBody>
          <a:bodyPr wrap="square" lIns="0" rIns="0" tIns="0" bIns="0" anchor="t">
            <a:spAutoFit/>
          </a:bodyPr>
          <a:lstStyle/>
          <a:p>
            <a:pPr algn="r"/>
            <a:r>
              <a:rPr sz="900" b="1" i="0">
                <a:solidFill>
                  <a:srgbClr val="64748B"/>
                </a:solidFill>
                <a:latin typeface="Calibri"/>
              </a:rPr>
              <a:t>05 / 18</a:t>
            </a:r>
          </a:p>
        </p:txBody>
      </p:sp>
      <p:sp>
        <p:nvSpPr>
          <p:cNvPr id="7" name="TextBox 6"/>
          <p:cNvSpPr txBox="1"/>
          <p:nvPr/>
        </p:nvSpPr>
        <p:spPr>
          <a:xfrm>
            <a:off x="457200" y="502920"/>
            <a:ext cx="11247120" cy="731520"/>
          </a:xfrm>
          <a:prstGeom prst="rect">
            <a:avLst/>
          </a:prstGeom>
          <a:noFill/>
        </p:spPr>
        <p:txBody>
          <a:bodyPr wrap="square" lIns="0" rIns="0" tIns="0" bIns="0" anchor="t">
            <a:spAutoFit/>
          </a:bodyPr>
          <a:lstStyle/>
          <a:p>
            <a:pPr algn="l"/>
            <a:r>
              <a:rPr sz="3200" b="1" i="0">
                <a:solidFill>
                  <a:srgbClr val="1E3A5F"/>
                </a:solidFill>
                <a:latin typeface="Calibri"/>
              </a:rPr>
              <a:t>Data Analysis — Class Imbalance</a:t>
            </a:r>
          </a:p>
        </p:txBody>
      </p:sp>
      <p:sp>
        <p:nvSpPr>
          <p:cNvPr id="8" name="TextBox 7"/>
          <p:cNvSpPr txBox="1"/>
          <p:nvPr/>
        </p:nvSpPr>
        <p:spPr>
          <a:xfrm>
            <a:off x="457200" y="1143000"/>
            <a:ext cx="11247120" cy="365760"/>
          </a:xfrm>
          <a:prstGeom prst="rect">
            <a:avLst/>
          </a:prstGeom>
          <a:noFill/>
        </p:spPr>
        <p:txBody>
          <a:bodyPr wrap="square" lIns="0" rIns="0" tIns="0" bIns="0" anchor="t">
            <a:spAutoFit/>
          </a:bodyPr>
          <a:lstStyle/>
          <a:p>
            <a:pPr algn="l"/>
            <a:r>
              <a:rPr sz="1500" b="0" i="1">
                <a:solidFill>
                  <a:srgbClr val="64748B"/>
                </a:solidFill>
                <a:latin typeface="Calibri"/>
              </a:rPr>
              <a:t>The biggest modeling constraint: ~75% normal, only 9% benign</a:t>
            </a:r>
          </a:p>
        </p:txBody>
      </p:sp>
      <p:pic>
        <p:nvPicPr>
          <p:cNvPr id="9" name="Picture 8" descr="class_distribution.png"/>
          <p:cNvPicPr>
            <a:picLocks noChangeAspect="1"/>
          </p:cNvPicPr>
          <p:nvPr/>
        </p:nvPicPr>
        <p:blipFill>
          <a:blip r:embed="rId2"/>
          <a:stretch>
            <a:fillRect/>
          </a:stretch>
        </p:blipFill>
        <p:spPr>
          <a:xfrm>
            <a:off x="457200" y="1828800"/>
            <a:ext cx="6217920" cy="3778284"/>
          </a:xfrm>
          <a:prstGeom prst="rect">
            <a:avLst/>
          </a:prstGeom>
        </p:spPr>
      </p:pic>
      <p:sp>
        <p:nvSpPr>
          <p:cNvPr id="10" name="Rectangle 9"/>
          <p:cNvSpPr/>
          <p:nvPr/>
        </p:nvSpPr>
        <p:spPr>
          <a:xfrm>
            <a:off x="6949440" y="1828800"/>
            <a:ext cx="73152" cy="4389120"/>
          </a:xfrm>
          <a:prstGeom prst="rect">
            <a:avLst/>
          </a:prstGeom>
          <a:solidFill>
            <a:srgbClr val="E4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78040" y="1828800"/>
            <a:ext cx="4572000" cy="365760"/>
          </a:xfrm>
          <a:prstGeom prst="rect">
            <a:avLst/>
          </a:prstGeom>
          <a:noFill/>
        </p:spPr>
        <p:txBody>
          <a:bodyPr wrap="square" lIns="0" rIns="0" tIns="0" bIns="0" anchor="t">
            <a:spAutoFit/>
          </a:bodyPr>
          <a:lstStyle/>
          <a:p>
            <a:pPr algn="l"/>
            <a:r>
              <a:rPr sz="1100" b="1" i="0">
                <a:solidFill>
                  <a:srgbClr val="E45B5B"/>
                </a:solidFill>
                <a:latin typeface="Calibri"/>
              </a:rPr>
              <a:t>WHY THIS HURTS US</a:t>
            </a:r>
          </a:p>
        </p:txBody>
      </p:sp>
      <p:sp>
        <p:nvSpPr>
          <p:cNvPr id="12" name="TextBox 11"/>
          <p:cNvSpPr txBox="1"/>
          <p:nvPr/>
        </p:nvSpPr>
        <p:spPr>
          <a:xfrm>
            <a:off x="7178040" y="2194560"/>
            <a:ext cx="4846320" cy="4389120"/>
          </a:xfrm>
          <a:prstGeom prst="rect">
            <a:avLst/>
          </a:prstGeom>
          <a:noFill/>
        </p:spPr>
        <p:txBody>
          <a:bodyPr wrap="square" lIns="0" rIns="0" tIns="0" bIns="0">
            <a:spAutoFit/>
          </a:bodyPr>
          <a:lstStyle/>
          <a:p>
            <a:pPr algn="l">
              <a:lnSpc>
                <a:spcPct val="140000"/>
              </a:lnSpc>
            </a:pPr>
            <a:r>
              <a:rPr sz="1300" b="1">
                <a:solidFill>
                  <a:srgbClr val="E45B5B"/>
                </a:solidFill>
                <a:latin typeface="Calibri"/>
              </a:rPr>
              <a:t>▸  </a:t>
            </a:r>
            <a:r>
              <a:rPr sz="1300" b="1" i="0">
                <a:solidFill>
                  <a:srgbClr val="1E293B"/>
                </a:solidFill>
                <a:latin typeface="Calibri"/>
              </a:rPr>
              <a:t>Naive models </a:t>
            </a:r>
            <a:r>
              <a:rPr sz="1300" b="0" i="0">
                <a:solidFill>
                  <a:srgbClr val="1E293B"/>
                </a:solidFill>
                <a:latin typeface="Calibri"/>
              </a:rPr>
              <a:t>predict 'normal' for everything → 75% accuracy, 0% clinical value.</a:t>
            </a:r>
          </a:p>
          <a:p>
            <a:pPr algn="l">
              <a:lnSpc>
                <a:spcPct val="140000"/>
              </a:lnSpc>
            </a:pPr>
            <a:r>
              <a:rPr sz="1300" b="1">
                <a:solidFill>
                  <a:srgbClr val="E45B5B"/>
                </a:solidFill>
                <a:latin typeface="Calibri"/>
              </a:rPr>
              <a:t>▸  </a:t>
            </a:r>
            <a:r>
              <a:rPr sz="1300" b="1" i="0">
                <a:solidFill>
                  <a:srgbClr val="1E293B"/>
                </a:solidFill>
                <a:latin typeface="Calibri"/>
              </a:rPr>
              <a:t>Benign is the hardest: </a:t>
            </a:r>
            <a:r>
              <a:rPr sz="1300" b="0" i="0">
                <a:solidFill>
                  <a:srgbClr val="1E293B"/>
                </a:solidFill>
                <a:latin typeface="Calibri"/>
              </a:rPr>
              <a:t>only 18 samples → model often ignores it entirely.</a:t>
            </a:r>
          </a:p>
          <a:p>
            <a:pPr algn="l">
              <a:lnSpc>
                <a:spcPct val="140000"/>
              </a:lnSpc>
            </a:pPr>
            <a:r>
              <a:rPr sz="1300" b="1">
                <a:solidFill>
                  <a:srgbClr val="E45B5B"/>
                </a:solidFill>
                <a:latin typeface="Calibri"/>
              </a:rPr>
              <a:t>▸  </a:t>
            </a:r>
            <a:r>
              <a:rPr sz="1300" b="1" i="0">
                <a:solidFill>
                  <a:srgbClr val="1E293B"/>
                </a:solidFill>
                <a:latin typeface="Calibri"/>
              </a:rPr>
              <a:t>Class-weighted loss helps — </a:t>
            </a:r>
            <a:r>
              <a:rPr sz="1300" b="0" i="0">
                <a:solidFill>
                  <a:srgbClr val="1E293B"/>
                </a:solidFill>
                <a:latin typeface="Calibri"/>
              </a:rPr>
              <a:t>but too aggressive weights (v7) caused the opposite failure: almost never predict normal.</a:t>
            </a:r>
          </a:p>
          <a:p>
            <a:pPr algn="l">
              <a:lnSpc>
                <a:spcPct val="140000"/>
              </a:lnSpc>
            </a:pPr>
            <a:r>
              <a:rPr sz="1300" b="1">
                <a:solidFill>
                  <a:srgbClr val="E45B5B"/>
                </a:solidFill>
                <a:latin typeface="Calibri"/>
              </a:rPr>
              <a:t>▸  </a:t>
            </a:r>
            <a:r>
              <a:rPr sz="1300" b="1" i="0">
                <a:solidFill>
                  <a:srgbClr val="0D9488"/>
                </a:solidFill>
                <a:latin typeface="Calibri"/>
              </a:rPr>
              <a:t>Our fix: </a:t>
            </a:r>
            <a:r>
              <a:rPr sz="1300" b="0" i="0">
                <a:solidFill>
                  <a:srgbClr val="1E293B"/>
                </a:solidFill>
                <a:latin typeface="Calibri"/>
              </a:rPr>
              <a:t>oversampling (repeat minority classes in-batch) + InstanceNorm — more stable than weighting.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0" y="292608"/>
            <a:ext cx="4206240" cy="320040"/>
          </a:xfrm>
          <a:prstGeom prst="rect">
            <a:avLst/>
          </a:prstGeom>
          <a:noFill/>
        </p:spPr>
        <p:txBody>
          <a:bodyPr wrap="square" lIns="0" rIns="0" tIns="0" bIns="0" anchor="t">
            <a:spAutoFit/>
          </a:bodyPr>
          <a:lstStyle/>
          <a:p>
            <a:pPr algn="r"/>
            <a:r>
              <a:rPr sz="1000" b="1" i="0">
                <a:solidFill>
                  <a:srgbClr val="0D9488"/>
                </a:solidFill>
                <a:latin typeface="Calibri"/>
              </a:rPr>
              <a:t>DATA ANALYSIS</a:t>
            </a:r>
          </a:p>
        </p:txBody>
      </p:sp>
      <p:sp>
        <p:nvSpPr>
          <p:cNvPr id="4" name="Rectangle 3"/>
          <p:cNvSpPr/>
          <p:nvPr/>
        </p:nvSpPr>
        <p:spPr>
          <a:xfrm>
            <a:off x="457200" y="6510528"/>
            <a:ext cx="1127729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65392"/>
            <a:ext cx="9144000" cy="228600"/>
          </a:xfrm>
          <a:prstGeom prst="rect">
            <a:avLst/>
          </a:prstGeom>
          <a:noFill/>
        </p:spPr>
        <p:txBody>
          <a:bodyPr wrap="square" lIns="0" rIns="0" tIns="0" bIns="0" anchor="t">
            <a:spAutoFit/>
          </a:bodyPr>
          <a:lstStyle/>
          <a:p>
            <a:pPr algn="l"/>
            <a:r>
              <a:rPr sz="900" b="0" i="0">
                <a:solidFill>
                  <a:srgbClr val="64748B"/>
                </a:solidFill>
                <a:latin typeface="Calibri"/>
              </a:rPr>
              <a:t>Breast MRI Classification  •  ODELIA 2025  •  TDT4265</a:t>
            </a:r>
          </a:p>
        </p:txBody>
      </p:sp>
      <p:sp>
        <p:nvSpPr>
          <p:cNvPr id="6" name="TextBox 5"/>
          <p:cNvSpPr txBox="1"/>
          <p:nvPr/>
        </p:nvSpPr>
        <p:spPr>
          <a:xfrm>
            <a:off x="10515600" y="6565392"/>
            <a:ext cx="1188720" cy="228600"/>
          </a:xfrm>
          <a:prstGeom prst="rect">
            <a:avLst/>
          </a:prstGeom>
          <a:noFill/>
        </p:spPr>
        <p:txBody>
          <a:bodyPr wrap="square" lIns="0" rIns="0" tIns="0" bIns="0" anchor="t">
            <a:spAutoFit/>
          </a:bodyPr>
          <a:lstStyle/>
          <a:p>
            <a:pPr algn="r"/>
            <a:r>
              <a:rPr sz="900" b="1" i="0">
                <a:solidFill>
                  <a:srgbClr val="64748B"/>
                </a:solidFill>
                <a:latin typeface="Calibri"/>
              </a:rPr>
              <a:t>06 / 18</a:t>
            </a:r>
          </a:p>
        </p:txBody>
      </p:sp>
      <p:sp>
        <p:nvSpPr>
          <p:cNvPr id="7" name="TextBox 6"/>
          <p:cNvSpPr txBox="1"/>
          <p:nvPr/>
        </p:nvSpPr>
        <p:spPr>
          <a:xfrm>
            <a:off x="457200" y="502920"/>
            <a:ext cx="11247120" cy="731520"/>
          </a:xfrm>
          <a:prstGeom prst="rect">
            <a:avLst/>
          </a:prstGeom>
          <a:noFill/>
        </p:spPr>
        <p:txBody>
          <a:bodyPr wrap="square" lIns="0" rIns="0" tIns="0" bIns="0" anchor="t">
            <a:spAutoFit/>
          </a:bodyPr>
          <a:lstStyle/>
          <a:p>
            <a:pPr algn="l"/>
            <a:r>
              <a:rPr sz="3200" b="1" i="0">
                <a:solidFill>
                  <a:srgbClr val="1E3A5F"/>
                </a:solidFill>
                <a:latin typeface="Calibri"/>
              </a:rPr>
              <a:t>Data Analysis — MRI Sequences</a:t>
            </a:r>
          </a:p>
        </p:txBody>
      </p:sp>
      <p:sp>
        <p:nvSpPr>
          <p:cNvPr id="8" name="TextBox 7"/>
          <p:cNvSpPr txBox="1"/>
          <p:nvPr/>
        </p:nvSpPr>
        <p:spPr>
          <a:xfrm>
            <a:off x="457200" y="1143000"/>
            <a:ext cx="11247120" cy="365760"/>
          </a:xfrm>
          <a:prstGeom prst="rect">
            <a:avLst/>
          </a:prstGeom>
          <a:noFill/>
        </p:spPr>
        <p:txBody>
          <a:bodyPr wrap="square" lIns="0" rIns="0" tIns="0" bIns="0" anchor="t">
            <a:spAutoFit/>
          </a:bodyPr>
          <a:lstStyle/>
          <a:p>
            <a:pPr algn="l"/>
            <a:r>
              <a:rPr sz="1500" b="0" i="1">
                <a:solidFill>
                  <a:srgbClr val="64748B"/>
                </a:solidFill>
                <a:latin typeface="Calibri"/>
              </a:rPr>
              <a:t>5 sequences per breast; picking the right channels matters more than model size</a:t>
            </a:r>
          </a:p>
        </p:txBody>
      </p:sp>
      <p:pic>
        <p:nvPicPr>
          <p:cNvPr id="9" name="Picture 8" descr="enhancement_curves.png"/>
          <p:cNvPicPr>
            <a:picLocks noChangeAspect="1"/>
          </p:cNvPicPr>
          <p:nvPr/>
        </p:nvPicPr>
        <p:blipFill>
          <a:blip r:embed="rId2"/>
          <a:stretch>
            <a:fillRect/>
          </a:stretch>
        </p:blipFill>
        <p:spPr>
          <a:xfrm>
            <a:off x="457200" y="1828800"/>
            <a:ext cx="6035040" cy="3667654"/>
          </a:xfrm>
          <a:prstGeom prst="rect">
            <a:avLst/>
          </a:prstGeom>
        </p:spPr>
      </p:pic>
      <p:sp>
        <p:nvSpPr>
          <p:cNvPr id="10" name="Rectangle 9"/>
          <p:cNvSpPr/>
          <p:nvPr/>
        </p:nvSpPr>
        <p:spPr>
          <a:xfrm>
            <a:off x="6766560" y="1828800"/>
            <a:ext cx="73152" cy="4389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0" y="1828800"/>
            <a:ext cx="5029200" cy="365760"/>
          </a:xfrm>
          <a:prstGeom prst="rect">
            <a:avLst/>
          </a:prstGeom>
          <a:noFill/>
        </p:spPr>
        <p:txBody>
          <a:bodyPr wrap="square" lIns="0" rIns="0" tIns="0" bIns="0" anchor="t">
            <a:spAutoFit/>
          </a:bodyPr>
          <a:lstStyle/>
          <a:p>
            <a:pPr algn="l"/>
            <a:r>
              <a:rPr sz="1100" b="1" i="0">
                <a:solidFill>
                  <a:srgbClr val="0D9488"/>
                </a:solidFill>
                <a:latin typeface="Calibri"/>
              </a:rPr>
              <a:t>CLINICAL MEANING</a:t>
            </a:r>
          </a:p>
        </p:txBody>
      </p:sp>
      <p:sp>
        <p:nvSpPr>
          <p:cNvPr id="12" name="TextBox 11"/>
          <p:cNvSpPr txBox="1"/>
          <p:nvPr/>
        </p:nvSpPr>
        <p:spPr>
          <a:xfrm>
            <a:off x="6995160" y="2240280"/>
            <a:ext cx="5029200" cy="320040"/>
          </a:xfrm>
          <a:prstGeom prst="rect">
            <a:avLst/>
          </a:prstGeom>
          <a:noFill/>
        </p:spPr>
        <p:txBody>
          <a:bodyPr wrap="square" lIns="0" rIns="0" tIns="0" bIns="0" anchor="t">
            <a:spAutoFit/>
          </a:bodyPr>
          <a:lstStyle/>
          <a:p>
            <a:pPr algn="l"/>
            <a:r>
              <a:rPr sz="1350" b="1" i="0">
                <a:solidFill>
                  <a:srgbClr val="1E3A5F"/>
                </a:solidFill>
                <a:latin typeface="Calibri"/>
              </a:rPr>
              <a:t>Pre</a:t>
            </a:r>
          </a:p>
        </p:txBody>
      </p:sp>
      <p:sp>
        <p:nvSpPr>
          <p:cNvPr id="13" name="TextBox 12"/>
          <p:cNvSpPr txBox="1"/>
          <p:nvPr/>
        </p:nvSpPr>
        <p:spPr>
          <a:xfrm>
            <a:off x="6995160" y="2551176"/>
            <a:ext cx="5029200" cy="365760"/>
          </a:xfrm>
          <a:prstGeom prst="rect">
            <a:avLst/>
          </a:prstGeom>
          <a:noFill/>
        </p:spPr>
        <p:txBody>
          <a:bodyPr wrap="square" lIns="0" rIns="0" tIns="0" bIns="0" anchor="t">
            <a:spAutoFit/>
          </a:bodyPr>
          <a:lstStyle/>
          <a:p>
            <a:pPr algn="l"/>
            <a:r>
              <a:rPr sz="1200" b="0" i="1">
                <a:solidFill>
                  <a:srgbClr val="64748B"/>
                </a:solidFill>
                <a:latin typeface="Calibri"/>
              </a:rPr>
              <a:t>baseline anatomy</a:t>
            </a:r>
          </a:p>
        </p:txBody>
      </p:sp>
      <p:sp>
        <p:nvSpPr>
          <p:cNvPr id="14" name="TextBox 13"/>
          <p:cNvSpPr txBox="1"/>
          <p:nvPr/>
        </p:nvSpPr>
        <p:spPr>
          <a:xfrm>
            <a:off x="6995160" y="3017520"/>
            <a:ext cx="5029200" cy="320040"/>
          </a:xfrm>
          <a:prstGeom prst="rect">
            <a:avLst/>
          </a:prstGeom>
          <a:noFill/>
        </p:spPr>
        <p:txBody>
          <a:bodyPr wrap="square" lIns="0" rIns="0" tIns="0" bIns="0" anchor="t">
            <a:spAutoFit/>
          </a:bodyPr>
          <a:lstStyle/>
          <a:p>
            <a:pPr algn="l"/>
            <a:r>
              <a:rPr sz="1350" b="1" i="0">
                <a:solidFill>
                  <a:srgbClr val="1E3A5F"/>
                </a:solidFill>
                <a:latin typeface="Calibri"/>
              </a:rPr>
              <a:t>Post_1, Post_2</a:t>
            </a:r>
          </a:p>
        </p:txBody>
      </p:sp>
      <p:sp>
        <p:nvSpPr>
          <p:cNvPr id="15" name="TextBox 14"/>
          <p:cNvSpPr txBox="1"/>
          <p:nvPr/>
        </p:nvSpPr>
        <p:spPr>
          <a:xfrm>
            <a:off x="6995160" y="3328416"/>
            <a:ext cx="5029200" cy="365760"/>
          </a:xfrm>
          <a:prstGeom prst="rect">
            <a:avLst/>
          </a:prstGeom>
          <a:noFill/>
        </p:spPr>
        <p:txBody>
          <a:bodyPr wrap="square" lIns="0" rIns="0" tIns="0" bIns="0" anchor="t">
            <a:spAutoFit/>
          </a:bodyPr>
          <a:lstStyle/>
          <a:p>
            <a:pPr algn="l"/>
            <a:r>
              <a:rPr sz="1200" b="0" i="1">
                <a:solidFill>
                  <a:srgbClr val="64748B"/>
                </a:solidFill>
                <a:latin typeface="Calibri"/>
              </a:rPr>
              <a:t>contrast flowing through tissue</a:t>
            </a:r>
          </a:p>
        </p:txBody>
      </p:sp>
      <p:sp>
        <p:nvSpPr>
          <p:cNvPr id="16" name="TextBox 15"/>
          <p:cNvSpPr txBox="1"/>
          <p:nvPr/>
        </p:nvSpPr>
        <p:spPr>
          <a:xfrm>
            <a:off x="6995160" y="3794760"/>
            <a:ext cx="5029200" cy="320040"/>
          </a:xfrm>
          <a:prstGeom prst="rect">
            <a:avLst/>
          </a:prstGeom>
          <a:noFill/>
        </p:spPr>
        <p:txBody>
          <a:bodyPr wrap="square" lIns="0" rIns="0" tIns="0" bIns="0" anchor="t">
            <a:spAutoFit/>
          </a:bodyPr>
          <a:lstStyle/>
          <a:p>
            <a:pPr algn="l"/>
            <a:r>
              <a:rPr sz="1350" b="1" i="0">
                <a:solidFill>
                  <a:srgbClr val="1E3A5F"/>
                </a:solidFill>
                <a:latin typeface="Calibri"/>
              </a:rPr>
              <a:t>T2</a:t>
            </a:r>
          </a:p>
        </p:txBody>
      </p:sp>
      <p:sp>
        <p:nvSpPr>
          <p:cNvPr id="17" name="TextBox 16"/>
          <p:cNvSpPr txBox="1"/>
          <p:nvPr/>
        </p:nvSpPr>
        <p:spPr>
          <a:xfrm>
            <a:off x="6995160" y="4105656"/>
            <a:ext cx="5029200" cy="365760"/>
          </a:xfrm>
          <a:prstGeom prst="rect">
            <a:avLst/>
          </a:prstGeom>
          <a:noFill/>
        </p:spPr>
        <p:txBody>
          <a:bodyPr wrap="square" lIns="0" rIns="0" tIns="0" bIns="0" anchor="t">
            <a:spAutoFit/>
          </a:bodyPr>
          <a:lstStyle/>
          <a:p>
            <a:pPr algn="l"/>
            <a:r>
              <a:rPr sz="1200" b="0" i="1">
                <a:solidFill>
                  <a:srgbClr val="64748B"/>
                </a:solidFill>
                <a:latin typeface="Calibri"/>
              </a:rPr>
              <a:t>tissue type (fluid vs solid)</a:t>
            </a:r>
          </a:p>
        </p:txBody>
      </p:sp>
      <p:sp>
        <p:nvSpPr>
          <p:cNvPr id="18" name="TextBox 17"/>
          <p:cNvSpPr txBox="1"/>
          <p:nvPr/>
        </p:nvSpPr>
        <p:spPr>
          <a:xfrm>
            <a:off x="6995160" y="4572000"/>
            <a:ext cx="5029200" cy="320040"/>
          </a:xfrm>
          <a:prstGeom prst="rect">
            <a:avLst/>
          </a:prstGeom>
          <a:noFill/>
        </p:spPr>
        <p:txBody>
          <a:bodyPr wrap="square" lIns="0" rIns="0" tIns="0" bIns="0" anchor="t">
            <a:spAutoFit/>
          </a:bodyPr>
          <a:lstStyle/>
          <a:p>
            <a:pPr algn="l"/>
            <a:r>
              <a:rPr sz="1350" b="1" i="0">
                <a:solidFill>
                  <a:srgbClr val="1E3A5F"/>
                </a:solidFill>
                <a:latin typeface="Calibri"/>
              </a:rPr>
              <a:t>Sub_1 = Post_1 − Pre</a:t>
            </a:r>
          </a:p>
        </p:txBody>
      </p:sp>
      <p:sp>
        <p:nvSpPr>
          <p:cNvPr id="19" name="TextBox 18"/>
          <p:cNvSpPr txBox="1"/>
          <p:nvPr/>
        </p:nvSpPr>
        <p:spPr>
          <a:xfrm>
            <a:off x="6995160" y="4882896"/>
            <a:ext cx="5029200" cy="365760"/>
          </a:xfrm>
          <a:prstGeom prst="rect">
            <a:avLst/>
          </a:prstGeom>
          <a:noFill/>
        </p:spPr>
        <p:txBody>
          <a:bodyPr wrap="square" lIns="0" rIns="0" tIns="0" bIns="0" anchor="t">
            <a:spAutoFit/>
          </a:bodyPr>
          <a:lstStyle/>
          <a:p>
            <a:pPr algn="l"/>
            <a:r>
              <a:rPr sz="1200" b="0" i="1">
                <a:solidFill>
                  <a:srgbClr val="64748B"/>
                </a:solidFill>
                <a:latin typeface="Calibri"/>
              </a:rPr>
              <a:t>isolates enhancement — the key malignancy signal</a:t>
            </a:r>
          </a:p>
        </p:txBody>
      </p:sp>
      <p:sp>
        <p:nvSpPr>
          <p:cNvPr id="20" name="Rectangle 19"/>
          <p:cNvSpPr/>
          <p:nvPr/>
        </p:nvSpPr>
        <p:spPr>
          <a:xfrm>
            <a:off x="6766560" y="5943600"/>
            <a:ext cx="5349240" cy="4572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0" y="5989320"/>
            <a:ext cx="5120640" cy="365760"/>
          </a:xfrm>
          <a:prstGeom prst="rect">
            <a:avLst/>
          </a:prstGeom>
          <a:noFill/>
        </p:spPr>
        <p:txBody>
          <a:bodyPr wrap="square" lIns="0" rIns="0" tIns="0" bIns="0" anchor="t">
            <a:spAutoFit/>
          </a:bodyPr>
          <a:lstStyle/>
          <a:p>
            <a:pPr algn="l"/>
            <a:r>
              <a:rPr sz="1200" b="1" i="1">
                <a:solidFill>
                  <a:srgbClr val="D97706"/>
                </a:solidFill>
                <a:latin typeface="Calibri"/>
              </a:rPr>
              <a:t>Our ODELIA-winning channel choice: Sub_1 only  (v13 onward)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0" y="292608"/>
            <a:ext cx="4206240" cy="320040"/>
          </a:xfrm>
          <a:prstGeom prst="rect">
            <a:avLst/>
          </a:prstGeom>
          <a:noFill/>
        </p:spPr>
        <p:txBody>
          <a:bodyPr wrap="square" lIns="0" rIns="0" tIns="0" bIns="0" anchor="t">
            <a:spAutoFit/>
          </a:bodyPr>
          <a:lstStyle/>
          <a:p>
            <a:pPr algn="r"/>
            <a:r>
              <a:rPr sz="1000" b="1" i="0">
                <a:solidFill>
                  <a:srgbClr val="0D9488"/>
                </a:solidFill>
                <a:latin typeface="Calibri"/>
              </a:rPr>
              <a:t>METHODS</a:t>
            </a:r>
          </a:p>
        </p:txBody>
      </p:sp>
      <p:sp>
        <p:nvSpPr>
          <p:cNvPr id="4" name="Rectangle 3"/>
          <p:cNvSpPr/>
          <p:nvPr/>
        </p:nvSpPr>
        <p:spPr>
          <a:xfrm>
            <a:off x="457200" y="6510528"/>
            <a:ext cx="1127729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65392"/>
            <a:ext cx="9144000" cy="228600"/>
          </a:xfrm>
          <a:prstGeom prst="rect">
            <a:avLst/>
          </a:prstGeom>
          <a:noFill/>
        </p:spPr>
        <p:txBody>
          <a:bodyPr wrap="square" lIns="0" rIns="0" tIns="0" bIns="0" anchor="t">
            <a:spAutoFit/>
          </a:bodyPr>
          <a:lstStyle/>
          <a:p>
            <a:pPr algn="l"/>
            <a:r>
              <a:rPr sz="900" b="0" i="0">
                <a:solidFill>
                  <a:srgbClr val="64748B"/>
                </a:solidFill>
                <a:latin typeface="Calibri"/>
              </a:rPr>
              <a:t>Breast MRI Classification  •  ODELIA 2025  •  TDT4265</a:t>
            </a:r>
          </a:p>
        </p:txBody>
      </p:sp>
      <p:sp>
        <p:nvSpPr>
          <p:cNvPr id="6" name="TextBox 5"/>
          <p:cNvSpPr txBox="1"/>
          <p:nvPr/>
        </p:nvSpPr>
        <p:spPr>
          <a:xfrm>
            <a:off x="10515600" y="6565392"/>
            <a:ext cx="1188720" cy="228600"/>
          </a:xfrm>
          <a:prstGeom prst="rect">
            <a:avLst/>
          </a:prstGeom>
          <a:noFill/>
        </p:spPr>
        <p:txBody>
          <a:bodyPr wrap="square" lIns="0" rIns="0" tIns="0" bIns="0" anchor="t">
            <a:spAutoFit/>
          </a:bodyPr>
          <a:lstStyle/>
          <a:p>
            <a:pPr algn="r"/>
            <a:r>
              <a:rPr sz="900" b="1" i="0">
                <a:solidFill>
                  <a:srgbClr val="64748B"/>
                </a:solidFill>
                <a:latin typeface="Calibri"/>
              </a:rPr>
              <a:t>07 / 18</a:t>
            </a:r>
          </a:p>
        </p:txBody>
      </p:sp>
      <p:sp>
        <p:nvSpPr>
          <p:cNvPr id="7" name="TextBox 6"/>
          <p:cNvSpPr txBox="1"/>
          <p:nvPr/>
        </p:nvSpPr>
        <p:spPr>
          <a:xfrm>
            <a:off x="457200" y="502920"/>
            <a:ext cx="11247120" cy="731520"/>
          </a:xfrm>
          <a:prstGeom prst="rect">
            <a:avLst/>
          </a:prstGeom>
          <a:noFill/>
        </p:spPr>
        <p:txBody>
          <a:bodyPr wrap="square" lIns="0" rIns="0" tIns="0" bIns="0" anchor="t">
            <a:spAutoFit/>
          </a:bodyPr>
          <a:lstStyle/>
          <a:p>
            <a:pPr algn="l"/>
            <a:r>
              <a:rPr sz="3200" b="1" i="0">
                <a:solidFill>
                  <a:srgbClr val="1E3A5F"/>
                </a:solidFill>
                <a:latin typeface="Calibri"/>
              </a:rPr>
              <a:t>Methods — Architecture</a:t>
            </a:r>
          </a:p>
        </p:txBody>
      </p:sp>
      <p:sp>
        <p:nvSpPr>
          <p:cNvPr id="8" name="TextBox 7"/>
          <p:cNvSpPr txBox="1"/>
          <p:nvPr/>
        </p:nvSpPr>
        <p:spPr>
          <a:xfrm>
            <a:off x="457200" y="1143000"/>
            <a:ext cx="11247120" cy="365760"/>
          </a:xfrm>
          <a:prstGeom prst="rect">
            <a:avLst/>
          </a:prstGeom>
          <a:noFill/>
        </p:spPr>
        <p:txBody>
          <a:bodyPr wrap="square" lIns="0" rIns="0" tIns="0" bIns="0" anchor="t">
            <a:spAutoFit/>
          </a:bodyPr>
          <a:lstStyle/>
          <a:p>
            <a:pPr algn="l"/>
            <a:r>
              <a:rPr sz="1500" b="0" i="1">
                <a:solidFill>
                  <a:srgbClr val="64748B"/>
                </a:solidFill>
                <a:latin typeface="Calibri"/>
              </a:rPr>
              <a:t>3D CNN backbones (MONAI), per-breast input, softmax over 3 classes</a:t>
            </a:r>
          </a:p>
        </p:txBody>
      </p:sp>
      <p:sp>
        <p:nvSpPr>
          <p:cNvPr id="9" name="Rectangle 8"/>
          <p:cNvSpPr/>
          <p:nvPr/>
        </p:nvSpPr>
        <p:spPr>
          <a:xfrm>
            <a:off x="457200" y="1828800"/>
            <a:ext cx="5486400" cy="10058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828800"/>
            <a:ext cx="73152"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965960"/>
            <a:ext cx="5212080" cy="411480"/>
          </a:xfrm>
          <a:prstGeom prst="rect">
            <a:avLst/>
          </a:prstGeom>
          <a:noFill/>
        </p:spPr>
        <p:txBody>
          <a:bodyPr wrap="square" lIns="0" rIns="0" tIns="0" bIns="0" anchor="t">
            <a:spAutoFit/>
          </a:bodyPr>
          <a:lstStyle/>
          <a:p>
            <a:pPr algn="l"/>
            <a:r>
              <a:rPr sz="1300" b="1" i="0">
                <a:solidFill>
                  <a:srgbClr val="1E3A5F"/>
                </a:solidFill>
                <a:latin typeface="Calibri"/>
              </a:rPr>
              <a:t>1. INPUT</a:t>
            </a:r>
          </a:p>
        </p:txBody>
      </p:sp>
      <p:sp>
        <p:nvSpPr>
          <p:cNvPr id="12" name="TextBox 11"/>
          <p:cNvSpPr txBox="1"/>
          <p:nvPr/>
        </p:nvSpPr>
        <p:spPr>
          <a:xfrm>
            <a:off x="640080" y="2331720"/>
            <a:ext cx="5212080" cy="640080"/>
          </a:xfrm>
          <a:prstGeom prst="rect">
            <a:avLst/>
          </a:prstGeom>
          <a:noFill/>
        </p:spPr>
        <p:txBody>
          <a:bodyPr wrap="square" lIns="0" rIns="0" tIns="0" bIns="0" anchor="t">
            <a:spAutoFit/>
          </a:bodyPr>
          <a:lstStyle/>
          <a:p>
            <a:pPr algn="l"/>
            <a:r>
              <a:rPr sz="1050" b="0" i="0">
                <a:solidFill>
                  <a:srgbClr val="64748B"/>
                </a:solidFill>
                <a:latin typeface="Calibri"/>
              </a:rPr>
              <a:t>Sub_1 volume (best), resampled to 224×224×32, percentile normalization</a:t>
            </a:r>
          </a:p>
        </p:txBody>
      </p:sp>
      <p:sp>
        <p:nvSpPr>
          <p:cNvPr id="13" name="Rectangle 12"/>
          <p:cNvSpPr/>
          <p:nvPr/>
        </p:nvSpPr>
        <p:spPr>
          <a:xfrm>
            <a:off x="457200" y="3017520"/>
            <a:ext cx="5486400" cy="10058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17520"/>
            <a:ext cx="73152" cy="10058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154680"/>
            <a:ext cx="5212080" cy="411480"/>
          </a:xfrm>
          <a:prstGeom prst="rect">
            <a:avLst/>
          </a:prstGeom>
          <a:noFill/>
        </p:spPr>
        <p:txBody>
          <a:bodyPr wrap="square" lIns="0" rIns="0" tIns="0" bIns="0" anchor="t">
            <a:spAutoFit/>
          </a:bodyPr>
          <a:lstStyle/>
          <a:p>
            <a:pPr algn="l"/>
            <a:r>
              <a:rPr sz="1300" b="1" i="0">
                <a:solidFill>
                  <a:srgbClr val="1E3A5F"/>
                </a:solidFill>
                <a:latin typeface="Calibri"/>
              </a:rPr>
              <a:t>2. AUGMENTATION</a:t>
            </a:r>
          </a:p>
        </p:txBody>
      </p:sp>
      <p:sp>
        <p:nvSpPr>
          <p:cNvPr id="16" name="TextBox 15"/>
          <p:cNvSpPr txBox="1"/>
          <p:nvPr/>
        </p:nvSpPr>
        <p:spPr>
          <a:xfrm>
            <a:off x="640080" y="3520440"/>
            <a:ext cx="5212080" cy="640080"/>
          </a:xfrm>
          <a:prstGeom prst="rect">
            <a:avLst/>
          </a:prstGeom>
          <a:noFill/>
        </p:spPr>
        <p:txBody>
          <a:bodyPr wrap="square" lIns="0" rIns="0" tIns="0" bIns="0" anchor="t">
            <a:spAutoFit/>
          </a:bodyPr>
          <a:lstStyle/>
          <a:p>
            <a:pPr algn="l"/>
            <a:r>
              <a:rPr sz="1050" b="0" i="0">
                <a:solidFill>
                  <a:srgbClr val="64748B"/>
                </a:solidFill>
                <a:latin typeface="Calibri"/>
              </a:rPr>
              <a:t>Flip · rotate · intensity shift · elastic — strong, for small-data regularization</a:t>
            </a:r>
          </a:p>
        </p:txBody>
      </p:sp>
      <p:sp>
        <p:nvSpPr>
          <p:cNvPr id="17" name="Rectangle 16"/>
          <p:cNvSpPr/>
          <p:nvPr/>
        </p:nvSpPr>
        <p:spPr>
          <a:xfrm>
            <a:off x="457200" y="4206240"/>
            <a:ext cx="5486400" cy="10058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206240"/>
            <a:ext cx="73152"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343400"/>
            <a:ext cx="5212080" cy="411480"/>
          </a:xfrm>
          <a:prstGeom prst="rect">
            <a:avLst/>
          </a:prstGeom>
          <a:noFill/>
        </p:spPr>
        <p:txBody>
          <a:bodyPr wrap="square" lIns="0" rIns="0" tIns="0" bIns="0" anchor="t">
            <a:spAutoFit/>
          </a:bodyPr>
          <a:lstStyle/>
          <a:p>
            <a:pPr algn="l"/>
            <a:r>
              <a:rPr sz="1300" b="1" i="0">
                <a:solidFill>
                  <a:srgbClr val="1E3A5F"/>
                </a:solidFill>
                <a:latin typeface="Calibri"/>
              </a:rPr>
              <a:t>3. 3D CNN BACKBONE</a:t>
            </a:r>
          </a:p>
        </p:txBody>
      </p:sp>
      <p:sp>
        <p:nvSpPr>
          <p:cNvPr id="20" name="TextBox 19"/>
          <p:cNvSpPr txBox="1"/>
          <p:nvPr/>
        </p:nvSpPr>
        <p:spPr>
          <a:xfrm>
            <a:off x="640080" y="4709160"/>
            <a:ext cx="5212080" cy="640080"/>
          </a:xfrm>
          <a:prstGeom prst="rect">
            <a:avLst/>
          </a:prstGeom>
          <a:noFill/>
        </p:spPr>
        <p:txBody>
          <a:bodyPr wrap="square" lIns="0" rIns="0" tIns="0" bIns="0" anchor="t">
            <a:spAutoFit/>
          </a:bodyPr>
          <a:lstStyle/>
          <a:p>
            <a:pPr algn="l"/>
            <a:r>
              <a:rPr sz="1050" b="0" i="0">
                <a:solidFill>
                  <a:srgbClr val="64748B"/>
                </a:solidFill>
                <a:latin typeface="Calibri"/>
              </a:rPr>
              <a:t>ResNet50 with InstanceNorm (best)  or  DenseNet121 — MONAI models</a:t>
            </a:r>
          </a:p>
        </p:txBody>
      </p:sp>
      <p:sp>
        <p:nvSpPr>
          <p:cNvPr id="21" name="Rectangle 20"/>
          <p:cNvSpPr/>
          <p:nvPr/>
        </p:nvSpPr>
        <p:spPr>
          <a:xfrm>
            <a:off x="457200" y="5394960"/>
            <a:ext cx="5486400" cy="100584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5394960"/>
            <a:ext cx="73152" cy="1005840"/>
          </a:xfrm>
          <a:prstGeom prst="rect">
            <a:avLst/>
          </a:prstGeom>
          <a:solidFill>
            <a:srgbClr val="E4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532120"/>
            <a:ext cx="5212080" cy="411480"/>
          </a:xfrm>
          <a:prstGeom prst="rect">
            <a:avLst/>
          </a:prstGeom>
          <a:noFill/>
        </p:spPr>
        <p:txBody>
          <a:bodyPr wrap="square" lIns="0" rIns="0" tIns="0" bIns="0" anchor="t">
            <a:spAutoFit/>
          </a:bodyPr>
          <a:lstStyle/>
          <a:p>
            <a:pPr algn="l"/>
            <a:r>
              <a:rPr sz="1300" b="1" i="0">
                <a:solidFill>
                  <a:srgbClr val="1E3A5F"/>
                </a:solidFill>
                <a:latin typeface="Calibri"/>
              </a:rPr>
              <a:t>4. HEAD + LOSS</a:t>
            </a:r>
          </a:p>
        </p:txBody>
      </p:sp>
      <p:sp>
        <p:nvSpPr>
          <p:cNvPr id="24" name="TextBox 23"/>
          <p:cNvSpPr txBox="1"/>
          <p:nvPr/>
        </p:nvSpPr>
        <p:spPr>
          <a:xfrm>
            <a:off x="640080" y="5897880"/>
            <a:ext cx="5212080" cy="640080"/>
          </a:xfrm>
          <a:prstGeom prst="rect">
            <a:avLst/>
          </a:prstGeom>
          <a:noFill/>
        </p:spPr>
        <p:txBody>
          <a:bodyPr wrap="square" lIns="0" rIns="0" tIns="0" bIns="0" anchor="t">
            <a:spAutoFit/>
          </a:bodyPr>
          <a:lstStyle/>
          <a:p>
            <a:pPr algn="l"/>
            <a:r>
              <a:rPr sz="1050" b="0" i="0">
                <a:solidFill>
                  <a:srgbClr val="64748B"/>
                </a:solidFill>
                <a:latin typeface="Calibri"/>
              </a:rPr>
              <a:t>Global pool → linear → softmax(3).  CrossEntropy + oversampling</a:t>
            </a:r>
          </a:p>
        </p:txBody>
      </p:sp>
      <p:sp>
        <p:nvSpPr>
          <p:cNvPr id="25" name="Rectangle 24"/>
          <p:cNvSpPr/>
          <p:nvPr/>
        </p:nvSpPr>
        <p:spPr>
          <a:xfrm>
            <a:off x="6583680" y="1828800"/>
            <a:ext cx="73152" cy="4389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12280" y="1828800"/>
            <a:ext cx="5120640" cy="365760"/>
          </a:xfrm>
          <a:prstGeom prst="rect">
            <a:avLst/>
          </a:prstGeom>
          <a:noFill/>
        </p:spPr>
        <p:txBody>
          <a:bodyPr wrap="square" lIns="0" rIns="0" tIns="0" bIns="0" anchor="t">
            <a:spAutoFit/>
          </a:bodyPr>
          <a:lstStyle/>
          <a:p>
            <a:pPr algn="l"/>
            <a:r>
              <a:rPr sz="1100" b="1" i="0">
                <a:solidFill>
                  <a:srgbClr val="0D9488"/>
                </a:solidFill>
                <a:latin typeface="Calibri"/>
              </a:rPr>
              <a:t>DESIGN CHOICES</a:t>
            </a:r>
          </a:p>
        </p:txBody>
      </p:sp>
      <p:sp>
        <p:nvSpPr>
          <p:cNvPr id="27" name="TextBox 26"/>
          <p:cNvSpPr txBox="1"/>
          <p:nvPr/>
        </p:nvSpPr>
        <p:spPr>
          <a:xfrm>
            <a:off x="6812280" y="2194560"/>
            <a:ext cx="5212080" cy="4206240"/>
          </a:xfrm>
          <a:prstGeom prst="rect">
            <a:avLst/>
          </a:prstGeom>
          <a:noFill/>
        </p:spPr>
        <p:txBody>
          <a:bodyPr wrap="square" lIns="0" rIns="0" tIns="0" bIns="0">
            <a:spAutoFit/>
          </a:bodyPr>
          <a:lstStyle/>
          <a:p>
            <a:pPr algn="l">
              <a:lnSpc>
                <a:spcPct val="130000"/>
              </a:lnSpc>
            </a:pPr>
            <a:r>
              <a:rPr sz="1300" b="1">
                <a:solidFill>
                  <a:srgbClr val="0D9488"/>
                </a:solidFill>
                <a:latin typeface="Calibri"/>
              </a:rPr>
              <a:t>▸  </a:t>
            </a:r>
            <a:r>
              <a:rPr sz="1300" b="1" i="0">
                <a:solidFill>
                  <a:srgbClr val="1E293B"/>
                </a:solidFill>
                <a:latin typeface="Calibri"/>
              </a:rPr>
              <a:t>3D over 2D: </a:t>
            </a:r>
            <a:r>
              <a:rPr sz="1300" b="0" i="0">
                <a:solidFill>
                  <a:srgbClr val="1E293B"/>
                </a:solidFill>
                <a:latin typeface="Calibri"/>
              </a:rPr>
              <a:t>breast MRI is volumetric — cross-slice context matters.</a:t>
            </a:r>
          </a:p>
          <a:p>
            <a:pPr algn="l">
              <a:lnSpc>
                <a:spcPct val="130000"/>
              </a:lnSpc>
            </a:pPr>
            <a:r>
              <a:rPr sz="1300" b="1">
                <a:solidFill>
                  <a:srgbClr val="0D9488"/>
                </a:solidFill>
                <a:latin typeface="Calibri"/>
              </a:rPr>
              <a:t>▸  </a:t>
            </a:r>
            <a:r>
              <a:rPr sz="1300" b="1" i="0">
                <a:solidFill>
                  <a:srgbClr val="1E293B"/>
                </a:solidFill>
                <a:latin typeface="Calibri"/>
              </a:rPr>
              <a:t>Unilateral: </a:t>
            </a:r>
            <a:r>
              <a:rPr sz="1300" b="0" i="0">
                <a:solidFill>
                  <a:srgbClr val="1E293B"/>
                </a:solidFill>
                <a:latin typeface="Calibri"/>
              </a:rPr>
              <a:t>one breast at a time doubles effective samples (192→384).</a:t>
            </a:r>
          </a:p>
          <a:p>
            <a:pPr algn="l">
              <a:lnSpc>
                <a:spcPct val="130000"/>
              </a:lnSpc>
            </a:pPr>
            <a:r>
              <a:rPr sz="1300" b="1">
                <a:solidFill>
                  <a:srgbClr val="0D9488"/>
                </a:solidFill>
                <a:latin typeface="Calibri"/>
              </a:rPr>
              <a:t>▸  </a:t>
            </a:r>
            <a:r>
              <a:rPr sz="1300" b="1" i="0">
                <a:solidFill>
                  <a:srgbClr val="1E293B"/>
                </a:solidFill>
                <a:latin typeface="Calibri"/>
              </a:rPr>
              <a:t>ResNet50 &gt; DenseNet121: </a:t>
            </a:r>
            <a:r>
              <a:rPr sz="1300" b="0" i="0">
                <a:solidFill>
                  <a:srgbClr val="1E293B"/>
                </a:solidFill>
                <a:latin typeface="Calibri"/>
              </a:rPr>
              <a:t>more capacity helped at 224×224×32 resolution.</a:t>
            </a:r>
          </a:p>
          <a:p>
            <a:pPr algn="l">
              <a:lnSpc>
                <a:spcPct val="130000"/>
              </a:lnSpc>
            </a:pPr>
            <a:r>
              <a:rPr sz="1300" b="1">
                <a:solidFill>
                  <a:srgbClr val="0D9488"/>
                </a:solidFill>
                <a:latin typeface="Calibri"/>
              </a:rPr>
              <a:t>▸  </a:t>
            </a:r>
            <a:r>
              <a:rPr sz="1300" b="1" i="0">
                <a:solidFill>
                  <a:srgbClr val="D97706"/>
                </a:solidFill>
                <a:latin typeface="Calibri"/>
              </a:rPr>
              <a:t>InstanceNorm &gt; BatchNorm: </a:t>
            </a:r>
            <a:r>
              <a:rPr sz="1300" b="0" i="0">
                <a:solidFill>
                  <a:srgbClr val="1E293B"/>
                </a:solidFill>
                <a:latin typeface="Calibri"/>
              </a:rPr>
              <a:t>domain-invariant normalization — the key breakthrough.</a:t>
            </a:r>
          </a:p>
          <a:p>
            <a:pPr algn="l">
              <a:lnSpc>
                <a:spcPct val="130000"/>
              </a:lnSpc>
            </a:pPr>
            <a:r>
              <a:rPr sz="1300" b="1">
                <a:solidFill>
                  <a:srgbClr val="0D9488"/>
                </a:solidFill>
                <a:latin typeface="Calibri"/>
              </a:rPr>
              <a:t>▸  </a:t>
            </a:r>
            <a:r>
              <a:rPr sz="1300" b="1" i="0">
                <a:solidFill>
                  <a:srgbClr val="1E293B"/>
                </a:solidFill>
                <a:latin typeface="Calibri"/>
              </a:rPr>
              <a:t>From-scratch &gt; pretrained (3D): </a:t>
            </a:r>
            <a:r>
              <a:rPr sz="1300" b="0" i="0">
                <a:solidFill>
                  <a:srgbClr val="1E293B"/>
                </a:solidFill>
                <a:latin typeface="Calibri"/>
              </a:rPr>
              <a:t>MedicalNet pretraining (v18) scored 0.497 vs from-scratch 0.504.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0" y="292608"/>
            <a:ext cx="4206240" cy="320040"/>
          </a:xfrm>
          <a:prstGeom prst="rect">
            <a:avLst/>
          </a:prstGeom>
          <a:noFill/>
        </p:spPr>
        <p:txBody>
          <a:bodyPr wrap="square" lIns="0" rIns="0" tIns="0" bIns="0" anchor="t">
            <a:spAutoFit/>
          </a:bodyPr>
          <a:lstStyle/>
          <a:p>
            <a:pPr algn="r"/>
            <a:r>
              <a:rPr sz="1000" b="1" i="0">
                <a:solidFill>
                  <a:srgbClr val="0D9488"/>
                </a:solidFill>
                <a:latin typeface="Calibri"/>
              </a:rPr>
              <a:t>METHODS</a:t>
            </a:r>
          </a:p>
        </p:txBody>
      </p:sp>
      <p:sp>
        <p:nvSpPr>
          <p:cNvPr id="4" name="Rectangle 3"/>
          <p:cNvSpPr/>
          <p:nvPr/>
        </p:nvSpPr>
        <p:spPr>
          <a:xfrm>
            <a:off x="457200" y="6510528"/>
            <a:ext cx="1127729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65392"/>
            <a:ext cx="9144000" cy="228600"/>
          </a:xfrm>
          <a:prstGeom prst="rect">
            <a:avLst/>
          </a:prstGeom>
          <a:noFill/>
        </p:spPr>
        <p:txBody>
          <a:bodyPr wrap="square" lIns="0" rIns="0" tIns="0" bIns="0" anchor="t">
            <a:spAutoFit/>
          </a:bodyPr>
          <a:lstStyle/>
          <a:p>
            <a:pPr algn="l"/>
            <a:r>
              <a:rPr sz="900" b="0" i="0">
                <a:solidFill>
                  <a:srgbClr val="64748B"/>
                </a:solidFill>
                <a:latin typeface="Calibri"/>
              </a:rPr>
              <a:t>Breast MRI Classification  •  ODELIA 2025  •  TDT4265</a:t>
            </a:r>
          </a:p>
        </p:txBody>
      </p:sp>
      <p:sp>
        <p:nvSpPr>
          <p:cNvPr id="6" name="TextBox 5"/>
          <p:cNvSpPr txBox="1"/>
          <p:nvPr/>
        </p:nvSpPr>
        <p:spPr>
          <a:xfrm>
            <a:off x="10515600" y="6565392"/>
            <a:ext cx="1188720" cy="228600"/>
          </a:xfrm>
          <a:prstGeom prst="rect">
            <a:avLst/>
          </a:prstGeom>
          <a:noFill/>
        </p:spPr>
        <p:txBody>
          <a:bodyPr wrap="square" lIns="0" rIns="0" tIns="0" bIns="0" anchor="t">
            <a:spAutoFit/>
          </a:bodyPr>
          <a:lstStyle/>
          <a:p>
            <a:pPr algn="r"/>
            <a:r>
              <a:rPr sz="900" b="1" i="0">
                <a:solidFill>
                  <a:srgbClr val="64748B"/>
                </a:solidFill>
                <a:latin typeface="Calibri"/>
              </a:rPr>
              <a:t>08 / 18</a:t>
            </a:r>
          </a:p>
        </p:txBody>
      </p:sp>
      <p:sp>
        <p:nvSpPr>
          <p:cNvPr id="7" name="TextBox 6"/>
          <p:cNvSpPr txBox="1"/>
          <p:nvPr/>
        </p:nvSpPr>
        <p:spPr>
          <a:xfrm>
            <a:off x="457200" y="502920"/>
            <a:ext cx="11247120" cy="731520"/>
          </a:xfrm>
          <a:prstGeom prst="rect">
            <a:avLst/>
          </a:prstGeom>
          <a:noFill/>
        </p:spPr>
        <p:txBody>
          <a:bodyPr wrap="square" lIns="0" rIns="0" tIns="0" bIns="0" anchor="t">
            <a:spAutoFit/>
          </a:bodyPr>
          <a:lstStyle/>
          <a:p>
            <a:pPr algn="l"/>
            <a:r>
              <a:rPr sz="3200" b="1" i="0">
                <a:solidFill>
                  <a:srgbClr val="1E3A5F"/>
                </a:solidFill>
                <a:latin typeface="Calibri"/>
              </a:rPr>
              <a:t>Methods — Key Techniques</a:t>
            </a:r>
          </a:p>
        </p:txBody>
      </p:sp>
      <p:sp>
        <p:nvSpPr>
          <p:cNvPr id="8" name="TextBox 7"/>
          <p:cNvSpPr txBox="1"/>
          <p:nvPr/>
        </p:nvSpPr>
        <p:spPr>
          <a:xfrm>
            <a:off x="457200" y="1143000"/>
            <a:ext cx="11247120" cy="365760"/>
          </a:xfrm>
          <a:prstGeom prst="rect">
            <a:avLst/>
          </a:prstGeom>
          <a:noFill/>
        </p:spPr>
        <p:txBody>
          <a:bodyPr wrap="square" lIns="0" rIns="0" tIns="0" bIns="0" anchor="t">
            <a:spAutoFit/>
          </a:bodyPr>
          <a:lstStyle/>
          <a:p>
            <a:pPr algn="l"/>
            <a:r>
              <a:rPr sz="1500" b="0" i="1">
                <a:solidFill>
                  <a:srgbClr val="64748B"/>
                </a:solidFill>
                <a:latin typeface="Calibri"/>
              </a:rPr>
              <a:t>Seven tools for small-data, multi-center medical classification</a:t>
            </a:r>
          </a:p>
        </p:txBody>
      </p:sp>
      <p:sp>
        <p:nvSpPr>
          <p:cNvPr id="9" name="Rectangle 8"/>
          <p:cNvSpPr/>
          <p:nvPr/>
        </p:nvSpPr>
        <p:spPr>
          <a:xfrm>
            <a:off x="457200" y="1828800"/>
            <a:ext cx="3749039" cy="19659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828800"/>
            <a:ext cx="73152" cy="19659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93392"/>
            <a:ext cx="3383279" cy="502920"/>
          </a:xfrm>
          <a:prstGeom prst="rect">
            <a:avLst/>
          </a:prstGeom>
          <a:noFill/>
        </p:spPr>
        <p:txBody>
          <a:bodyPr wrap="square" lIns="0" rIns="0" tIns="0" bIns="0" anchor="t">
            <a:spAutoFit/>
          </a:bodyPr>
          <a:lstStyle/>
          <a:p>
            <a:pPr algn="l"/>
            <a:r>
              <a:rPr sz="1400" b="1" i="0">
                <a:solidFill>
                  <a:srgbClr val="1E3A5F"/>
                </a:solidFill>
                <a:latin typeface="Calibri"/>
              </a:rPr>
              <a:t>Percentile normalization</a:t>
            </a:r>
          </a:p>
        </p:txBody>
      </p:sp>
      <p:sp>
        <p:nvSpPr>
          <p:cNvPr id="12" name="TextBox 11"/>
          <p:cNvSpPr txBox="1"/>
          <p:nvPr/>
        </p:nvSpPr>
        <p:spPr>
          <a:xfrm>
            <a:off x="685800" y="2542032"/>
            <a:ext cx="3383279" cy="1097280"/>
          </a:xfrm>
          <a:prstGeom prst="rect">
            <a:avLst/>
          </a:prstGeom>
          <a:noFill/>
        </p:spPr>
        <p:txBody>
          <a:bodyPr wrap="square" lIns="0" rIns="0" tIns="0" bIns="0" anchor="t">
            <a:spAutoFit/>
          </a:bodyPr>
          <a:lstStyle/>
          <a:p>
            <a:pPr algn="l"/>
            <a:r>
              <a:rPr sz="1150" b="0" i="0">
                <a:solidFill>
                  <a:srgbClr val="1E293B"/>
                </a:solidFill>
                <a:latin typeface="Calibri"/>
              </a:rPr>
              <a:t>Clips 1st–99th percentile to [0,1]. Robust to scanner intensity differences (unlike z-score).</a:t>
            </a:r>
          </a:p>
        </p:txBody>
      </p:sp>
      <p:sp>
        <p:nvSpPr>
          <p:cNvPr id="13" name="Rectangle 12"/>
          <p:cNvSpPr/>
          <p:nvPr/>
        </p:nvSpPr>
        <p:spPr>
          <a:xfrm>
            <a:off x="4370831" y="1828800"/>
            <a:ext cx="3749039" cy="19659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0831" y="1828800"/>
            <a:ext cx="73152" cy="19659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9431" y="1993392"/>
            <a:ext cx="3383279" cy="502920"/>
          </a:xfrm>
          <a:prstGeom prst="rect">
            <a:avLst/>
          </a:prstGeom>
          <a:noFill/>
        </p:spPr>
        <p:txBody>
          <a:bodyPr wrap="square" lIns="0" rIns="0" tIns="0" bIns="0" anchor="t">
            <a:spAutoFit/>
          </a:bodyPr>
          <a:lstStyle/>
          <a:p>
            <a:pPr algn="l"/>
            <a:r>
              <a:rPr sz="1400" b="1" i="0">
                <a:solidFill>
                  <a:srgbClr val="1E3A5F"/>
                </a:solidFill>
                <a:latin typeface="Calibri"/>
              </a:rPr>
              <a:t>Oversampling</a:t>
            </a:r>
          </a:p>
        </p:txBody>
      </p:sp>
      <p:sp>
        <p:nvSpPr>
          <p:cNvPr id="16" name="TextBox 15"/>
          <p:cNvSpPr txBox="1"/>
          <p:nvPr/>
        </p:nvSpPr>
        <p:spPr>
          <a:xfrm>
            <a:off x="4599431" y="2542032"/>
            <a:ext cx="3383279" cy="1097280"/>
          </a:xfrm>
          <a:prstGeom prst="rect">
            <a:avLst/>
          </a:prstGeom>
          <a:noFill/>
        </p:spPr>
        <p:txBody>
          <a:bodyPr wrap="square" lIns="0" rIns="0" tIns="0" bIns="0" anchor="t">
            <a:spAutoFit/>
          </a:bodyPr>
          <a:lstStyle/>
          <a:p>
            <a:pPr algn="l"/>
            <a:r>
              <a:rPr sz="1150" b="0" i="0">
                <a:solidFill>
                  <a:srgbClr val="1E293B"/>
                </a:solidFill>
                <a:latin typeface="Calibri"/>
              </a:rPr>
              <a:t>Repeat minority-class samples in each batch — model sees balanced classes during training.</a:t>
            </a:r>
          </a:p>
        </p:txBody>
      </p:sp>
      <p:sp>
        <p:nvSpPr>
          <p:cNvPr id="17" name="Rectangle 16"/>
          <p:cNvSpPr/>
          <p:nvPr/>
        </p:nvSpPr>
        <p:spPr>
          <a:xfrm>
            <a:off x="8284462" y="1828800"/>
            <a:ext cx="3749039" cy="19659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84462" y="1828800"/>
            <a:ext cx="73152" cy="1965960"/>
          </a:xfrm>
          <a:prstGeom prst="rect">
            <a:avLst/>
          </a:prstGeom>
          <a:solidFill>
            <a:srgbClr val="E4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13062" y="1993392"/>
            <a:ext cx="3383279" cy="502920"/>
          </a:xfrm>
          <a:prstGeom prst="rect">
            <a:avLst/>
          </a:prstGeom>
          <a:noFill/>
        </p:spPr>
        <p:txBody>
          <a:bodyPr wrap="square" lIns="0" rIns="0" tIns="0" bIns="0" anchor="t">
            <a:spAutoFit/>
          </a:bodyPr>
          <a:lstStyle/>
          <a:p>
            <a:pPr algn="l"/>
            <a:r>
              <a:rPr sz="1400" b="1" i="0">
                <a:solidFill>
                  <a:srgbClr val="1E3A5F"/>
                </a:solidFill>
                <a:latin typeface="Calibri"/>
              </a:rPr>
              <a:t>InstanceNorm</a:t>
            </a:r>
          </a:p>
        </p:txBody>
      </p:sp>
      <p:sp>
        <p:nvSpPr>
          <p:cNvPr id="20" name="TextBox 19"/>
          <p:cNvSpPr txBox="1"/>
          <p:nvPr/>
        </p:nvSpPr>
        <p:spPr>
          <a:xfrm>
            <a:off x="8513062" y="2542032"/>
            <a:ext cx="3383279" cy="1097280"/>
          </a:xfrm>
          <a:prstGeom prst="rect">
            <a:avLst/>
          </a:prstGeom>
          <a:noFill/>
        </p:spPr>
        <p:txBody>
          <a:bodyPr wrap="square" lIns="0" rIns="0" tIns="0" bIns="0" anchor="t">
            <a:spAutoFit/>
          </a:bodyPr>
          <a:lstStyle/>
          <a:p>
            <a:pPr algn="l"/>
            <a:r>
              <a:rPr sz="1150" b="0" i="0">
                <a:solidFill>
                  <a:srgbClr val="1E293B"/>
                </a:solidFill>
                <a:latin typeface="Calibri"/>
              </a:rPr>
              <a:t>Per-sample statistics (not running averages). Inherently scanner-invariant → best RSH score.</a:t>
            </a:r>
          </a:p>
        </p:txBody>
      </p:sp>
      <p:sp>
        <p:nvSpPr>
          <p:cNvPr id="21" name="Rectangle 20"/>
          <p:cNvSpPr/>
          <p:nvPr/>
        </p:nvSpPr>
        <p:spPr>
          <a:xfrm>
            <a:off x="457200" y="4023360"/>
            <a:ext cx="3749039" cy="19659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023360"/>
            <a:ext cx="73152" cy="1965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187952"/>
            <a:ext cx="3383279" cy="502920"/>
          </a:xfrm>
          <a:prstGeom prst="rect">
            <a:avLst/>
          </a:prstGeom>
          <a:noFill/>
        </p:spPr>
        <p:txBody>
          <a:bodyPr wrap="square" lIns="0" rIns="0" tIns="0" bIns="0" anchor="t">
            <a:spAutoFit/>
          </a:bodyPr>
          <a:lstStyle/>
          <a:p>
            <a:pPr algn="l"/>
            <a:r>
              <a:rPr sz="1400" b="1" i="0">
                <a:solidFill>
                  <a:srgbClr val="1E3A5F"/>
                </a:solidFill>
                <a:latin typeface="Calibri"/>
              </a:rPr>
              <a:t>Strong augmentation</a:t>
            </a:r>
          </a:p>
        </p:txBody>
      </p:sp>
      <p:sp>
        <p:nvSpPr>
          <p:cNvPr id="24" name="TextBox 23"/>
          <p:cNvSpPr txBox="1"/>
          <p:nvPr/>
        </p:nvSpPr>
        <p:spPr>
          <a:xfrm>
            <a:off x="685800" y="4736592"/>
            <a:ext cx="3383279" cy="1097280"/>
          </a:xfrm>
          <a:prstGeom prst="rect">
            <a:avLst/>
          </a:prstGeom>
          <a:noFill/>
        </p:spPr>
        <p:txBody>
          <a:bodyPr wrap="square" lIns="0" rIns="0" tIns="0" bIns="0" anchor="t">
            <a:spAutoFit/>
          </a:bodyPr>
          <a:lstStyle/>
          <a:p>
            <a:pPr algn="l"/>
            <a:r>
              <a:rPr sz="1150" b="0" i="0">
                <a:solidFill>
                  <a:srgbClr val="1E293B"/>
                </a:solidFill>
                <a:latin typeface="Calibri"/>
              </a:rPr>
              <a:t>Flip, rotate, elastic, intensity shift — forces model to learn clinical features, not scanner artifacts.</a:t>
            </a:r>
          </a:p>
        </p:txBody>
      </p:sp>
      <p:sp>
        <p:nvSpPr>
          <p:cNvPr id="25" name="Rectangle 24"/>
          <p:cNvSpPr/>
          <p:nvPr/>
        </p:nvSpPr>
        <p:spPr>
          <a:xfrm>
            <a:off x="4370831" y="4023360"/>
            <a:ext cx="3749039" cy="19659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70831" y="4023360"/>
            <a:ext cx="73152" cy="19659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99431" y="4187952"/>
            <a:ext cx="3383279" cy="502920"/>
          </a:xfrm>
          <a:prstGeom prst="rect">
            <a:avLst/>
          </a:prstGeom>
          <a:noFill/>
        </p:spPr>
        <p:txBody>
          <a:bodyPr wrap="square" lIns="0" rIns="0" tIns="0" bIns="0" anchor="t">
            <a:spAutoFit/>
          </a:bodyPr>
          <a:lstStyle/>
          <a:p>
            <a:pPr algn="l"/>
            <a:r>
              <a:rPr sz="1400" b="1" i="0">
                <a:solidFill>
                  <a:srgbClr val="1E3A5F"/>
                </a:solidFill>
                <a:latin typeface="Calibri"/>
              </a:rPr>
              <a:t>Class-weighted loss</a:t>
            </a:r>
          </a:p>
        </p:txBody>
      </p:sp>
      <p:sp>
        <p:nvSpPr>
          <p:cNvPr id="28" name="TextBox 27"/>
          <p:cNvSpPr txBox="1"/>
          <p:nvPr/>
        </p:nvSpPr>
        <p:spPr>
          <a:xfrm>
            <a:off x="4599431" y="4736592"/>
            <a:ext cx="3383279" cy="1097280"/>
          </a:xfrm>
          <a:prstGeom prst="rect">
            <a:avLst/>
          </a:prstGeom>
          <a:noFill/>
        </p:spPr>
        <p:txBody>
          <a:bodyPr wrap="square" lIns="0" rIns="0" tIns="0" bIns="0" anchor="t">
            <a:spAutoFit/>
          </a:bodyPr>
          <a:lstStyle/>
          <a:p>
            <a:pPr algn="l"/>
            <a:r>
              <a:rPr sz="1150" b="0" i="0">
                <a:solidFill>
                  <a:srgbClr val="1E293B"/>
                </a:solidFill>
                <a:latin typeface="Calibri"/>
              </a:rPr>
              <a:t>Mild weights [1, 2, 1.5]. Aggressive weights (v7) overcorrect — delicate balance.</a:t>
            </a:r>
          </a:p>
        </p:txBody>
      </p:sp>
      <p:sp>
        <p:nvSpPr>
          <p:cNvPr id="29" name="Rectangle 28"/>
          <p:cNvSpPr/>
          <p:nvPr/>
        </p:nvSpPr>
        <p:spPr>
          <a:xfrm>
            <a:off x="8284462" y="4023360"/>
            <a:ext cx="3749039" cy="19659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84462" y="4023360"/>
            <a:ext cx="73152" cy="19659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13062" y="4187952"/>
            <a:ext cx="3383279" cy="502920"/>
          </a:xfrm>
          <a:prstGeom prst="rect">
            <a:avLst/>
          </a:prstGeom>
          <a:noFill/>
        </p:spPr>
        <p:txBody>
          <a:bodyPr wrap="square" lIns="0" rIns="0" tIns="0" bIns="0" anchor="t">
            <a:spAutoFit/>
          </a:bodyPr>
          <a:lstStyle/>
          <a:p>
            <a:pPr algn="l"/>
            <a:r>
              <a:rPr sz="1400" b="1" i="0">
                <a:solidFill>
                  <a:srgbClr val="1E3A5F"/>
                </a:solidFill>
                <a:latin typeface="Calibri"/>
              </a:rPr>
              <a:t>Early stopping + cosine LR</a:t>
            </a:r>
          </a:p>
        </p:txBody>
      </p:sp>
      <p:sp>
        <p:nvSpPr>
          <p:cNvPr id="32" name="TextBox 31"/>
          <p:cNvSpPr txBox="1"/>
          <p:nvPr/>
        </p:nvSpPr>
        <p:spPr>
          <a:xfrm>
            <a:off x="8513062" y="4736592"/>
            <a:ext cx="3383279" cy="1097280"/>
          </a:xfrm>
          <a:prstGeom prst="rect">
            <a:avLst/>
          </a:prstGeom>
          <a:noFill/>
        </p:spPr>
        <p:txBody>
          <a:bodyPr wrap="square" lIns="0" rIns="0" tIns="0" bIns="0" anchor="t">
            <a:spAutoFit/>
          </a:bodyPr>
          <a:lstStyle/>
          <a:p>
            <a:pPr algn="l"/>
            <a:r>
              <a:rPr sz="1150" b="0" i="0">
                <a:solidFill>
                  <a:srgbClr val="1E293B"/>
                </a:solidFill>
                <a:latin typeface="Calibri"/>
              </a:rPr>
              <a:t>Monitor val loss, patience = 30 epochs. Cosine schedule for smooth convergence.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0" y="292608"/>
            <a:ext cx="4206240" cy="320040"/>
          </a:xfrm>
          <a:prstGeom prst="rect">
            <a:avLst/>
          </a:prstGeom>
          <a:noFill/>
        </p:spPr>
        <p:txBody>
          <a:bodyPr wrap="square" lIns="0" rIns="0" tIns="0" bIns="0" anchor="t">
            <a:spAutoFit/>
          </a:bodyPr>
          <a:lstStyle/>
          <a:p>
            <a:pPr algn="r"/>
            <a:r>
              <a:rPr sz="1000" b="1" i="0">
                <a:solidFill>
                  <a:srgbClr val="0D9488"/>
                </a:solidFill>
                <a:latin typeface="Calibri"/>
              </a:rPr>
              <a:t>METHODS</a:t>
            </a:r>
          </a:p>
        </p:txBody>
      </p:sp>
      <p:sp>
        <p:nvSpPr>
          <p:cNvPr id="4" name="Rectangle 3"/>
          <p:cNvSpPr/>
          <p:nvPr/>
        </p:nvSpPr>
        <p:spPr>
          <a:xfrm>
            <a:off x="457200" y="6510528"/>
            <a:ext cx="1127729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65392"/>
            <a:ext cx="9144000" cy="228600"/>
          </a:xfrm>
          <a:prstGeom prst="rect">
            <a:avLst/>
          </a:prstGeom>
          <a:noFill/>
        </p:spPr>
        <p:txBody>
          <a:bodyPr wrap="square" lIns="0" rIns="0" tIns="0" bIns="0" anchor="t">
            <a:spAutoFit/>
          </a:bodyPr>
          <a:lstStyle/>
          <a:p>
            <a:pPr algn="l"/>
            <a:r>
              <a:rPr sz="900" b="0" i="0">
                <a:solidFill>
                  <a:srgbClr val="64748B"/>
                </a:solidFill>
                <a:latin typeface="Calibri"/>
              </a:rPr>
              <a:t>Breast MRI Classification  •  ODELIA 2025  •  TDT4265</a:t>
            </a:r>
          </a:p>
        </p:txBody>
      </p:sp>
      <p:sp>
        <p:nvSpPr>
          <p:cNvPr id="6" name="TextBox 5"/>
          <p:cNvSpPr txBox="1"/>
          <p:nvPr/>
        </p:nvSpPr>
        <p:spPr>
          <a:xfrm>
            <a:off x="10515600" y="6565392"/>
            <a:ext cx="1188720" cy="228600"/>
          </a:xfrm>
          <a:prstGeom prst="rect">
            <a:avLst/>
          </a:prstGeom>
          <a:noFill/>
        </p:spPr>
        <p:txBody>
          <a:bodyPr wrap="square" lIns="0" rIns="0" tIns="0" bIns="0" anchor="t">
            <a:spAutoFit/>
          </a:bodyPr>
          <a:lstStyle/>
          <a:p>
            <a:pPr algn="r"/>
            <a:r>
              <a:rPr sz="900" b="1" i="0">
                <a:solidFill>
                  <a:srgbClr val="64748B"/>
                </a:solidFill>
                <a:latin typeface="Calibri"/>
              </a:rPr>
              <a:t>09 / 18</a:t>
            </a:r>
          </a:p>
        </p:txBody>
      </p:sp>
      <p:sp>
        <p:nvSpPr>
          <p:cNvPr id="7" name="TextBox 6"/>
          <p:cNvSpPr txBox="1"/>
          <p:nvPr/>
        </p:nvSpPr>
        <p:spPr>
          <a:xfrm>
            <a:off x="457200" y="502920"/>
            <a:ext cx="11247120" cy="731520"/>
          </a:xfrm>
          <a:prstGeom prst="rect">
            <a:avLst/>
          </a:prstGeom>
          <a:noFill/>
        </p:spPr>
        <p:txBody>
          <a:bodyPr wrap="square" lIns="0" rIns="0" tIns="0" bIns="0" anchor="t">
            <a:spAutoFit/>
          </a:bodyPr>
          <a:lstStyle/>
          <a:p>
            <a:pPr algn="l"/>
            <a:r>
              <a:rPr sz="3200" b="1" i="0">
                <a:solidFill>
                  <a:srgbClr val="1E3A5F"/>
                </a:solidFill>
                <a:latin typeface="Calibri"/>
              </a:rPr>
              <a:t>Methods — Training Setup</a:t>
            </a:r>
          </a:p>
        </p:txBody>
      </p:sp>
      <p:sp>
        <p:nvSpPr>
          <p:cNvPr id="8" name="TextBox 7"/>
          <p:cNvSpPr txBox="1"/>
          <p:nvPr/>
        </p:nvSpPr>
        <p:spPr>
          <a:xfrm>
            <a:off x="457200" y="1143000"/>
            <a:ext cx="11247120" cy="365760"/>
          </a:xfrm>
          <a:prstGeom prst="rect">
            <a:avLst/>
          </a:prstGeom>
          <a:noFill/>
        </p:spPr>
        <p:txBody>
          <a:bodyPr wrap="square" lIns="0" rIns="0" tIns="0" bIns="0" anchor="t">
            <a:spAutoFit/>
          </a:bodyPr>
          <a:lstStyle/>
          <a:p>
            <a:pPr algn="l"/>
            <a:r>
              <a:rPr sz="1500" b="0" i="1">
                <a:solidFill>
                  <a:srgbClr val="64748B"/>
                </a:solidFill>
                <a:latin typeface="Calibri"/>
              </a:rPr>
              <a:t>IDUN HPC cluster (A100), PyTorch + MONAI, ~25 model versions trained</a:t>
            </a:r>
          </a:p>
        </p:txBody>
      </p:sp>
      <p:sp>
        <p:nvSpPr>
          <p:cNvPr id="9" name="Rectangle 8"/>
          <p:cNvSpPr/>
          <p:nvPr/>
        </p:nvSpPr>
        <p:spPr>
          <a:xfrm>
            <a:off x="457200" y="1828800"/>
            <a:ext cx="7498079"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01952"/>
            <a:ext cx="3200400" cy="320040"/>
          </a:xfrm>
          <a:prstGeom prst="rect">
            <a:avLst/>
          </a:prstGeom>
          <a:noFill/>
        </p:spPr>
        <p:txBody>
          <a:bodyPr wrap="square" lIns="0" rIns="0" tIns="0" bIns="0" anchor="t">
            <a:spAutoFit/>
          </a:bodyPr>
          <a:lstStyle/>
          <a:p>
            <a:pPr algn="l"/>
            <a:r>
              <a:rPr sz="1200" b="1" i="0">
                <a:solidFill>
                  <a:srgbClr val="FFFFFF"/>
                </a:solidFill>
                <a:latin typeface="Calibri"/>
              </a:rPr>
              <a:t>PARAMETER</a:t>
            </a:r>
          </a:p>
        </p:txBody>
      </p:sp>
      <p:sp>
        <p:nvSpPr>
          <p:cNvPr id="11" name="TextBox 10"/>
          <p:cNvSpPr txBox="1"/>
          <p:nvPr/>
        </p:nvSpPr>
        <p:spPr>
          <a:xfrm>
            <a:off x="4023360" y="1901952"/>
            <a:ext cx="3840480" cy="320040"/>
          </a:xfrm>
          <a:prstGeom prst="rect">
            <a:avLst/>
          </a:prstGeom>
          <a:noFill/>
        </p:spPr>
        <p:txBody>
          <a:bodyPr wrap="square" lIns="0" rIns="0" tIns="0" bIns="0" anchor="t">
            <a:spAutoFit/>
          </a:bodyPr>
          <a:lstStyle/>
          <a:p>
            <a:pPr algn="l"/>
            <a:r>
              <a:rPr sz="1200" b="1" i="0">
                <a:solidFill>
                  <a:srgbClr val="FFFFFF"/>
                </a:solidFill>
                <a:latin typeface="Calibri"/>
              </a:rPr>
              <a:t>VALUE</a:t>
            </a:r>
          </a:p>
        </p:txBody>
      </p:sp>
      <p:sp>
        <p:nvSpPr>
          <p:cNvPr id="12" name="Rectangle 11"/>
          <p:cNvSpPr/>
          <p:nvPr/>
        </p:nvSpPr>
        <p:spPr>
          <a:xfrm>
            <a:off x="457200" y="2286000"/>
            <a:ext cx="7498079" cy="438912"/>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3291840" cy="292608"/>
          </a:xfrm>
          <a:prstGeom prst="rect">
            <a:avLst/>
          </a:prstGeom>
          <a:noFill/>
        </p:spPr>
        <p:txBody>
          <a:bodyPr wrap="square" lIns="0" rIns="0" tIns="0" bIns="0" anchor="t">
            <a:spAutoFit/>
          </a:bodyPr>
          <a:lstStyle/>
          <a:p>
            <a:pPr algn="l"/>
            <a:r>
              <a:rPr sz="1200" b="1" i="0">
                <a:solidFill>
                  <a:srgbClr val="1E3A5F"/>
                </a:solidFill>
                <a:latin typeface="Calibri"/>
              </a:rPr>
              <a:t>Framework</a:t>
            </a:r>
          </a:p>
        </p:txBody>
      </p:sp>
      <p:sp>
        <p:nvSpPr>
          <p:cNvPr id="14" name="TextBox 13"/>
          <p:cNvSpPr txBox="1"/>
          <p:nvPr/>
        </p:nvSpPr>
        <p:spPr>
          <a:xfrm>
            <a:off x="4023360" y="2377440"/>
            <a:ext cx="3840480" cy="292608"/>
          </a:xfrm>
          <a:prstGeom prst="rect">
            <a:avLst/>
          </a:prstGeom>
          <a:noFill/>
        </p:spPr>
        <p:txBody>
          <a:bodyPr wrap="square" lIns="0" rIns="0" tIns="0" bIns="0" anchor="t">
            <a:spAutoFit/>
          </a:bodyPr>
          <a:lstStyle/>
          <a:p>
            <a:pPr algn="l"/>
            <a:r>
              <a:rPr sz="1150" b="0" i="0">
                <a:solidFill>
                  <a:srgbClr val="1E293B"/>
                </a:solidFill>
                <a:latin typeface="Consolas"/>
              </a:rPr>
              <a:t>PyTorch 2.x  +  MONAI 1.3</a:t>
            </a:r>
          </a:p>
        </p:txBody>
      </p:sp>
      <p:sp>
        <p:nvSpPr>
          <p:cNvPr id="15" name="Rectangle 14"/>
          <p:cNvSpPr/>
          <p:nvPr/>
        </p:nvSpPr>
        <p:spPr>
          <a:xfrm>
            <a:off x="457200" y="2724912"/>
            <a:ext cx="7498079"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816352"/>
            <a:ext cx="3291840" cy="292608"/>
          </a:xfrm>
          <a:prstGeom prst="rect">
            <a:avLst/>
          </a:prstGeom>
          <a:noFill/>
        </p:spPr>
        <p:txBody>
          <a:bodyPr wrap="square" lIns="0" rIns="0" tIns="0" bIns="0" anchor="t">
            <a:spAutoFit/>
          </a:bodyPr>
          <a:lstStyle/>
          <a:p>
            <a:pPr algn="l"/>
            <a:r>
              <a:rPr sz="1200" b="1" i="0">
                <a:solidFill>
                  <a:srgbClr val="1E3A5F"/>
                </a:solidFill>
                <a:latin typeface="Calibri"/>
              </a:rPr>
              <a:t>Hardware</a:t>
            </a:r>
          </a:p>
        </p:txBody>
      </p:sp>
      <p:sp>
        <p:nvSpPr>
          <p:cNvPr id="17" name="TextBox 16"/>
          <p:cNvSpPr txBox="1"/>
          <p:nvPr/>
        </p:nvSpPr>
        <p:spPr>
          <a:xfrm>
            <a:off x="4023360" y="2816352"/>
            <a:ext cx="3840480" cy="292608"/>
          </a:xfrm>
          <a:prstGeom prst="rect">
            <a:avLst/>
          </a:prstGeom>
          <a:noFill/>
        </p:spPr>
        <p:txBody>
          <a:bodyPr wrap="square" lIns="0" rIns="0" tIns="0" bIns="0" anchor="t">
            <a:spAutoFit/>
          </a:bodyPr>
          <a:lstStyle/>
          <a:p>
            <a:pPr algn="l"/>
            <a:r>
              <a:rPr sz="1150" b="0" i="0">
                <a:solidFill>
                  <a:srgbClr val="1E293B"/>
                </a:solidFill>
                <a:latin typeface="Consolas"/>
              </a:rPr>
              <a:t>NVIDIA A100 (40 GB) · IDUN · SLURM</a:t>
            </a:r>
          </a:p>
        </p:txBody>
      </p:sp>
      <p:sp>
        <p:nvSpPr>
          <p:cNvPr id="18" name="Rectangle 17"/>
          <p:cNvSpPr/>
          <p:nvPr/>
        </p:nvSpPr>
        <p:spPr>
          <a:xfrm>
            <a:off x="457200" y="3163824"/>
            <a:ext cx="7498079" cy="438912"/>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255264"/>
            <a:ext cx="3291840" cy="292608"/>
          </a:xfrm>
          <a:prstGeom prst="rect">
            <a:avLst/>
          </a:prstGeom>
          <a:noFill/>
        </p:spPr>
        <p:txBody>
          <a:bodyPr wrap="square" lIns="0" rIns="0" tIns="0" bIns="0" anchor="t">
            <a:spAutoFit/>
          </a:bodyPr>
          <a:lstStyle/>
          <a:p>
            <a:pPr algn="l"/>
            <a:r>
              <a:rPr sz="1200" b="1" i="0">
                <a:solidFill>
                  <a:srgbClr val="1E3A5F"/>
                </a:solidFill>
                <a:latin typeface="Calibri"/>
              </a:rPr>
              <a:t>Input shape</a:t>
            </a:r>
          </a:p>
        </p:txBody>
      </p:sp>
      <p:sp>
        <p:nvSpPr>
          <p:cNvPr id="20" name="TextBox 19"/>
          <p:cNvSpPr txBox="1"/>
          <p:nvPr/>
        </p:nvSpPr>
        <p:spPr>
          <a:xfrm>
            <a:off x="4023360" y="3255264"/>
            <a:ext cx="3840480" cy="292608"/>
          </a:xfrm>
          <a:prstGeom prst="rect">
            <a:avLst/>
          </a:prstGeom>
          <a:noFill/>
        </p:spPr>
        <p:txBody>
          <a:bodyPr wrap="square" lIns="0" rIns="0" tIns="0" bIns="0" anchor="t">
            <a:spAutoFit/>
          </a:bodyPr>
          <a:lstStyle/>
          <a:p>
            <a:pPr algn="l"/>
            <a:r>
              <a:rPr sz="1150" b="0" i="0">
                <a:solidFill>
                  <a:srgbClr val="1E293B"/>
                </a:solidFill>
                <a:latin typeface="Consolas"/>
              </a:rPr>
              <a:t>1 × 32 × 224 × 224  (Sub_1 only)</a:t>
            </a:r>
          </a:p>
        </p:txBody>
      </p:sp>
      <p:sp>
        <p:nvSpPr>
          <p:cNvPr id="21" name="Rectangle 20"/>
          <p:cNvSpPr/>
          <p:nvPr/>
        </p:nvSpPr>
        <p:spPr>
          <a:xfrm>
            <a:off x="457200" y="3602736"/>
            <a:ext cx="7498079"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694176"/>
            <a:ext cx="3291840" cy="292608"/>
          </a:xfrm>
          <a:prstGeom prst="rect">
            <a:avLst/>
          </a:prstGeom>
          <a:noFill/>
        </p:spPr>
        <p:txBody>
          <a:bodyPr wrap="square" lIns="0" rIns="0" tIns="0" bIns="0" anchor="t">
            <a:spAutoFit/>
          </a:bodyPr>
          <a:lstStyle/>
          <a:p>
            <a:pPr algn="l"/>
            <a:r>
              <a:rPr sz="1200" b="1" i="0">
                <a:solidFill>
                  <a:srgbClr val="1E3A5F"/>
                </a:solidFill>
                <a:latin typeface="Calibri"/>
              </a:rPr>
              <a:t>Batch size</a:t>
            </a:r>
          </a:p>
        </p:txBody>
      </p:sp>
      <p:sp>
        <p:nvSpPr>
          <p:cNvPr id="23" name="TextBox 22"/>
          <p:cNvSpPr txBox="1"/>
          <p:nvPr/>
        </p:nvSpPr>
        <p:spPr>
          <a:xfrm>
            <a:off x="4023360" y="3694176"/>
            <a:ext cx="3840480" cy="292608"/>
          </a:xfrm>
          <a:prstGeom prst="rect">
            <a:avLst/>
          </a:prstGeom>
          <a:noFill/>
        </p:spPr>
        <p:txBody>
          <a:bodyPr wrap="square" lIns="0" rIns="0" tIns="0" bIns="0" anchor="t">
            <a:spAutoFit/>
          </a:bodyPr>
          <a:lstStyle/>
          <a:p>
            <a:pPr algn="l"/>
            <a:r>
              <a:rPr sz="1150" b="0" i="0">
                <a:solidFill>
                  <a:srgbClr val="1E293B"/>
                </a:solidFill>
                <a:latin typeface="Consolas"/>
              </a:rPr>
              <a:t>4  (8 with grad accumulation)</a:t>
            </a:r>
          </a:p>
        </p:txBody>
      </p:sp>
      <p:sp>
        <p:nvSpPr>
          <p:cNvPr id="24" name="Rectangle 23"/>
          <p:cNvSpPr/>
          <p:nvPr/>
        </p:nvSpPr>
        <p:spPr>
          <a:xfrm>
            <a:off x="457200" y="4041648"/>
            <a:ext cx="7498079" cy="438912"/>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133087"/>
            <a:ext cx="3291840" cy="292608"/>
          </a:xfrm>
          <a:prstGeom prst="rect">
            <a:avLst/>
          </a:prstGeom>
          <a:noFill/>
        </p:spPr>
        <p:txBody>
          <a:bodyPr wrap="square" lIns="0" rIns="0" tIns="0" bIns="0" anchor="t">
            <a:spAutoFit/>
          </a:bodyPr>
          <a:lstStyle/>
          <a:p>
            <a:pPr algn="l"/>
            <a:r>
              <a:rPr sz="1200" b="1" i="0">
                <a:solidFill>
                  <a:srgbClr val="1E3A5F"/>
                </a:solidFill>
                <a:latin typeface="Calibri"/>
              </a:rPr>
              <a:t>Optimizer</a:t>
            </a:r>
          </a:p>
        </p:txBody>
      </p:sp>
      <p:sp>
        <p:nvSpPr>
          <p:cNvPr id="26" name="TextBox 25"/>
          <p:cNvSpPr txBox="1"/>
          <p:nvPr/>
        </p:nvSpPr>
        <p:spPr>
          <a:xfrm>
            <a:off x="4023360" y="4133087"/>
            <a:ext cx="3840480" cy="292608"/>
          </a:xfrm>
          <a:prstGeom prst="rect">
            <a:avLst/>
          </a:prstGeom>
          <a:noFill/>
        </p:spPr>
        <p:txBody>
          <a:bodyPr wrap="square" lIns="0" rIns="0" tIns="0" bIns="0" anchor="t">
            <a:spAutoFit/>
          </a:bodyPr>
          <a:lstStyle/>
          <a:p>
            <a:pPr algn="l"/>
            <a:r>
              <a:rPr sz="1150" b="0" i="0">
                <a:solidFill>
                  <a:srgbClr val="1E293B"/>
                </a:solidFill>
                <a:latin typeface="Consolas"/>
              </a:rPr>
              <a:t>AdamW,  lr = 1e-4,  wd = 1e-5</a:t>
            </a:r>
          </a:p>
        </p:txBody>
      </p:sp>
      <p:sp>
        <p:nvSpPr>
          <p:cNvPr id="27" name="Rectangle 26"/>
          <p:cNvSpPr/>
          <p:nvPr/>
        </p:nvSpPr>
        <p:spPr>
          <a:xfrm>
            <a:off x="457200" y="4480560"/>
            <a:ext cx="7498079"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4572000"/>
            <a:ext cx="3291840" cy="292608"/>
          </a:xfrm>
          <a:prstGeom prst="rect">
            <a:avLst/>
          </a:prstGeom>
          <a:noFill/>
        </p:spPr>
        <p:txBody>
          <a:bodyPr wrap="square" lIns="0" rIns="0" tIns="0" bIns="0" anchor="t">
            <a:spAutoFit/>
          </a:bodyPr>
          <a:lstStyle/>
          <a:p>
            <a:pPr algn="l"/>
            <a:r>
              <a:rPr sz="1200" b="1" i="0">
                <a:solidFill>
                  <a:srgbClr val="1E3A5F"/>
                </a:solidFill>
                <a:latin typeface="Calibri"/>
              </a:rPr>
              <a:t>Schedule</a:t>
            </a:r>
          </a:p>
        </p:txBody>
      </p:sp>
      <p:sp>
        <p:nvSpPr>
          <p:cNvPr id="29" name="TextBox 28"/>
          <p:cNvSpPr txBox="1"/>
          <p:nvPr/>
        </p:nvSpPr>
        <p:spPr>
          <a:xfrm>
            <a:off x="4023360" y="4572000"/>
            <a:ext cx="3840480" cy="292608"/>
          </a:xfrm>
          <a:prstGeom prst="rect">
            <a:avLst/>
          </a:prstGeom>
          <a:noFill/>
        </p:spPr>
        <p:txBody>
          <a:bodyPr wrap="square" lIns="0" rIns="0" tIns="0" bIns="0" anchor="t">
            <a:spAutoFit/>
          </a:bodyPr>
          <a:lstStyle/>
          <a:p>
            <a:pPr algn="l"/>
            <a:r>
              <a:rPr sz="1150" b="0" i="0">
                <a:solidFill>
                  <a:srgbClr val="1E293B"/>
                </a:solidFill>
                <a:latin typeface="Consolas"/>
              </a:rPr>
              <a:t>Cosine,  200 epochs,  patience 30</a:t>
            </a:r>
          </a:p>
        </p:txBody>
      </p:sp>
      <p:sp>
        <p:nvSpPr>
          <p:cNvPr id="30" name="Rectangle 29"/>
          <p:cNvSpPr/>
          <p:nvPr/>
        </p:nvSpPr>
        <p:spPr>
          <a:xfrm>
            <a:off x="457200" y="4919472"/>
            <a:ext cx="7498079" cy="438912"/>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5010912"/>
            <a:ext cx="3291840" cy="292608"/>
          </a:xfrm>
          <a:prstGeom prst="rect">
            <a:avLst/>
          </a:prstGeom>
          <a:noFill/>
        </p:spPr>
        <p:txBody>
          <a:bodyPr wrap="square" lIns="0" rIns="0" tIns="0" bIns="0" anchor="t">
            <a:spAutoFit/>
          </a:bodyPr>
          <a:lstStyle/>
          <a:p>
            <a:pPr algn="l"/>
            <a:r>
              <a:rPr sz="1200" b="1" i="0">
                <a:solidFill>
                  <a:srgbClr val="1E3A5F"/>
                </a:solidFill>
                <a:latin typeface="Calibri"/>
              </a:rPr>
              <a:t>Loss</a:t>
            </a:r>
          </a:p>
        </p:txBody>
      </p:sp>
      <p:sp>
        <p:nvSpPr>
          <p:cNvPr id="32" name="TextBox 31"/>
          <p:cNvSpPr txBox="1"/>
          <p:nvPr/>
        </p:nvSpPr>
        <p:spPr>
          <a:xfrm>
            <a:off x="4023360" y="5010912"/>
            <a:ext cx="3840480" cy="292608"/>
          </a:xfrm>
          <a:prstGeom prst="rect">
            <a:avLst/>
          </a:prstGeom>
          <a:noFill/>
        </p:spPr>
        <p:txBody>
          <a:bodyPr wrap="square" lIns="0" rIns="0" tIns="0" bIns="0" anchor="t">
            <a:spAutoFit/>
          </a:bodyPr>
          <a:lstStyle/>
          <a:p>
            <a:pPr algn="l"/>
            <a:r>
              <a:rPr sz="1150" b="0" i="0">
                <a:solidFill>
                  <a:srgbClr val="1E293B"/>
                </a:solidFill>
                <a:latin typeface="Consolas"/>
              </a:rPr>
              <a:t>CrossEntropy + oversampling</a:t>
            </a:r>
          </a:p>
        </p:txBody>
      </p:sp>
      <p:sp>
        <p:nvSpPr>
          <p:cNvPr id="33" name="Rectangle 32"/>
          <p:cNvSpPr/>
          <p:nvPr/>
        </p:nvSpPr>
        <p:spPr>
          <a:xfrm>
            <a:off x="457200" y="5358383"/>
            <a:ext cx="7498079"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449823"/>
            <a:ext cx="3291840" cy="292608"/>
          </a:xfrm>
          <a:prstGeom prst="rect">
            <a:avLst/>
          </a:prstGeom>
          <a:noFill/>
        </p:spPr>
        <p:txBody>
          <a:bodyPr wrap="square" lIns="0" rIns="0" tIns="0" bIns="0" anchor="t">
            <a:spAutoFit/>
          </a:bodyPr>
          <a:lstStyle/>
          <a:p>
            <a:pPr algn="l"/>
            <a:r>
              <a:rPr sz="1200" b="1" i="0">
                <a:solidFill>
                  <a:srgbClr val="1E3A5F"/>
                </a:solidFill>
                <a:latin typeface="Calibri"/>
              </a:rPr>
              <a:t>Evaluation</a:t>
            </a:r>
          </a:p>
        </p:txBody>
      </p:sp>
      <p:sp>
        <p:nvSpPr>
          <p:cNvPr id="35" name="TextBox 34"/>
          <p:cNvSpPr txBox="1"/>
          <p:nvPr/>
        </p:nvSpPr>
        <p:spPr>
          <a:xfrm>
            <a:off x="4023360" y="5449823"/>
            <a:ext cx="3840480" cy="292608"/>
          </a:xfrm>
          <a:prstGeom prst="rect">
            <a:avLst/>
          </a:prstGeom>
          <a:noFill/>
        </p:spPr>
        <p:txBody>
          <a:bodyPr wrap="square" lIns="0" rIns="0" tIns="0" bIns="0" anchor="t">
            <a:spAutoFit/>
          </a:bodyPr>
          <a:lstStyle/>
          <a:p>
            <a:pPr algn="l"/>
            <a:r>
              <a:rPr sz="1150" b="0" i="0">
                <a:solidFill>
                  <a:srgbClr val="1E293B"/>
                </a:solidFill>
                <a:latin typeface="Consolas"/>
              </a:rPr>
              <a:t>AUC · Sens@90Spec · Spec@90Sens</a:t>
            </a:r>
          </a:p>
        </p:txBody>
      </p:sp>
      <p:sp>
        <p:nvSpPr>
          <p:cNvPr id="36" name="Rectangle 35"/>
          <p:cNvSpPr/>
          <p:nvPr/>
        </p:nvSpPr>
        <p:spPr>
          <a:xfrm>
            <a:off x="457200" y="5797296"/>
            <a:ext cx="7498079" cy="438912"/>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5888736"/>
            <a:ext cx="3291840" cy="292608"/>
          </a:xfrm>
          <a:prstGeom prst="rect">
            <a:avLst/>
          </a:prstGeom>
          <a:noFill/>
        </p:spPr>
        <p:txBody>
          <a:bodyPr wrap="square" lIns="0" rIns="0" tIns="0" bIns="0" anchor="t">
            <a:spAutoFit/>
          </a:bodyPr>
          <a:lstStyle/>
          <a:p>
            <a:pPr algn="l"/>
            <a:r>
              <a:rPr sz="1200" b="1" i="0">
                <a:solidFill>
                  <a:srgbClr val="1E3A5F"/>
                </a:solidFill>
                <a:latin typeface="Calibri"/>
              </a:rPr>
              <a:t>Reproducibility</a:t>
            </a:r>
          </a:p>
        </p:txBody>
      </p:sp>
      <p:sp>
        <p:nvSpPr>
          <p:cNvPr id="38" name="TextBox 37"/>
          <p:cNvSpPr txBox="1"/>
          <p:nvPr/>
        </p:nvSpPr>
        <p:spPr>
          <a:xfrm>
            <a:off x="4023360" y="5888736"/>
            <a:ext cx="3840480" cy="292608"/>
          </a:xfrm>
          <a:prstGeom prst="rect">
            <a:avLst/>
          </a:prstGeom>
          <a:noFill/>
        </p:spPr>
        <p:txBody>
          <a:bodyPr wrap="square" lIns="0" rIns="0" tIns="0" bIns="0" anchor="t">
            <a:spAutoFit/>
          </a:bodyPr>
          <a:lstStyle/>
          <a:p>
            <a:pPr algn="l"/>
            <a:r>
              <a:rPr sz="1150" b="0" i="0">
                <a:solidFill>
                  <a:srgbClr val="1E293B"/>
                </a:solidFill>
                <a:latin typeface="Consolas"/>
              </a:rPr>
              <a:t>Seeds 42, 123, 456 — 123 = best</a:t>
            </a:r>
          </a:p>
        </p:txBody>
      </p:sp>
      <p:sp>
        <p:nvSpPr>
          <p:cNvPr id="39" name="Rectangle 38"/>
          <p:cNvSpPr/>
          <p:nvPr/>
        </p:nvSpPr>
        <p:spPr>
          <a:xfrm>
            <a:off x="8229600" y="1828800"/>
            <a:ext cx="3474720" cy="4389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229600" y="1828800"/>
            <a:ext cx="73152" cy="43891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12480" y="2011680"/>
            <a:ext cx="3200400" cy="365760"/>
          </a:xfrm>
          <a:prstGeom prst="rect">
            <a:avLst/>
          </a:prstGeom>
          <a:noFill/>
        </p:spPr>
        <p:txBody>
          <a:bodyPr wrap="square" lIns="0" rIns="0" tIns="0" bIns="0" anchor="t">
            <a:spAutoFit/>
          </a:bodyPr>
          <a:lstStyle/>
          <a:p>
            <a:pPr algn="l"/>
            <a:r>
              <a:rPr sz="1100" b="1" i="0">
                <a:solidFill>
                  <a:srgbClr val="D97706"/>
                </a:solidFill>
                <a:latin typeface="Calibri"/>
              </a:rPr>
              <a:t>TRAINING COST</a:t>
            </a:r>
          </a:p>
        </p:txBody>
      </p:sp>
      <p:sp>
        <p:nvSpPr>
          <p:cNvPr id="42" name="TextBox 41"/>
          <p:cNvSpPr txBox="1"/>
          <p:nvPr/>
        </p:nvSpPr>
        <p:spPr>
          <a:xfrm>
            <a:off x="8229600" y="2377440"/>
            <a:ext cx="3474720" cy="914400"/>
          </a:xfrm>
          <a:prstGeom prst="rect">
            <a:avLst/>
          </a:prstGeom>
          <a:noFill/>
        </p:spPr>
        <p:txBody>
          <a:bodyPr wrap="square" lIns="0" rIns="0" tIns="0" bIns="0" anchor="t">
            <a:spAutoFit/>
          </a:bodyPr>
          <a:lstStyle/>
          <a:p>
            <a:pPr algn="ctr"/>
            <a:r>
              <a:rPr sz="4800" b="1" i="0">
                <a:solidFill>
                  <a:srgbClr val="1E3A5F"/>
                </a:solidFill>
                <a:latin typeface="Calibri"/>
              </a:rPr>
              <a:t>~25</a:t>
            </a:r>
          </a:p>
        </p:txBody>
      </p:sp>
      <p:sp>
        <p:nvSpPr>
          <p:cNvPr id="43" name="TextBox 42"/>
          <p:cNvSpPr txBox="1"/>
          <p:nvPr/>
        </p:nvSpPr>
        <p:spPr>
          <a:xfrm>
            <a:off x="8229600" y="3337560"/>
            <a:ext cx="3474720" cy="457200"/>
          </a:xfrm>
          <a:prstGeom prst="rect">
            <a:avLst/>
          </a:prstGeom>
          <a:noFill/>
        </p:spPr>
        <p:txBody>
          <a:bodyPr wrap="square" lIns="0" rIns="0" tIns="0" bIns="0" anchor="t">
            <a:spAutoFit/>
          </a:bodyPr>
          <a:lstStyle/>
          <a:p>
            <a:pPr algn="ctr"/>
            <a:r>
              <a:rPr sz="1200" b="0" i="0">
                <a:solidFill>
                  <a:srgbClr val="64748B"/>
                </a:solidFill>
                <a:latin typeface="Calibri"/>
              </a:rPr>
              <a:t>model versions trained</a:t>
            </a:r>
          </a:p>
        </p:txBody>
      </p:sp>
      <p:sp>
        <p:nvSpPr>
          <p:cNvPr id="44" name="TextBox 43"/>
          <p:cNvSpPr txBox="1"/>
          <p:nvPr/>
        </p:nvSpPr>
        <p:spPr>
          <a:xfrm>
            <a:off x="8229600" y="3657600"/>
            <a:ext cx="3474720" cy="914400"/>
          </a:xfrm>
          <a:prstGeom prst="rect">
            <a:avLst/>
          </a:prstGeom>
          <a:noFill/>
        </p:spPr>
        <p:txBody>
          <a:bodyPr wrap="square" lIns="0" rIns="0" tIns="0" bIns="0" anchor="t">
            <a:spAutoFit/>
          </a:bodyPr>
          <a:lstStyle/>
          <a:p>
            <a:pPr algn="ctr"/>
            <a:r>
              <a:rPr sz="4800" b="1" i="0">
                <a:solidFill>
                  <a:srgbClr val="0D9488"/>
                </a:solidFill>
                <a:latin typeface="Calibri"/>
              </a:rPr>
              <a:t>~30 kWh</a:t>
            </a:r>
          </a:p>
        </p:txBody>
      </p:sp>
      <p:sp>
        <p:nvSpPr>
          <p:cNvPr id="45" name="TextBox 44"/>
          <p:cNvSpPr txBox="1"/>
          <p:nvPr/>
        </p:nvSpPr>
        <p:spPr>
          <a:xfrm>
            <a:off x="8229600" y="4617720"/>
            <a:ext cx="3474720" cy="457200"/>
          </a:xfrm>
          <a:prstGeom prst="rect">
            <a:avLst/>
          </a:prstGeom>
          <a:noFill/>
        </p:spPr>
        <p:txBody>
          <a:bodyPr wrap="square" lIns="0" rIns="0" tIns="0" bIns="0" anchor="t">
            <a:spAutoFit/>
          </a:bodyPr>
          <a:lstStyle/>
          <a:p>
            <a:pPr algn="ctr"/>
            <a:r>
              <a:rPr sz="1200" b="0" i="0">
                <a:solidFill>
                  <a:srgbClr val="64748B"/>
                </a:solidFill>
                <a:latin typeface="Calibri"/>
              </a:rPr>
              <a:t>total GPU compute</a:t>
            </a:r>
          </a:p>
        </p:txBody>
      </p:sp>
      <p:sp>
        <p:nvSpPr>
          <p:cNvPr id="46" name="TextBox 45"/>
          <p:cNvSpPr txBox="1"/>
          <p:nvPr/>
        </p:nvSpPr>
        <p:spPr>
          <a:xfrm>
            <a:off x="8229600" y="4937760"/>
            <a:ext cx="3474720" cy="914400"/>
          </a:xfrm>
          <a:prstGeom prst="rect">
            <a:avLst/>
          </a:prstGeom>
          <a:noFill/>
        </p:spPr>
        <p:txBody>
          <a:bodyPr wrap="square" lIns="0" rIns="0" tIns="0" bIns="0" anchor="t">
            <a:spAutoFit/>
          </a:bodyPr>
          <a:lstStyle/>
          <a:p>
            <a:pPr algn="ctr"/>
            <a:r>
              <a:rPr sz="4800" b="1" i="0">
                <a:solidFill>
                  <a:srgbClr val="D97706"/>
                </a:solidFill>
                <a:latin typeface="Calibri"/>
              </a:rPr>
              <a:t>~100 h</a:t>
            </a:r>
          </a:p>
        </p:txBody>
      </p:sp>
      <p:sp>
        <p:nvSpPr>
          <p:cNvPr id="47" name="TextBox 46"/>
          <p:cNvSpPr txBox="1"/>
          <p:nvPr/>
        </p:nvSpPr>
        <p:spPr>
          <a:xfrm>
            <a:off x="8229600" y="5897880"/>
            <a:ext cx="3474720" cy="457200"/>
          </a:xfrm>
          <a:prstGeom prst="rect">
            <a:avLst/>
          </a:prstGeom>
          <a:noFill/>
        </p:spPr>
        <p:txBody>
          <a:bodyPr wrap="square" lIns="0" rIns="0" tIns="0" bIns="0" anchor="t">
            <a:spAutoFit/>
          </a:bodyPr>
          <a:lstStyle/>
          <a:p>
            <a:pPr algn="ctr"/>
            <a:r>
              <a:rPr sz="1200" b="0" i="0">
                <a:solidFill>
                  <a:srgbClr val="64748B"/>
                </a:solidFill>
                <a:latin typeface="Calibri"/>
              </a:rPr>
              <a:t>A100 wall-clock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0" y="292608"/>
            <a:ext cx="4206240" cy="320040"/>
          </a:xfrm>
          <a:prstGeom prst="rect">
            <a:avLst/>
          </a:prstGeom>
          <a:noFill/>
        </p:spPr>
        <p:txBody>
          <a:bodyPr wrap="square" lIns="0" rIns="0" tIns="0" bIns="0" anchor="t">
            <a:spAutoFit/>
          </a:bodyPr>
          <a:lstStyle/>
          <a:p>
            <a:pPr algn="r"/>
            <a:r>
              <a:rPr sz="1000" b="1" i="0">
                <a:solidFill>
                  <a:srgbClr val="0D9488"/>
                </a:solidFill>
                <a:latin typeface="Calibri"/>
              </a:rPr>
              <a:t>DEVELOPMENT</a:t>
            </a:r>
          </a:p>
        </p:txBody>
      </p:sp>
      <p:sp>
        <p:nvSpPr>
          <p:cNvPr id="4" name="Rectangle 3"/>
          <p:cNvSpPr/>
          <p:nvPr/>
        </p:nvSpPr>
        <p:spPr>
          <a:xfrm>
            <a:off x="457200" y="6510528"/>
            <a:ext cx="1127729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65392"/>
            <a:ext cx="9144000" cy="228600"/>
          </a:xfrm>
          <a:prstGeom prst="rect">
            <a:avLst/>
          </a:prstGeom>
          <a:noFill/>
        </p:spPr>
        <p:txBody>
          <a:bodyPr wrap="square" lIns="0" rIns="0" tIns="0" bIns="0" anchor="t">
            <a:spAutoFit/>
          </a:bodyPr>
          <a:lstStyle/>
          <a:p>
            <a:pPr algn="l"/>
            <a:r>
              <a:rPr sz="900" b="0" i="0">
                <a:solidFill>
                  <a:srgbClr val="64748B"/>
                </a:solidFill>
                <a:latin typeface="Calibri"/>
              </a:rPr>
              <a:t>Breast MRI Classification  •  ODELIA 2025  •  TDT4265</a:t>
            </a:r>
          </a:p>
        </p:txBody>
      </p:sp>
      <p:sp>
        <p:nvSpPr>
          <p:cNvPr id="6" name="TextBox 5"/>
          <p:cNvSpPr txBox="1"/>
          <p:nvPr/>
        </p:nvSpPr>
        <p:spPr>
          <a:xfrm>
            <a:off x="10515600" y="6565392"/>
            <a:ext cx="1188720" cy="228600"/>
          </a:xfrm>
          <a:prstGeom prst="rect">
            <a:avLst/>
          </a:prstGeom>
          <a:noFill/>
        </p:spPr>
        <p:txBody>
          <a:bodyPr wrap="square" lIns="0" rIns="0" tIns="0" bIns="0" anchor="t">
            <a:spAutoFit/>
          </a:bodyPr>
          <a:lstStyle/>
          <a:p>
            <a:pPr algn="r"/>
            <a:r>
              <a:rPr sz="900" b="1" i="0">
                <a:solidFill>
                  <a:srgbClr val="64748B"/>
                </a:solidFill>
                <a:latin typeface="Calibri"/>
              </a:rPr>
              <a:t>10 / 18</a:t>
            </a:r>
          </a:p>
        </p:txBody>
      </p:sp>
      <p:sp>
        <p:nvSpPr>
          <p:cNvPr id="7" name="TextBox 6"/>
          <p:cNvSpPr txBox="1"/>
          <p:nvPr/>
        </p:nvSpPr>
        <p:spPr>
          <a:xfrm>
            <a:off x="457200" y="502920"/>
            <a:ext cx="11247120" cy="731520"/>
          </a:xfrm>
          <a:prstGeom prst="rect">
            <a:avLst/>
          </a:prstGeom>
          <a:noFill/>
        </p:spPr>
        <p:txBody>
          <a:bodyPr wrap="square" lIns="0" rIns="0" tIns="0" bIns="0" anchor="t">
            <a:spAutoFit/>
          </a:bodyPr>
          <a:lstStyle/>
          <a:p>
            <a:pPr algn="l"/>
            <a:r>
              <a:rPr sz="3200" b="1" i="0">
                <a:solidFill>
                  <a:srgbClr val="1E3A5F"/>
                </a:solidFill>
                <a:latin typeface="Calibri"/>
              </a:rPr>
              <a:t>Development Journey — Phase 1–2</a:t>
            </a:r>
          </a:p>
        </p:txBody>
      </p:sp>
      <p:sp>
        <p:nvSpPr>
          <p:cNvPr id="8" name="TextBox 7"/>
          <p:cNvSpPr txBox="1"/>
          <p:nvPr/>
        </p:nvSpPr>
        <p:spPr>
          <a:xfrm>
            <a:off x="457200" y="1143000"/>
            <a:ext cx="11247120" cy="365760"/>
          </a:xfrm>
          <a:prstGeom prst="rect">
            <a:avLst/>
          </a:prstGeom>
          <a:noFill/>
        </p:spPr>
        <p:txBody>
          <a:bodyPr wrap="square" lIns="0" rIns="0" tIns="0" bIns="0" anchor="t">
            <a:spAutoFit/>
          </a:bodyPr>
          <a:lstStyle/>
          <a:p>
            <a:pPr algn="l"/>
            <a:r>
              <a:rPr sz="1500" b="0" i="1">
                <a:solidFill>
                  <a:srgbClr val="64748B"/>
                </a:solidFill>
                <a:latin typeface="Calibri"/>
              </a:rPr>
              <a:t>v1 → v8  ·  from overfit baseline to balanced clinical model  (0.117 → 0.374)</a:t>
            </a:r>
          </a:p>
        </p:txBody>
      </p:sp>
      <p:sp>
        <p:nvSpPr>
          <p:cNvPr id="9" name="Rectangle 8"/>
          <p:cNvSpPr/>
          <p:nvPr/>
        </p:nvSpPr>
        <p:spPr>
          <a:xfrm>
            <a:off x="457200" y="1828800"/>
            <a:ext cx="11277295" cy="10058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828800"/>
            <a:ext cx="73152"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965960"/>
            <a:ext cx="1005840" cy="731520"/>
          </a:xfrm>
          <a:prstGeom prst="rect">
            <a:avLst/>
          </a:prstGeom>
          <a:noFill/>
        </p:spPr>
        <p:txBody>
          <a:bodyPr wrap="square" lIns="0" rIns="0" tIns="0" bIns="0" anchor="t">
            <a:spAutoFit/>
          </a:bodyPr>
          <a:lstStyle/>
          <a:p>
            <a:pPr algn="l"/>
            <a:r>
              <a:rPr sz="2200" b="1" i="0">
                <a:solidFill>
                  <a:srgbClr val="1E3A5F"/>
                </a:solidFill>
                <a:latin typeface="Calibri"/>
              </a:rPr>
              <a:t>v1</a:t>
            </a:r>
          </a:p>
        </p:txBody>
      </p:sp>
      <p:sp>
        <p:nvSpPr>
          <p:cNvPr id="12" name="TextBox 11"/>
          <p:cNvSpPr txBox="1"/>
          <p:nvPr/>
        </p:nvSpPr>
        <p:spPr>
          <a:xfrm>
            <a:off x="1737360" y="1938528"/>
            <a:ext cx="5943600" cy="320040"/>
          </a:xfrm>
          <a:prstGeom prst="rect">
            <a:avLst/>
          </a:prstGeom>
          <a:noFill/>
        </p:spPr>
        <p:txBody>
          <a:bodyPr wrap="square" lIns="0" rIns="0" tIns="0" bIns="0" anchor="t">
            <a:spAutoFit/>
          </a:bodyPr>
          <a:lstStyle/>
          <a:p>
            <a:pPr algn="l"/>
            <a:r>
              <a:rPr sz="1300" b="1" i="0">
                <a:solidFill>
                  <a:srgbClr val="1E3A5F"/>
                </a:solidFill>
                <a:latin typeface="Calibri"/>
              </a:rPr>
              <a:t>Naive baseline</a:t>
            </a:r>
          </a:p>
        </p:txBody>
      </p:sp>
      <p:sp>
        <p:nvSpPr>
          <p:cNvPr id="13" name="TextBox 12"/>
          <p:cNvSpPr txBox="1"/>
          <p:nvPr/>
        </p:nvSpPr>
        <p:spPr>
          <a:xfrm>
            <a:off x="1737360" y="2240280"/>
            <a:ext cx="5943600" cy="274320"/>
          </a:xfrm>
          <a:prstGeom prst="rect">
            <a:avLst/>
          </a:prstGeom>
          <a:noFill/>
        </p:spPr>
        <p:txBody>
          <a:bodyPr wrap="square" lIns="0" rIns="0" tIns="0" bIns="0" anchor="t">
            <a:spAutoFit/>
          </a:bodyPr>
          <a:lstStyle/>
          <a:p>
            <a:pPr algn="l"/>
            <a:r>
              <a:rPr sz="1050" b="0" i="1">
                <a:solidFill>
                  <a:srgbClr val="64748B"/>
                </a:solidFill>
                <a:latin typeface="Calibri"/>
              </a:rPr>
              <a:t>DenseNet121, all channels, fold=0, 192 samples</a:t>
            </a:r>
          </a:p>
        </p:txBody>
      </p:sp>
      <p:sp>
        <p:nvSpPr>
          <p:cNvPr id="14" name="TextBox 13"/>
          <p:cNvSpPr txBox="1"/>
          <p:nvPr/>
        </p:nvSpPr>
        <p:spPr>
          <a:xfrm>
            <a:off x="1737360" y="2487168"/>
            <a:ext cx="5943600" cy="320040"/>
          </a:xfrm>
          <a:prstGeom prst="rect">
            <a:avLst/>
          </a:prstGeom>
          <a:noFill/>
        </p:spPr>
        <p:txBody>
          <a:bodyPr wrap="square" lIns="0" rIns="0" tIns="0" bIns="0" anchor="t">
            <a:spAutoFit/>
          </a:bodyPr>
          <a:lstStyle/>
          <a:p>
            <a:pPr algn="l"/>
            <a:r>
              <a:rPr sz="1100" b="0" i="0">
                <a:solidFill>
                  <a:srgbClr val="1E293B"/>
                </a:solidFill>
                <a:latin typeface="Calibri"/>
              </a:rPr>
              <a:t>Overfit at epoch 1 → need regularization or more data</a:t>
            </a:r>
          </a:p>
        </p:txBody>
      </p:sp>
      <p:sp>
        <p:nvSpPr>
          <p:cNvPr id="15" name="Rectangle 14"/>
          <p:cNvSpPr/>
          <p:nvPr/>
        </p:nvSpPr>
        <p:spPr>
          <a:xfrm>
            <a:off x="7955279" y="1993392"/>
            <a:ext cx="3657600" cy="685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79" y="2029968"/>
            <a:ext cx="3657600" cy="228600"/>
          </a:xfrm>
          <a:prstGeom prst="rect">
            <a:avLst/>
          </a:prstGeom>
          <a:noFill/>
        </p:spPr>
        <p:txBody>
          <a:bodyPr wrap="square" lIns="0" rIns="0" tIns="0" bIns="0" anchor="t">
            <a:spAutoFit/>
          </a:bodyPr>
          <a:lstStyle/>
          <a:p>
            <a:pPr algn="ctr"/>
            <a:r>
              <a:rPr sz="900" b="1" i="0">
                <a:solidFill>
                  <a:srgbClr val="64748B"/>
                </a:solidFill>
                <a:latin typeface="Calibri"/>
              </a:rPr>
              <a:t>LEADERBOARD</a:t>
            </a:r>
          </a:p>
        </p:txBody>
      </p:sp>
      <p:sp>
        <p:nvSpPr>
          <p:cNvPr id="17" name="TextBox 16"/>
          <p:cNvSpPr txBox="1"/>
          <p:nvPr/>
        </p:nvSpPr>
        <p:spPr>
          <a:xfrm>
            <a:off x="7955279" y="2240280"/>
            <a:ext cx="3657600" cy="365760"/>
          </a:xfrm>
          <a:prstGeom prst="rect">
            <a:avLst/>
          </a:prstGeom>
          <a:noFill/>
        </p:spPr>
        <p:txBody>
          <a:bodyPr wrap="square" lIns="0" rIns="0" tIns="0" bIns="0" anchor="t">
            <a:spAutoFit/>
          </a:bodyPr>
          <a:lstStyle/>
          <a:p>
            <a:pPr algn="ctr"/>
            <a:r>
              <a:rPr sz="2200" b="1" i="0">
                <a:solidFill>
                  <a:srgbClr val="64748B"/>
                </a:solidFill>
                <a:latin typeface="Calibri"/>
              </a:rPr>
              <a:t>—</a:t>
            </a:r>
          </a:p>
        </p:txBody>
      </p:sp>
      <p:sp>
        <p:nvSpPr>
          <p:cNvPr id="18" name="Rectangle 17"/>
          <p:cNvSpPr/>
          <p:nvPr/>
        </p:nvSpPr>
        <p:spPr>
          <a:xfrm>
            <a:off x="457200" y="2907792"/>
            <a:ext cx="11277295" cy="10058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907792"/>
            <a:ext cx="73152"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044952"/>
            <a:ext cx="1005840" cy="731520"/>
          </a:xfrm>
          <a:prstGeom prst="rect">
            <a:avLst/>
          </a:prstGeom>
          <a:noFill/>
        </p:spPr>
        <p:txBody>
          <a:bodyPr wrap="square" lIns="0" rIns="0" tIns="0" bIns="0" anchor="t">
            <a:spAutoFit/>
          </a:bodyPr>
          <a:lstStyle/>
          <a:p>
            <a:pPr algn="l"/>
            <a:r>
              <a:rPr sz="2200" b="1" i="0">
                <a:solidFill>
                  <a:srgbClr val="1E3A5F"/>
                </a:solidFill>
                <a:latin typeface="Calibri"/>
              </a:rPr>
              <a:t>v4</a:t>
            </a:r>
          </a:p>
        </p:txBody>
      </p:sp>
      <p:sp>
        <p:nvSpPr>
          <p:cNvPr id="21" name="TextBox 20"/>
          <p:cNvSpPr txBox="1"/>
          <p:nvPr/>
        </p:nvSpPr>
        <p:spPr>
          <a:xfrm>
            <a:off x="1737360" y="3017520"/>
            <a:ext cx="5943600" cy="320040"/>
          </a:xfrm>
          <a:prstGeom prst="rect">
            <a:avLst/>
          </a:prstGeom>
          <a:noFill/>
        </p:spPr>
        <p:txBody>
          <a:bodyPr wrap="square" lIns="0" rIns="0" tIns="0" bIns="0" anchor="t">
            <a:spAutoFit/>
          </a:bodyPr>
          <a:lstStyle/>
          <a:p>
            <a:pPr algn="l"/>
            <a:r>
              <a:rPr sz="1300" b="1" i="0">
                <a:solidFill>
                  <a:srgbClr val="1E3A5F"/>
                </a:solidFill>
                <a:latin typeface="Calibri"/>
              </a:rPr>
              <a:t>All folds + percentile norm</a:t>
            </a:r>
          </a:p>
        </p:txBody>
      </p:sp>
      <p:sp>
        <p:nvSpPr>
          <p:cNvPr id="22" name="TextBox 21"/>
          <p:cNvSpPr txBox="1"/>
          <p:nvPr/>
        </p:nvSpPr>
        <p:spPr>
          <a:xfrm>
            <a:off x="1737360" y="3319272"/>
            <a:ext cx="5943600" cy="274320"/>
          </a:xfrm>
          <a:prstGeom prst="rect">
            <a:avLst/>
          </a:prstGeom>
          <a:noFill/>
        </p:spPr>
        <p:txBody>
          <a:bodyPr wrap="square" lIns="0" rIns="0" tIns="0" bIns="0" anchor="t">
            <a:spAutoFit/>
          </a:bodyPr>
          <a:lstStyle/>
          <a:p>
            <a:pPr algn="l"/>
            <a:r>
              <a:rPr sz="1050" b="0" i="1">
                <a:solidFill>
                  <a:srgbClr val="64748B"/>
                </a:solidFill>
                <a:latin typeface="Calibri"/>
              </a:rPr>
              <a:t>1437 samples, ResNet18, stronger augmentation</a:t>
            </a:r>
          </a:p>
        </p:txBody>
      </p:sp>
      <p:sp>
        <p:nvSpPr>
          <p:cNvPr id="23" name="TextBox 22"/>
          <p:cNvSpPr txBox="1"/>
          <p:nvPr/>
        </p:nvSpPr>
        <p:spPr>
          <a:xfrm>
            <a:off x="1737360" y="3566160"/>
            <a:ext cx="5943600" cy="320040"/>
          </a:xfrm>
          <a:prstGeom prst="rect">
            <a:avLst/>
          </a:prstGeom>
          <a:noFill/>
        </p:spPr>
        <p:txBody>
          <a:bodyPr wrap="square" lIns="0" rIns="0" tIns="0" bIns="0" anchor="t">
            <a:spAutoFit/>
          </a:bodyPr>
          <a:lstStyle/>
          <a:p>
            <a:pPr algn="l"/>
            <a:r>
              <a:rPr sz="1100" b="0" i="0">
                <a:solidFill>
                  <a:srgbClr val="1E293B"/>
                </a:solidFill>
                <a:latin typeface="Calibri"/>
              </a:rPr>
              <a:t>Val AUROC 0.73 but leaderboard only 0.117 → domain shift discovered</a:t>
            </a:r>
          </a:p>
        </p:txBody>
      </p:sp>
      <p:sp>
        <p:nvSpPr>
          <p:cNvPr id="24" name="Rectangle 23"/>
          <p:cNvSpPr/>
          <p:nvPr/>
        </p:nvSpPr>
        <p:spPr>
          <a:xfrm>
            <a:off x="7955279" y="3072384"/>
            <a:ext cx="3657600" cy="685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79" y="3108960"/>
            <a:ext cx="3657600" cy="228600"/>
          </a:xfrm>
          <a:prstGeom prst="rect">
            <a:avLst/>
          </a:prstGeom>
          <a:noFill/>
        </p:spPr>
        <p:txBody>
          <a:bodyPr wrap="square" lIns="0" rIns="0" tIns="0" bIns="0" anchor="t">
            <a:spAutoFit/>
          </a:bodyPr>
          <a:lstStyle/>
          <a:p>
            <a:pPr algn="ctr"/>
            <a:r>
              <a:rPr sz="900" b="1" i="0">
                <a:solidFill>
                  <a:srgbClr val="64748B"/>
                </a:solidFill>
                <a:latin typeface="Calibri"/>
              </a:rPr>
              <a:t>LEADERBOARD</a:t>
            </a:r>
          </a:p>
        </p:txBody>
      </p:sp>
      <p:sp>
        <p:nvSpPr>
          <p:cNvPr id="26" name="TextBox 25"/>
          <p:cNvSpPr txBox="1"/>
          <p:nvPr/>
        </p:nvSpPr>
        <p:spPr>
          <a:xfrm>
            <a:off x="7955279" y="3319272"/>
            <a:ext cx="3657600" cy="365760"/>
          </a:xfrm>
          <a:prstGeom prst="rect">
            <a:avLst/>
          </a:prstGeom>
          <a:noFill/>
        </p:spPr>
        <p:txBody>
          <a:bodyPr wrap="square" lIns="0" rIns="0" tIns="0" bIns="0" anchor="t">
            <a:spAutoFit/>
          </a:bodyPr>
          <a:lstStyle/>
          <a:p>
            <a:pPr algn="ctr"/>
            <a:r>
              <a:rPr sz="2200" b="1" i="0">
                <a:solidFill>
                  <a:srgbClr val="D97706"/>
                </a:solidFill>
                <a:latin typeface="Calibri"/>
              </a:rPr>
              <a:t>0.298</a:t>
            </a:r>
          </a:p>
        </p:txBody>
      </p:sp>
      <p:sp>
        <p:nvSpPr>
          <p:cNvPr id="27" name="Rectangle 26"/>
          <p:cNvSpPr/>
          <p:nvPr/>
        </p:nvSpPr>
        <p:spPr>
          <a:xfrm>
            <a:off x="457200" y="3986784"/>
            <a:ext cx="11277295" cy="10058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986784"/>
            <a:ext cx="73152"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123944"/>
            <a:ext cx="1005840" cy="731520"/>
          </a:xfrm>
          <a:prstGeom prst="rect">
            <a:avLst/>
          </a:prstGeom>
          <a:noFill/>
        </p:spPr>
        <p:txBody>
          <a:bodyPr wrap="square" lIns="0" rIns="0" tIns="0" bIns="0" anchor="t">
            <a:spAutoFit/>
          </a:bodyPr>
          <a:lstStyle/>
          <a:p>
            <a:pPr algn="l"/>
            <a:r>
              <a:rPr sz="2200" b="1" i="0">
                <a:solidFill>
                  <a:srgbClr val="1E3A5F"/>
                </a:solidFill>
                <a:latin typeface="Calibri"/>
              </a:rPr>
              <a:t>v7</a:t>
            </a:r>
          </a:p>
        </p:txBody>
      </p:sp>
      <p:sp>
        <p:nvSpPr>
          <p:cNvPr id="30" name="TextBox 29"/>
          <p:cNvSpPr txBox="1"/>
          <p:nvPr/>
        </p:nvSpPr>
        <p:spPr>
          <a:xfrm>
            <a:off x="1737360" y="4096512"/>
            <a:ext cx="5943600" cy="320040"/>
          </a:xfrm>
          <a:prstGeom prst="rect">
            <a:avLst/>
          </a:prstGeom>
          <a:noFill/>
        </p:spPr>
        <p:txBody>
          <a:bodyPr wrap="square" lIns="0" rIns="0" tIns="0" bIns="0" anchor="t">
            <a:spAutoFit/>
          </a:bodyPr>
          <a:lstStyle/>
          <a:p>
            <a:pPr algn="l"/>
            <a:r>
              <a:rPr sz="1300" b="1" i="0">
                <a:solidFill>
                  <a:srgbClr val="1E3A5F"/>
                </a:solidFill>
                <a:latin typeface="Calibri"/>
              </a:rPr>
              <a:t>Sub_1 + T2 only</a:t>
            </a:r>
          </a:p>
        </p:txBody>
      </p:sp>
      <p:sp>
        <p:nvSpPr>
          <p:cNvPr id="31" name="TextBox 30"/>
          <p:cNvSpPr txBox="1"/>
          <p:nvPr/>
        </p:nvSpPr>
        <p:spPr>
          <a:xfrm>
            <a:off x="1737360" y="4398264"/>
            <a:ext cx="5943600" cy="274320"/>
          </a:xfrm>
          <a:prstGeom prst="rect">
            <a:avLst/>
          </a:prstGeom>
          <a:noFill/>
        </p:spPr>
        <p:txBody>
          <a:bodyPr wrap="square" lIns="0" rIns="0" tIns="0" bIns="0" anchor="t">
            <a:spAutoFit/>
          </a:bodyPr>
          <a:lstStyle/>
          <a:p>
            <a:pPr algn="l"/>
            <a:r>
              <a:rPr sz="1050" b="0" i="1">
                <a:solidFill>
                  <a:srgbClr val="64748B"/>
                </a:solidFill>
                <a:latin typeface="Calibri"/>
              </a:rPr>
              <a:t>Clinical-feature focus, aggressive class weights (0.47, 3.33, 1.69)</a:t>
            </a:r>
          </a:p>
        </p:txBody>
      </p:sp>
      <p:sp>
        <p:nvSpPr>
          <p:cNvPr id="32" name="TextBox 31"/>
          <p:cNvSpPr txBox="1"/>
          <p:nvPr/>
        </p:nvSpPr>
        <p:spPr>
          <a:xfrm>
            <a:off x="1737360" y="4645152"/>
            <a:ext cx="5943600" cy="320040"/>
          </a:xfrm>
          <a:prstGeom prst="rect">
            <a:avLst/>
          </a:prstGeom>
          <a:noFill/>
        </p:spPr>
        <p:txBody>
          <a:bodyPr wrap="square" lIns="0" rIns="0" tIns="0" bIns="0" anchor="t">
            <a:spAutoFit/>
          </a:bodyPr>
          <a:lstStyle/>
          <a:p>
            <a:pPr algn="l"/>
            <a:r>
              <a:rPr sz="1100" b="0" i="0">
                <a:solidFill>
                  <a:srgbClr val="1E293B"/>
                </a:solidFill>
                <a:latin typeface="Calibri"/>
              </a:rPr>
              <a:t>Model almost never predicts normal (3/327 correct) — weights too aggressive</a:t>
            </a:r>
          </a:p>
        </p:txBody>
      </p:sp>
      <p:sp>
        <p:nvSpPr>
          <p:cNvPr id="33" name="Rectangle 32"/>
          <p:cNvSpPr/>
          <p:nvPr/>
        </p:nvSpPr>
        <p:spPr>
          <a:xfrm>
            <a:off x="7955279" y="4151376"/>
            <a:ext cx="3657600" cy="685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55279" y="4187952"/>
            <a:ext cx="3657600" cy="228600"/>
          </a:xfrm>
          <a:prstGeom prst="rect">
            <a:avLst/>
          </a:prstGeom>
          <a:noFill/>
        </p:spPr>
        <p:txBody>
          <a:bodyPr wrap="square" lIns="0" rIns="0" tIns="0" bIns="0" anchor="t">
            <a:spAutoFit/>
          </a:bodyPr>
          <a:lstStyle/>
          <a:p>
            <a:pPr algn="ctr"/>
            <a:r>
              <a:rPr sz="900" b="1" i="0">
                <a:solidFill>
                  <a:srgbClr val="64748B"/>
                </a:solidFill>
                <a:latin typeface="Calibri"/>
              </a:rPr>
              <a:t>LEADERBOARD</a:t>
            </a:r>
          </a:p>
        </p:txBody>
      </p:sp>
      <p:sp>
        <p:nvSpPr>
          <p:cNvPr id="35" name="TextBox 34"/>
          <p:cNvSpPr txBox="1"/>
          <p:nvPr/>
        </p:nvSpPr>
        <p:spPr>
          <a:xfrm>
            <a:off x="7955279" y="4398264"/>
            <a:ext cx="3657600" cy="365760"/>
          </a:xfrm>
          <a:prstGeom prst="rect">
            <a:avLst/>
          </a:prstGeom>
          <a:noFill/>
        </p:spPr>
        <p:txBody>
          <a:bodyPr wrap="square" lIns="0" rIns="0" tIns="0" bIns="0" anchor="t">
            <a:spAutoFit/>
          </a:bodyPr>
          <a:lstStyle/>
          <a:p>
            <a:pPr algn="ctr"/>
            <a:r>
              <a:rPr sz="2200" b="1" i="0">
                <a:solidFill>
                  <a:srgbClr val="D97706"/>
                </a:solidFill>
                <a:latin typeface="Calibri"/>
              </a:rPr>
              <a:t>0.212</a:t>
            </a:r>
          </a:p>
        </p:txBody>
      </p:sp>
      <p:sp>
        <p:nvSpPr>
          <p:cNvPr id="36" name="Rectangle 35"/>
          <p:cNvSpPr/>
          <p:nvPr/>
        </p:nvSpPr>
        <p:spPr>
          <a:xfrm>
            <a:off x="457200" y="5065776"/>
            <a:ext cx="11277295" cy="10058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 y="5065776"/>
            <a:ext cx="73152" cy="10058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5202936"/>
            <a:ext cx="1005840" cy="731520"/>
          </a:xfrm>
          <a:prstGeom prst="rect">
            <a:avLst/>
          </a:prstGeom>
          <a:noFill/>
        </p:spPr>
        <p:txBody>
          <a:bodyPr wrap="square" lIns="0" rIns="0" tIns="0" bIns="0" anchor="t">
            <a:spAutoFit/>
          </a:bodyPr>
          <a:lstStyle/>
          <a:p>
            <a:pPr algn="l"/>
            <a:r>
              <a:rPr sz="2200" b="1" i="0">
                <a:solidFill>
                  <a:srgbClr val="1E3A5F"/>
                </a:solidFill>
                <a:latin typeface="Calibri"/>
              </a:rPr>
              <a:t>v8</a:t>
            </a:r>
          </a:p>
        </p:txBody>
      </p:sp>
      <p:sp>
        <p:nvSpPr>
          <p:cNvPr id="39" name="TextBox 38"/>
          <p:cNvSpPr txBox="1"/>
          <p:nvPr/>
        </p:nvSpPr>
        <p:spPr>
          <a:xfrm>
            <a:off x="1737360" y="5175504"/>
            <a:ext cx="5943600" cy="320040"/>
          </a:xfrm>
          <a:prstGeom prst="rect">
            <a:avLst/>
          </a:prstGeom>
          <a:noFill/>
        </p:spPr>
        <p:txBody>
          <a:bodyPr wrap="square" lIns="0" rIns="0" tIns="0" bIns="0" anchor="t">
            <a:spAutoFit/>
          </a:bodyPr>
          <a:lstStyle/>
          <a:p>
            <a:pPr algn="l"/>
            <a:r>
              <a:rPr sz="1300" b="1" i="0">
                <a:solidFill>
                  <a:srgbClr val="1E3A5F"/>
                </a:solidFill>
                <a:latin typeface="Calibri"/>
              </a:rPr>
              <a:t>Balanced class weights</a:t>
            </a:r>
          </a:p>
        </p:txBody>
      </p:sp>
      <p:sp>
        <p:nvSpPr>
          <p:cNvPr id="40" name="TextBox 39"/>
          <p:cNvSpPr txBox="1"/>
          <p:nvPr/>
        </p:nvSpPr>
        <p:spPr>
          <a:xfrm>
            <a:off x="1737360" y="5477256"/>
            <a:ext cx="5943600" cy="274320"/>
          </a:xfrm>
          <a:prstGeom prst="rect">
            <a:avLst/>
          </a:prstGeom>
          <a:noFill/>
        </p:spPr>
        <p:txBody>
          <a:bodyPr wrap="square" lIns="0" rIns="0" tIns="0" bIns="0" anchor="t">
            <a:spAutoFit/>
          </a:bodyPr>
          <a:lstStyle/>
          <a:p>
            <a:pPr algn="l"/>
            <a:r>
              <a:rPr sz="1050" b="0" i="1">
                <a:solidFill>
                  <a:srgbClr val="64748B"/>
                </a:solidFill>
                <a:latin typeface="Calibri"/>
              </a:rPr>
              <a:t>Pre + Sub_1 + T2, mild weights [1.0, 2.0, 1.5]</a:t>
            </a:r>
          </a:p>
        </p:txBody>
      </p:sp>
      <p:sp>
        <p:nvSpPr>
          <p:cNvPr id="41" name="TextBox 40"/>
          <p:cNvSpPr txBox="1"/>
          <p:nvPr/>
        </p:nvSpPr>
        <p:spPr>
          <a:xfrm>
            <a:off x="1737360" y="5724144"/>
            <a:ext cx="5943600" cy="320040"/>
          </a:xfrm>
          <a:prstGeom prst="rect">
            <a:avLst/>
          </a:prstGeom>
          <a:noFill/>
        </p:spPr>
        <p:txBody>
          <a:bodyPr wrap="square" lIns="0" rIns="0" tIns="0" bIns="0" anchor="t">
            <a:spAutoFit/>
          </a:bodyPr>
          <a:lstStyle/>
          <a:p>
            <a:pPr algn="l"/>
            <a:r>
              <a:rPr sz="1100" b="0" i="0">
                <a:solidFill>
                  <a:srgbClr val="1E293B"/>
                </a:solidFill>
                <a:latin typeface="Calibri"/>
              </a:rPr>
              <a:t>First good model: val 0.697, normal recall restored to 75%</a:t>
            </a:r>
          </a:p>
        </p:txBody>
      </p:sp>
      <p:sp>
        <p:nvSpPr>
          <p:cNvPr id="42" name="Rectangle 41"/>
          <p:cNvSpPr/>
          <p:nvPr/>
        </p:nvSpPr>
        <p:spPr>
          <a:xfrm>
            <a:off x="7955279" y="5230368"/>
            <a:ext cx="3657600" cy="685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55279" y="5266944"/>
            <a:ext cx="3657600" cy="228600"/>
          </a:xfrm>
          <a:prstGeom prst="rect">
            <a:avLst/>
          </a:prstGeom>
          <a:noFill/>
        </p:spPr>
        <p:txBody>
          <a:bodyPr wrap="square" lIns="0" rIns="0" tIns="0" bIns="0" anchor="t">
            <a:spAutoFit/>
          </a:bodyPr>
          <a:lstStyle/>
          <a:p>
            <a:pPr algn="ctr"/>
            <a:r>
              <a:rPr sz="900" b="1" i="0">
                <a:solidFill>
                  <a:srgbClr val="64748B"/>
                </a:solidFill>
                <a:latin typeface="Calibri"/>
              </a:rPr>
              <a:t>LEADERBOARD</a:t>
            </a:r>
          </a:p>
        </p:txBody>
      </p:sp>
      <p:sp>
        <p:nvSpPr>
          <p:cNvPr id="44" name="TextBox 43"/>
          <p:cNvSpPr txBox="1"/>
          <p:nvPr/>
        </p:nvSpPr>
        <p:spPr>
          <a:xfrm>
            <a:off x="7955279" y="5477256"/>
            <a:ext cx="3657600" cy="365760"/>
          </a:xfrm>
          <a:prstGeom prst="rect">
            <a:avLst/>
          </a:prstGeom>
          <a:noFill/>
        </p:spPr>
        <p:txBody>
          <a:bodyPr wrap="square" lIns="0" rIns="0" tIns="0" bIns="0" anchor="t">
            <a:spAutoFit/>
          </a:bodyPr>
          <a:lstStyle/>
          <a:p>
            <a:pPr algn="ctr"/>
            <a:r>
              <a:rPr sz="2200" b="1" i="0">
                <a:solidFill>
                  <a:srgbClr val="D97706"/>
                </a:solidFill>
                <a:latin typeface="Calibri"/>
              </a:rPr>
              <a:t>0.374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0" y="292608"/>
            <a:ext cx="4206240" cy="320040"/>
          </a:xfrm>
          <a:prstGeom prst="rect">
            <a:avLst/>
          </a:prstGeom>
          <a:noFill/>
        </p:spPr>
        <p:txBody>
          <a:bodyPr wrap="square" lIns="0" rIns="0" tIns="0" bIns="0" anchor="t">
            <a:spAutoFit/>
          </a:bodyPr>
          <a:lstStyle/>
          <a:p>
            <a:pPr algn="r"/>
            <a:r>
              <a:rPr sz="1000" b="1" i="0">
                <a:solidFill>
                  <a:srgbClr val="0D9488"/>
                </a:solidFill>
                <a:latin typeface="Calibri"/>
              </a:rPr>
              <a:t>DEVELOPMENT</a:t>
            </a:r>
          </a:p>
        </p:txBody>
      </p:sp>
      <p:sp>
        <p:nvSpPr>
          <p:cNvPr id="4" name="Rectangle 3"/>
          <p:cNvSpPr/>
          <p:nvPr/>
        </p:nvSpPr>
        <p:spPr>
          <a:xfrm>
            <a:off x="457200" y="6510528"/>
            <a:ext cx="1127729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65392"/>
            <a:ext cx="9144000" cy="228600"/>
          </a:xfrm>
          <a:prstGeom prst="rect">
            <a:avLst/>
          </a:prstGeom>
          <a:noFill/>
        </p:spPr>
        <p:txBody>
          <a:bodyPr wrap="square" lIns="0" rIns="0" tIns="0" bIns="0" anchor="t">
            <a:spAutoFit/>
          </a:bodyPr>
          <a:lstStyle/>
          <a:p>
            <a:pPr algn="l"/>
            <a:r>
              <a:rPr sz="900" b="0" i="0">
                <a:solidFill>
                  <a:srgbClr val="64748B"/>
                </a:solidFill>
                <a:latin typeface="Calibri"/>
              </a:rPr>
              <a:t>Breast MRI Classification  •  ODELIA 2025  •  TDT4265</a:t>
            </a:r>
          </a:p>
        </p:txBody>
      </p:sp>
      <p:sp>
        <p:nvSpPr>
          <p:cNvPr id="6" name="TextBox 5"/>
          <p:cNvSpPr txBox="1"/>
          <p:nvPr/>
        </p:nvSpPr>
        <p:spPr>
          <a:xfrm>
            <a:off x="10515600" y="6565392"/>
            <a:ext cx="1188720" cy="228600"/>
          </a:xfrm>
          <a:prstGeom prst="rect">
            <a:avLst/>
          </a:prstGeom>
          <a:noFill/>
        </p:spPr>
        <p:txBody>
          <a:bodyPr wrap="square" lIns="0" rIns="0" tIns="0" bIns="0" anchor="t">
            <a:spAutoFit/>
          </a:bodyPr>
          <a:lstStyle/>
          <a:p>
            <a:pPr algn="r"/>
            <a:r>
              <a:rPr sz="900" b="1" i="0">
                <a:solidFill>
                  <a:srgbClr val="64748B"/>
                </a:solidFill>
                <a:latin typeface="Calibri"/>
              </a:rPr>
              <a:t>11 / 18</a:t>
            </a:r>
          </a:p>
        </p:txBody>
      </p:sp>
      <p:sp>
        <p:nvSpPr>
          <p:cNvPr id="7" name="TextBox 6"/>
          <p:cNvSpPr txBox="1"/>
          <p:nvPr/>
        </p:nvSpPr>
        <p:spPr>
          <a:xfrm>
            <a:off x="457200" y="502920"/>
            <a:ext cx="11247120" cy="731520"/>
          </a:xfrm>
          <a:prstGeom prst="rect">
            <a:avLst/>
          </a:prstGeom>
          <a:noFill/>
        </p:spPr>
        <p:txBody>
          <a:bodyPr wrap="square" lIns="0" rIns="0" tIns="0" bIns="0" anchor="t">
            <a:spAutoFit/>
          </a:bodyPr>
          <a:lstStyle/>
          <a:p>
            <a:pPr algn="l"/>
            <a:r>
              <a:rPr sz="3200" b="1" i="0">
                <a:solidFill>
                  <a:srgbClr val="1E3A5F"/>
                </a:solidFill>
                <a:latin typeface="Calibri"/>
              </a:rPr>
              <a:t>Development Journey — Phase 3</a:t>
            </a:r>
          </a:p>
        </p:txBody>
      </p:sp>
      <p:sp>
        <p:nvSpPr>
          <p:cNvPr id="8" name="TextBox 7"/>
          <p:cNvSpPr txBox="1"/>
          <p:nvPr/>
        </p:nvSpPr>
        <p:spPr>
          <a:xfrm>
            <a:off x="457200" y="1143000"/>
            <a:ext cx="11247120" cy="365760"/>
          </a:xfrm>
          <a:prstGeom prst="rect">
            <a:avLst/>
          </a:prstGeom>
          <a:noFill/>
        </p:spPr>
        <p:txBody>
          <a:bodyPr wrap="square" lIns="0" rIns="0" tIns="0" bIns="0" anchor="t">
            <a:spAutoFit/>
          </a:bodyPr>
          <a:lstStyle/>
          <a:p>
            <a:pPr algn="l"/>
            <a:r>
              <a:rPr sz="1500" b="0" i="1">
                <a:solidFill>
                  <a:srgbClr val="64748B"/>
                </a:solidFill>
                <a:latin typeface="Calibri"/>
              </a:rPr>
              <a:t>v13 → v14  ·  matching the ODELIA baseline &amp; scaling up  (0.374 → 0.504)</a:t>
            </a:r>
          </a:p>
        </p:txBody>
      </p:sp>
      <p:sp>
        <p:nvSpPr>
          <p:cNvPr id="9" name="Rectangle 8"/>
          <p:cNvSpPr/>
          <p:nvPr/>
        </p:nvSpPr>
        <p:spPr>
          <a:xfrm>
            <a:off x="457200" y="1828800"/>
            <a:ext cx="11277295" cy="10058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828800"/>
            <a:ext cx="73152"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965960"/>
            <a:ext cx="1005840" cy="731520"/>
          </a:xfrm>
          <a:prstGeom prst="rect">
            <a:avLst/>
          </a:prstGeom>
          <a:noFill/>
        </p:spPr>
        <p:txBody>
          <a:bodyPr wrap="square" lIns="0" rIns="0" tIns="0" bIns="0" anchor="t">
            <a:spAutoFit/>
          </a:bodyPr>
          <a:lstStyle/>
          <a:p>
            <a:pPr algn="l"/>
            <a:r>
              <a:rPr sz="2200" b="1" i="0">
                <a:solidFill>
                  <a:srgbClr val="1E3A5F"/>
                </a:solidFill>
                <a:latin typeface="Calibri"/>
              </a:rPr>
              <a:t>v13</a:t>
            </a:r>
          </a:p>
        </p:txBody>
      </p:sp>
      <p:sp>
        <p:nvSpPr>
          <p:cNvPr id="12" name="TextBox 11"/>
          <p:cNvSpPr txBox="1"/>
          <p:nvPr/>
        </p:nvSpPr>
        <p:spPr>
          <a:xfrm>
            <a:off x="1737360" y="1938528"/>
            <a:ext cx="5943600" cy="320040"/>
          </a:xfrm>
          <a:prstGeom prst="rect">
            <a:avLst/>
          </a:prstGeom>
          <a:noFill/>
        </p:spPr>
        <p:txBody>
          <a:bodyPr wrap="square" lIns="0" rIns="0" tIns="0" bIns="0" anchor="t">
            <a:spAutoFit/>
          </a:bodyPr>
          <a:lstStyle/>
          <a:p>
            <a:pPr algn="l"/>
            <a:r>
              <a:rPr sz="1300" b="1" i="0">
                <a:solidFill>
                  <a:srgbClr val="1E3A5F"/>
                </a:solidFill>
                <a:latin typeface="Calibri"/>
              </a:rPr>
              <a:t>ODELIA baseline approach</a:t>
            </a:r>
          </a:p>
        </p:txBody>
      </p:sp>
      <p:sp>
        <p:nvSpPr>
          <p:cNvPr id="13" name="TextBox 12"/>
          <p:cNvSpPr txBox="1"/>
          <p:nvPr/>
        </p:nvSpPr>
        <p:spPr>
          <a:xfrm>
            <a:off x="1737360" y="2240280"/>
            <a:ext cx="5943600" cy="274320"/>
          </a:xfrm>
          <a:prstGeom prst="rect">
            <a:avLst/>
          </a:prstGeom>
          <a:noFill/>
        </p:spPr>
        <p:txBody>
          <a:bodyPr wrap="square" lIns="0" rIns="0" tIns="0" bIns="0" anchor="t">
            <a:spAutoFit/>
          </a:bodyPr>
          <a:lstStyle/>
          <a:p>
            <a:pPr algn="l"/>
            <a:r>
              <a:rPr sz="1050" b="0" i="1">
                <a:solidFill>
                  <a:srgbClr val="64748B"/>
                </a:solidFill>
                <a:latin typeface="Calibri"/>
              </a:rPr>
              <a:t>Sub_1 only, 224×224×32, oversampling, z-score norm, 200 epochs</a:t>
            </a:r>
          </a:p>
        </p:txBody>
      </p:sp>
      <p:sp>
        <p:nvSpPr>
          <p:cNvPr id="14" name="TextBox 13"/>
          <p:cNvSpPr txBox="1"/>
          <p:nvPr/>
        </p:nvSpPr>
        <p:spPr>
          <a:xfrm>
            <a:off x="1737360" y="2487168"/>
            <a:ext cx="5943600" cy="320040"/>
          </a:xfrm>
          <a:prstGeom prst="rect">
            <a:avLst/>
          </a:prstGeom>
          <a:noFill/>
        </p:spPr>
        <p:txBody>
          <a:bodyPr wrap="square" lIns="0" rIns="0" tIns="0" bIns="0" anchor="t">
            <a:spAutoFit/>
          </a:bodyPr>
          <a:lstStyle/>
          <a:p>
            <a:pPr algn="l"/>
            <a:r>
              <a:rPr sz="1100" b="0" i="0">
                <a:solidFill>
                  <a:srgbClr val="1E293B"/>
                </a:solidFill>
                <a:latin typeface="Calibri"/>
              </a:rPr>
              <a:t>Studied official organizer code → single channel + oversampling beats class weights</a:t>
            </a:r>
          </a:p>
        </p:txBody>
      </p:sp>
      <p:sp>
        <p:nvSpPr>
          <p:cNvPr id="15" name="Rectangle 14"/>
          <p:cNvSpPr/>
          <p:nvPr/>
        </p:nvSpPr>
        <p:spPr>
          <a:xfrm>
            <a:off x="7955279" y="1993392"/>
            <a:ext cx="3657600" cy="685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79" y="2029968"/>
            <a:ext cx="3657600" cy="228600"/>
          </a:xfrm>
          <a:prstGeom prst="rect">
            <a:avLst/>
          </a:prstGeom>
          <a:noFill/>
        </p:spPr>
        <p:txBody>
          <a:bodyPr wrap="square" lIns="0" rIns="0" tIns="0" bIns="0" anchor="t">
            <a:spAutoFit/>
          </a:bodyPr>
          <a:lstStyle/>
          <a:p>
            <a:pPr algn="ctr"/>
            <a:r>
              <a:rPr sz="900" b="1" i="0">
                <a:solidFill>
                  <a:srgbClr val="64748B"/>
                </a:solidFill>
                <a:latin typeface="Calibri"/>
              </a:rPr>
              <a:t>LEADERBOARD</a:t>
            </a:r>
          </a:p>
        </p:txBody>
      </p:sp>
      <p:sp>
        <p:nvSpPr>
          <p:cNvPr id="17" name="TextBox 16"/>
          <p:cNvSpPr txBox="1"/>
          <p:nvPr/>
        </p:nvSpPr>
        <p:spPr>
          <a:xfrm>
            <a:off x="7955279" y="2240280"/>
            <a:ext cx="3657600" cy="365760"/>
          </a:xfrm>
          <a:prstGeom prst="rect">
            <a:avLst/>
          </a:prstGeom>
          <a:noFill/>
        </p:spPr>
        <p:txBody>
          <a:bodyPr wrap="square" lIns="0" rIns="0" tIns="0" bIns="0" anchor="t">
            <a:spAutoFit/>
          </a:bodyPr>
          <a:lstStyle/>
          <a:p>
            <a:pPr algn="ctr"/>
            <a:r>
              <a:rPr sz="2200" b="1" i="0">
                <a:solidFill>
                  <a:srgbClr val="1E3A5F"/>
                </a:solidFill>
                <a:latin typeface="Calibri"/>
              </a:rPr>
              <a:t>0.429</a:t>
            </a:r>
          </a:p>
        </p:txBody>
      </p:sp>
      <p:sp>
        <p:nvSpPr>
          <p:cNvPr id="18" name="Rectangle 17"/>
          <p:cNvSpPr/>
          <p:nvPr/>
        </p:nvSpPr>
        <p:spPr>
          <a:xfrm>
            <a:off x="457200" y="2907792"/>
            <a:ext cx="11277295" cy="10058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907792"/>
            <a:ext cx="73152" cy="10058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044952"/>
            <a:ext cx="1005840" cy="731520"/>
          </a:xfrm>
          <a:prstGeom prst="rect">
            <a:avLst/>
          </a:prstGeom>
          <a:noFill/>
        </p:spPr>
        <p:txBody>
          <a:bodyPr wrap="square" lIns="0" rIns="0" tIns="0" bIns="0" anchor="t">
            <a:spAutoFit/>
          </a:bodyPr>
          <a:lstStyle/>
          <a:p>
            <a:pPr algn="l"/>
            <a:r>
              <a:rPr sz="2200" b="1" i="0">
                <a:solidFill>
                  <a:srgbClr val="1E3A5F"/>
                </a:solidFill>
                <a:latin typeface="Calibri"/>
              </a:rPr>
              <a:t>v13b</a:t>
            </a:r>
          </a:p>
        </p:txBody>
      </p:sp>
      <p:sp>
        <p:nvSpPr>
          <p:cNvPr id="21" name="TextBox 20"/>
          <p:cNvSpPr txBox="1"/>
          <p:nvPr/>
        </p:nvSpPr>
        <p:spPr>
          <a:xfrm>
            <a:off x="1737360" y="3017520"/>
            <a:ext cx="5943600" cy="320040"/>
          </a:xfrm>
          <a:prstGeom prst="rect">
            <a:avLst/>
          </a:prstGeom>
          <a:noFill/>
        </p:spPr>
        <p:txBody>
          <a:bodyPr wrap="square" lIns="0" rIns="0" tIns="0" bIns="0" anchor="t">
            <a:spAutoFit/>
          </a:bodyPr>
          <a:lstStyle/>
          <a:p>
            <a:pPr algn="l"/>
            <a:r>
              <a:rPr sz="1300" b="1" i="0">
                <a:solidFill>
                  <a:srgbClr val="1E3A5F"/>
                </a:solidFill>
                <a:latin typeface="Calibri"/>
              </a:rPr>
              <a:t>Same model, seed = 123</a:t>
            </a:r>
          </a:p>
        </p:txBody>
      </p:sp>
      <p:sp>
        <p:nvSpPr>
          <p:cNvPr id="22" name="TextBox 21"/>
          <p:cNvSpPr txBox="1"/>
          <p:nvPr/>
        </p:nvSpPr>
        <p:spPr>
          <a:xfrm>
            <a:off x="1737360" y="3319272"/>
            <a:ext cx="5943600" cy="274320"/>
          </a:xfrm>
          <a:prstGeom prst="rect">
            <a:avLst/>
          </a:prstGeom>
          <a:noFill/>
        </p:spPr>
        <p:txBody>
          <a:bodyPr wrap="square" lIns="0" rIns="0" tIns="0" bIns="0" anchor="t">
            <a:spAutoFit/>
          </a:bodyPr>
          <a:lstStyle/>
          <a:p>
            <a:pPr algn="l"/>
            <a:r>
              <a:rPr sz="1050" b="0" i="1">
                <a:solidFill>
                  <a:srgbClr val="64748B"/>
                </a:solidFill>
                <a:latin typeface="Calibri"/>
              </a:rPr>
              <a:t>Identical config — only random seed changed (42 → 123)</a:t>
            </a:r>
          </a:p>
        </p:txBody>
      </p:sp>
      <p:sp>
        <p:nvSpPr>
          <p:cNvPr id="23" name="TextBox 22"/>
          <p:cNvSpPr txBox="1"/>
          <p:nvPr/>
        </p:nvSpPr>
        <p:spPr>
          <a:xfrm>
            <a:off x="1737360" y="3566160"/>
            <a:ext cx="5943600" cy="320040"/>
          </a:xfrm>
          <a:prstGeom prst="rect">
            <a:avLst/>
          </a:prstGeom>
          <a:noFill/>
        </p:spPr>
        <p:txBody>
          <a:bodyPr wrap="square" lIns="0" rIns="0" tIns="0" bIns="0" anchor="t">
            <a:spAutoFit/>
          </a:bodyPr>
          <a:lstStyle/>
          <a:p>
            <a:pPr algn="l"/>
            <a:r>
              <a:rPr sz="1100" b="0" i="0">
                <a:solidFill>
                  <a:srgbClr val="1E293B"/>
                </a:solidFill>
                <a:latin typeface="Calibri"/>
              </a:rPr>
              <a:t>Lucky seed effect: +0.072 leaderboard from initialization alone. First time over 0.5!</a:t>
            </a:r>
          </a:p>
        </p:txBody>
      </p:sp>
      <p:sp>
        <p:nvSpPr>
          <p:cNvPr id="24" name="Rectangle 23"/>
          <p:cNvSpPr/>
          <p:nvPr/>
        </p:nvSpPr>
        <p:spPr>
          <a:xfrm>
            <a:off x="7955279" y="3072384"/>
            <a:ext cx="3657600" cy="685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79" y="3108960"/>
            <a:ext cx="3657600" cy="228600"/>
          </a:xfrm>
          <a:prstGeom prst="rect">
            <a:avLst/>
          </a:prstGeom>
          <a:noFill/>
        </p:spPr>
        <p:txBody>
          <a:bodyPr wrap="square" lIns="0" rIns="0" tIns="0" bIns="0" anchor="t">
            <a:spAutoFit/>
          </a:bodyPr>
          <a:lstStyle/>
          <a:p>
            <a:pPr algn="ctr"/>
            <a:r>
              <a:rPr sz="900" b="1" i="0">
                <a:solidFill>
                  <a:srgbClr val="64748B"/>
                </a:solidFill>
                <a:latin typeface="Calibri"/>
              </a:rPr>
              <a:t>LEADERBOARD</a:t>
            </a:r>
          </a:p>
        </p:txBody>
      </p:sp>
      <p:sp>
        <p:nvSpPr>
          <p:cNvPr id="26" name="TextBox 25"/>
          <p:cNvSpPr txBox="1"/>
          <p:nvPr/>
        </p:nvSpPr>
        <p:spPr>
          <a:xfrm>
            <a:off x="7955279" y="3319272"/>
            <a:ext cx="3657600" cy="365760"/>
          </a:xfrm>
          <a:prstGeom prst="rect">
            <a:avLst/>
          </a:prstGeom>
          <a:noFill/>
        </p:spPr>
        <p:txBody>
          <a:bodyPr wrap="square" lIns="0" rIns="0" tIns="0" bIns="0" anchor="t">
            <a:spAutoFit/>
          </a:bodyPr>
          <a:lstStyle/>
          <a:p>
            <a:pPr algn="ctr"/>
            <a:r>
              <a:rPr sz="2200" b="1" i="0">
                <a:solidFill>
                  <a:srgbClr val="D97706"/>
                </a:solidFill>
                <a:latin typeface="Calibri"/>
              </a:rPr>
              <a:t>0.501</a:t>
            </a:r>
          </a:p>
        </p:txBody>
      </p:sp>
      <p:sp>
        <p:nvSpPr>
          <p:cNvPr id="27" name="Rectangle 26"/>
          <p:cNvSpPr/>
          <p:nvPr/>
        </p:nvSpPr>
        <p:spPr>
          <a:xfrm>
            <a:off x="457200" y="3986784"/>
            <a:ext cx="11277295" cy="10058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986784"/>
            <a:ext cx="73152" cy="10058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123944"/>
            <a:ext cx="1005840" cy="731520"/>
          </a:xfrm>
          <a:prstGeom prst="rect">
            <a:avLst/>
          </a:prstGeom>
          <a:noFill/>
        </p:spPr>
        <p:txBody>
          <a:bodyPr wrap="square" lIns="0" rIns="0" tIns="0" bIns="0" anchor="t">
            <a:spAutoFit/>
          </a:bodyPr>
          <a:lstStyle/>
          <a:p>
            <a:pPr algn="l"/>
            <a:r>
              <a:rPr sz="2200" b="1" i="0">
                <a:solidFill>
                  <a:srgbClr val="1E3A5F"/>
                </a:solidFill>
                <a:latin typeface="Calibri"/>
              </a:rPr>
              <a:t>v14</a:t>
            </a:r>
          </a:p>
        </p:txBody>
      </p:sp>
      <p:sp>
        <p:nvSpPr>
          <p:cNvPr id="30" name="TextBox 29"/>
          <p:cNvSpPr txBox="1"/>
          <p:nvPr/>
        </p:nvSpPr>
        <p:spPr>
          <a:xfrm>
            <a:off x="1737360" y="4096512"/>
            <a:ext cx="5943600" cy="320040"/>
          </a:xfrm>
          <a:prstGeom prst="rect">
            <a:avLst/>
          </a:prstGeom>
          <a:noFill/>
        </p:spPr>
        <p:txBody>
          <a:bodyPr wrap="square" lIns="0" rIns="0" tIns="0" bIns="0" anchor="t">
            <a:spAutoFit/>
          </a:bodyPr>
          <a:lstStyle/>
          <a:p>
            <a:pPr algn="l"/>
            <a:r>
              <a:rPr sz="1300" b="1" i="0">
                <a:solidFill>
                  <a:srgbClr val="1E3A5F"/>
                </a:solidFill>
                <a:latin typeface="Calibri"/>
              </a:rPr>
              <a:t>ResNet50 (46M params)</a:t>
            </a:r>
          </a:p>
        </p:txBody>
      </p:sp>
      <p:sp>
        <p:nvSpPr>
          <p:cNvPr id="31" name="TextBox 30"/>
          <p:cNvSpPr txBox="1"/>
          <p:nvPr/>
        </p:nvSpPr>
        <p:spPr>
          <a:xfrm>
            <a:off x="1737360" y="4398264"/>
            <a:ext cx="5943600" cy="274320"/>
          </a:xfrm>
          <a:prstGeom prst="rect">
            <a:avLst/>
          </a:prstGeom>
          <a:noFill/>
        </p:spPr>
        <p:txBody>
          <a:bodyPr wrap="square" lIns="0" rIns="0" tIns="0" bIns="0" anchor="t">
            <a:spAutoFit/>
          </a:bodyPr>
          <a:lstStyle/>
          <a:p>
            <a:pPr algn="l"/>
            <a:r>
              <a:rPr sz="1050" b="0" i="1">
                <a:solidFill>
                  <a:srgbClr val="64748B"/>
                </a:solidFill>
                <a:latin typeface="Calibri"/>
              </a:rPr>
              <a:t>v13 settings with deeper backbone — more capacity</a:t>
            </a:r>
          </a:p>
        </p:txBody>
      </p:sp>
      <p:sp>
        <p:nvSpPr>
          <p:cNvPr id="32" name="TextBox 31"/>
          <p:cNvSpPr txBox="1"/>
          <p:nvPr/>
        </p:nvSpPr>
        <p:spPr>
          <a:xfrm>
            <a:off x="1737360" y="4645152"/>
            <a:ext cx="5943600" cy="320040"/>
          </a:xfrm>
          <a:prstGeom prst="rect">
            <a:avLst/>
          </a:prstGeom>
          <a:noFill/>
        </p:spPr>
        <p:txBody>
          <a:bodyPr wrap="square" lIns="0" rIns="0" tIns="0" bIns="0" anchor="t">
            <a:spAutoFit/>
          </a:bodyPr>
          <a:lstStyle/>
          <a:p>
            <a:pPr algn="l"/>
            <a:r>
              <a:rPr sz="1100" b="0" i="0">
                <a:solidFill>
                  <a:srgbClr val="1E293B"/>
                </a:solidFill>
                <a:latin typeface="Calibri"/>
              </a:rPr>
              <a:t>Hit a plateau: 98% val accuracy but only 0.504 leaderboard — val ≠ generalization</a:t>
            </a:r>
          </a:p>
        </p:txBody>
      </p:sp>
      <p:sp>
        <p:nvSpPr>
          <p:cNvPr id="33" name="Rectangle 32"/>
          <p:cNvSpPr/>
          <p:nvPr/>
        </p:nvSpPr>
        <p:spPr>
          <a:xfrm>
            <a:off x="7955279" y="4151376"/>
            <a:ext cx="3657600" cy="685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55279" y="4187952"/>
            <a:ext cx="3657600" cy="228600"/>
          </a:xfrm>
          <a:prstGeom prst="rect">
            <a:avLst/>
          </a:prstGeom>
          <a:noFill/>
        </p:spPr>
        <p:txBody>
          <a:bodyPr wrap="square" lIns="0" rIns="0" tIns="0" bIns="0" anchor="t">
            <a:spAutoFit/>
          </a:bodyPr>
          <a:lstStyle/>
          <a:p>
            <a:pPr algn="ctr"/>
            <a:r>
              <a:rPr sz="900" b="1" i="0">
                <a:solidFill>
                  <a:srgbClr val="64748B"/>
                </a:solidFill>
                <a:latin typeface="Calibri"/>
              </a:rPr>
              <a:t>LEADERBOARD</a:t>
            </a:r>
          </a:p>
        </p:txBody>
      </p:sp>
      <p:sp>
        <p:nvSpPr>
          <p:cNvPr id="35" name="TextBox 34"/>
          <p:cNvSpPr txBox="1"/>
          <p:nvPr/>
        </p:nvSpPr>
        <p:spPr>
          <a:xfrm>
            <a:off x="7955279" y="4398264"/>
            <a:ext cx="3657600" cy="365760"/>
          </a:xfrm>
          <a:prstGeom prst="rect">
            <a:avLst/>
          </a:prstGeom>
          <a:noFill/>
        </p:spPr>
        <p:txBody>
          <a:bodyPr wrap="square" lIns="0" rIns="0" tIns="0" bIns="0" anchor="t">
            <a:spAutoFit/>
          </a:bodyPr>
          <a:lstStyle/>
          <a:p>
            <a:pPr algn="ctr"/>
            <a:r>
              <a:rPr sz="2200" b="1" i="0">
                <a:solidFill>
                  <a:srgbClr val="D97706"/>
                </a:solidFill>
                <a:latin typeface="Calibri"/>
              </a:rPr>
              <a:t>0.504</a:t>
            </a:r>
          </a:p>
        </p:txBody>
      </p:sp>
      <p:sp>
        <p:nvSpPr>
          <p:cNvPr id="36" name="Rectangle 35"/>
          <p:cNvSpPr/>
          <p:nvPr/>
        </p:nvSpPr>
        <p:spPr>
          <a:xfrm>
            <a:off x="457200" y="5065776"/>
            <a:ext cx="11277295" cy="10058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 y="5065776"/>
            <a:ext cx="73152" cy="1005840"/>
          </a:xfrm>
          <a:prstGeom prst="rect">
            <a:avLst/>
          </a:prstGeom>
          <a:solidFill>
            <a:srgbClr val="E4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5202936"/>
            <a:ext cx="1005840" cy="731520"/>
          </a:xfrm>
          <a:prstGeom prst="rect">
            <a:avLst/>
          </a:prstGeom>
          <a:noFill/>
        </p:spPr>
        <p:txBody>
          <a:bodyPr wrap="square" lIns="0" rIns="0" tIns="0" bIns="0" anchor="t">
            <a:spAutoFit/>
          </a:bodyPr>
          <a:lstStyle/>
          <a:p>
            <a:pPr algn="l"/>
            <a:r>
              <a:rPr sz="2200" b="1" i="0">
                <a:solidFill>
                  <a:srgbClr val="1E3A5F"/>
                </a:solidFill>
                <a:latin typeface="Calibri"/>
              </a:rPr>
              <a:t>v15</a:t>
            </a:r>
          </a:p>
        </p:txBody>
      </p:sp>
      <p:sp>
        <p:nvSpPr>
          <p:cNvPr id="39" name="TextBox 38"/>
          <p:cNvSpPr txBox="1"/>
          <p:nvPr/>
        </p:nvSpPr>
        <p:spPr>
          <a:xfrm>
            <a:off x="1737360" y="5175504"/>
            <a:ext cx="5943600" cy="320040"/>
          </a:xfrm>
          <a:prstGeom prst="rect">
            <a:avLst/>
          </a:prstGeom>
          <a:noFill/>
        </p:spPr>
        <p:txBody>
          <a:bodyPr wrap="square" lIns="0" rIns="0" tIns="0" bIns="0" anchor="t">
            <a:spAutoFit/>
          </a:bodyPr>
          <a:lstStyle/>
          <a:p>
            <a:pPr algn="l"/>
            <a:r>
              <a:rPr sz="1300" b="1" i="0">
                <a:solidFill>
                  <a:srgbClr val="1E3A5F"/>
                </a:solidFill>
                <a:latin typeface="Calibri"/>
              </a:rPr>
              <a:t>2D ImageNet pretrained</a:t>
            </a:r>
          </a:p>
        </p:txBody>
      </p:sp>
      <p:sp>
        <p:nvSpPr>
          <p:cNvPr id="40" name="TextBox 39"/>
          <p:cNvSpPr txBox="1"/>
          <p:nvPr/>
        </p:nvSpPr>
        <p:spPr>
          <a:xfrm>
            <a:off x="1737360" y="5477256"/>
            <a:ext cx="5943600" cy="274320"/>
          </a:xfrm>
          <a:prstGeom prst="rect">
            <a:avLst/>
          </a:prstGeom>
          <a:noFill/>
        </p:spPr>
        <p:txBody>
          <a:bodyPr wrap="square" lIns="0" rIns="0" tIns="0" bIns="0" anchor="t">
            <a:spAutoFit/>
          </a:bodyPr>
          <a:lstStyle/>
          <a:p>
            <a:pPr algn="l"/>
            <a:r>
              <a:rPr sz="1050" b="0" i="1">
                <a:solidFill>
                  <a:srgbClr val="64748B"/>
                </a:solidFill>
                <a:latin typeface="Calibri"/>
              </a:rPr>
              <a:t>Per-slice ResNet50 with ImageNet features, aggregate across depth</a:t>
            </a:r>
          </a:p>
        </p:txBody>
      </p:sp>
      <p:sp>
        <p:nvSpPr>
          <p:cNvPr id="41" name="TextBox 40"/>
          <p:cNvSpPr txBox="1"/>
          <p:nvPr/>
        </p:nvSpPr>
        <p:spPr>
          <a:xfrm>
            <a:off x="1737360" y="5724144"/>
            <a:ext cx="5943600" cy="320040"/>
          </a:xfrm>
          <a:prstGeom prst="rect">
            <a:avLst/>
          </a:prstGeom>
          <a:noFill/>
        </p:spPr>
        <p:txBody>
          <a:bodyPr wrap="square" lIns="0" rIns="0" tIns="0" bIns="0" anchor="t">
            <a:spAutoFit/>
          </a:bodyPr>
          <a:lstStyle/>
          <a:p>
            <a:pPr algn="l"/>
            <a:r>
              <a:rPr sz="1100" b="0" i="0">
                <a:solidFill>
                  <a:srgbClr val="1E293B"/>
                </a:solidFill>
                <a:latin typeface="Calibri"/>
              </a:rPr>
              <a:t>Perfect val (0.997) but worst leaderboard (0.466) → 2D loses critical 3D context</a:t>
            </a:r>
          </a:p>
        </p:txBody>
      </p:sp>
      <p:sp>
        <p:nvSpPr>
          <p:cNvPr id="42" name="Rectangle 41"/>
          <p:cNvSpPr/>
          <p:nvPr/>
        </p:nvSpPr>
        <p:spPr>
          <a:xfrm>
            <a:off x="7955279" y="5230368"/>
            <a:ext cx="3657600" cy="685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55279" y="5266944"/>
            <a:ext cx="3657600" cy="228600"/>
          </a:xfrm>
          <a:prstGeom prst="rect">
            <a:avLst/>
          </a:prstGeom>
          <a:noFill/>
        </p:spPr>
        <p:txBody>
          <a:bodyPr wrap="square" lIns="0" rIns="0" tIns="0" bIns="0" anchor="t">
            <a:spAutoFit/>
          </a:bodyPr>
          <a:lstStyle/>
          <a:p>
            <a:pPr algn="ctr"/>
            <a:r>
              <a:rPr sz="900" b="1" i="0">
                <a:solidFill>
                  <a:srgbClr val="64748B"/>
                </a:solidFill>
                <a:latin typeface="Calibri"/>
              </a:rPr>
              <a:t>LEADERBOARD</a:t>
            </a:r>
          </a:p>
        </p:txBody>
      </p:sp>
      <p:sp>
        <p:nvSpPr>
          <p:cNvPr id="44" name="TextBox 43"/>
          <p:cNvSpPr txBox="1"/>
          <p:nvPr/>
        </p:nvSpPr>
        <p:spPr>
          <a:xfrm>
            <a:off x="7955279" y="5477256"/>
            <a:ext cx="3657600" cy="365760"/>
          </a:xfrm>
          <a:prstGeom prst="rect">
            <a:avLst/>
          </a:prstGeom>
          <a:noFill/>
        </p:spPr>
        <p:txBody>
          <a:bodyPr wrap="square" lIns="0" rIns="0" tIns="0" bIns="0" anchor="t">
            <a:spAutoFit/>
          </a:bodyPr>
          <a:lstStyle/>
          <a:p>
            <a:pPr algn="ctr"/>
            <a:r>
              <a:rPr sz="2200" b="1" i="0">
                <a:solidFill>
                  <a:srgbClr val="E45B5B"/>
                </a:solidFill>
                <a:latin typeface="Calibri"/>
              </a:rPr>
              <a:t>0.466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0" y="292608"/>
            <a:ext cx="4206240" cy="320040"/>
          </a:xfrm>
          <a:prstGeom prst="rect">
            <a:avLst/>
          </a:prstGeom>
          <a:noFill/>
        </p:spPr>
        <p:txBody>
          <a:bodyPr wrap="square" lIns="0" rIns="0" tIns="0" bIns="0" anchor="t">
            <a:spAutoFit/>
          </a:bodyPr>
          <a:lstStyle/>
          <a:p>
            <a:pPr algn="r"/>
            <a:r>
              <a:rPr sz="1000" b="1" i="0">
                <a:solidFill>
                  <a:srgbClr val="0D9488"/>
                </a:solidFill>
                <a:latin typeface="Calibri"/>
              </a:rPr>
              <a:t>DEVELOPMENT</a:t>
            </a:r>
          </a:p>
        </p:txBody>
      </p:sp>
      <p:sp>
        <p:nvSpPr>
          <p:cNvPr id="4" name="Rectangle 3"/>
          <p:cNvSpPr/>
          <p:nvPr/>
        </p:nvSpPr>
        <p:spPr>
          <a:xfrm>
            <a:off x="457200" y="6510528"/>
            <a:ext cx="1127729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65392"/>
            <a:ext cx="9144000" cy="228600"/>
          </a:xfrm>
          <a:prstGeom prst="rect">
            <a:avLst/>
          </a:prstGeom>
          <a:noFill/>
        </p:spPr>
        <p:txBody>
          <a:bodyPr wrap="square" lIns="0" rIns="0" tIns="0" bIns="0" anchor="t">
            <a:spAutoFit/>
          </a:bodyPr>
          <a:lstStyle/>
          <a:p>
            <a:pPr algn="l"/>
            <a:r>
              <a:rPr sz="900" b="0" i="0">
                <a:solidFill>
                  <a:srgbClr val="64748B"/>
                </a:solidFill>
                <a:latin typeface="Calibri"/>
              </a:rPr>
              <a:t>Breast MRI Classification  •  ODELIA 2025  •  TDT4265</a:t>
            </a:r>
          </a:p>
        </p:txBody>
      </p:sp>
      <p:sp>
        <p:nvSpPr>
          <p:cNvPr id="6" name="TextBox 5"/>
          <p:cNvSpPr txBox="1"/>
          <p:nvPr/>
        </p:nvSpPr>
        <p:spPr>
          <a:xfrm>
            <a:off x="10515600" y="6565392"/>
            <a:ext cx="1188720" cy="228600"/>
          </a:xfrm>
          <a:prstGeom prst="rect">
            <a:avLst/>
          </a:prstGeom>
          <a:noFill/>
        </p:spPr>
        <p:txBody>
          <a:bodyPr wrap="square" lIns="0" rIns="0" tIns="0" bIns="0" anchor="t">
            <a:spAutoFit/>
          </a:bodyPr>
          <a:lstStyle/>
          <a:p>
            <a:pPr algn="r"/>
            <a:r>
              <a:rPr sz="900" b="1" i="0">
                <a:solidFill>
                  <a:srgbClr val="64748B"/>
                </a:solidFill>
                <a:latin typeface="Calibri"/>
              </a:rPr>
              <a:t>12 / 18</a:t>
            </a:r>
          </a:p>
        </p:txBody>
      </p:sp>
      <p:sp>
        <p:nvSpPr>
          <p:cNvPr id="7" name="TextBox 6"/>
          <p:cNvSpPr txBox="1"/>
          <p:nvPr/>
        </p:nvSpPr>
        <p:spPr>
          <a:xfrm>
            <a:off x="457200" y="502920"/>
            <a:ext cx="11247120" cy="731520"/>
          </a:xfrm>
          <a:prstGeom prst="rect">
            <a:avLst/>
          </a:prstGeom>
          <a:noFill/>
        </p:spPr>
        <p:txBody>
          <a:bodyPr wrap="square" lIns="0" rIns="0" tIns="0" bIns="0" anchor="t">
            <a:spAutoFit/>
          </a:bodyPr>
          <a:lstStyle/>
          <a:p>
            <a:pPr algn="l"/>
            <a:r>
              <a:rPr sz="3200" b="1" i="0">
                <a:solidFill>
                  <a:srgbClr val="1E3A5F"/>
                </a:solidFill>
                <a:latin typeface="Calibri"/>
              </a:rPr>
              <a:t>Development Journey — The Breakthrough</a:t>
            </a:r>
          </a:p>
        </p:txBody>
      </p:sp>
      <p:sp>
        <p:nvSpPr>
          <p:cNvPr id="8" name="TextBox 7"/>
          <p:cNvSpPr txBox="1"/>
          <p:nvPr/>
        </p:nvSpPr>
        <p:spPr>
          <a:xfrm>
            <a:off x="457200" y="1143000"/>
            <a:ext cx="11247120" cy="365760"/>
          </a:xfrm>
          <a:prstGeom prst="rect">
            <a:avLst/>
          </a:prstGeom>
          <a:noFill/>
        </p:spPr>
        <p:txBody>
          <a:bodyPr wrap="square" lIns="0" rIns="0" tIns="0" bIns="0" anchor="t">
            <a:spAutoFit/>
          </a:bodyPr>
          <a:lstStyle/>
          <a:p>
            <a:pPr algn="l"/>
            <a:r>
              <a:rPr sz="1500" b="0" i="1">
                <a:solidFill>
                  <a:srgbClr val="64748B"/>
                </a:solidFill>
                <a:latin typeface="Calibri"/>
              </a:rPr>
              <a:t>v17 → v17b  ·  InstanceNorm + lucky seed = new best  (0.524 → 0.598)</a:t>
            </a:r>
          </a:p>
        </p:txBody>
      </p:sp>
      <p:sp>
        <p:nvSpPr>
          <p:cNvPr id="9" name="Rectangle 8"/>
          <p:cNvSpPr/>
          <p:nvPr/>
        </p:nvSpPr>
        <p:spPr>
          <a:xfrm>
            <a:off x="457200" y="1828800"/>
            <a:ext cx="5486400" cy="4389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828800"/>
            <a:ext cx="109728" cy="43891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11680"/>
            <a:ext cx="5029200" cy="365760"/>
          </a:xfrm>
          <a:prstGeom prst="rect">
            <a:avLst/>
          </a:prstGeom>
          <a:noFill/>
        </p:spPr>
        <p:txBody>
          <a:bodyPr wrap="square" lIns="0" rIns="0" tIns="0" bIns="0" anchor="t">
            <a:spAutoFit/>
          </a:bodyPr>
          <a:lstStyle/>
          <a:p>
            <a:pPr algn="l"/>
            <a:r>
              <a:rPr sz="1100" b="1" i="0">
                <a:solidFill>
                  <a:srgbClr val="D97706"/>
                </a:solidFill>
                <a:latin typeface="Calibri"/>
              </a:rPr>
              <a:t>THE KEY INSIGHT</a:t>
            </a:r>
          </a:p>
        </p:txBody>
      </p:sp>
      <p:sp>
        <p:nvSpPr>
          <p:cNvPr id="12" name="TextBox 11"/>
          <p:cNvSpPr txBox="1"/>
          <p:nvPr/>
        </p:nvSpPr>
        <p:spPr>
          <a:xfrm>
            <a:off x="777240" y="2377440"/>
            <a:ext cx="5029200" cy="822960"/>
          </a:xfrm>
          <a:prstGeom prst="rect">
            <a:avLst/>
          </a:prstGeom>
          <a:noFill/>
        </p:spPr>
        <p:txBody>
          <a:bodyPr wrap="square" lIns="0" rIns="0" tIns="0" bIns="0" anchor="t">
            <a:spAutoFit/>
          </a:bodyPr>
          <a:lstStyle/>
          <a:p>
            <a:pPr algn="l"/>
            <a:r>
              <a:rPr sz="2000" b="1" i="0">
                <a:solidFill>
                  <a:srgbClr val="1E3A5F"/>
                </a:solidFill>
                <a:latin typeface="Calibri"/>
              </a:rPr>
              <a:t>BatchNorm stores scanner-specific
statistics → fails on RSH.</a:t>
            </a:r>
          </a:p>
        </p:txBody>
      </p:sp>
      <p:sp>
        <p:nvSpPr>
          <p:cNvPr id="13" name="TextBox 12"/>
          <p:cNvSpPr txBox="1"/>
          <p:nvPr/>
        </p:nvSpPr>
        <p:spPr>
          <a:xfrm>
            <a:off x="777240" y="3474720"/>
            <a:ext cx="5029200" cy="457200"/>
          </a:xfrm>
          <a:prstGeom prst="rect">
            <a:avLst/>
          </a:prstGeom>
          <a:noFill/>
        </p:spPr>
        <p:txBody>
          <a:bodyPr wrap="square" lIns="0" rIns="0" tIns="0" bIns="0" anchor="t">
            <a:spAutoFit/>
          </a:bodyPr>
          <a:lstStyle/>
          <a:p>
            <a:pPr algn="l"/>
            <a:r>
              <a:rPr sz="1600" b="0" i="0">
                <a:solidFill>
                  <a:srgbClr val="1E293B"/>
                </a:solidFill>
                <a:latin typeface="Calibri"/>
              </a:rPr>
              <a:t>InstanceNorm computes per-sample
statistics at test time.</a:t>
            </a:r>
          </a:p>
        </p:txBody>
      </p:sp>
      <p:sp>
        <p:nvSpPr>
          <p:cNvPr id="14" name="TextBox 13"/>
          <p:cNvSpPr txBox="1"/>
          <p:nvPr/>
        </p:nvSpPr>
        <p:spPr>
          <a:xfrm>
            <a:off x="777240" y="4434840"/>
            <a:ext cx="5029200" cy="365760"/>
          </a:xfrm>
          <a:prstGeom prst="rect">
            <a:avLst/>
          </a:prstGeom>
          <a:noFill/>
        </p:spPr>
        <p:txBody>
          <a:bodyPr wrap="square" lIns="0" rIns="0" tIns="0" bIns="0" anchor="t">
            <a:spAutoFit/>
          </a:bodyPr>
          <a:lstStyle/>
          <a:p>
            <a:pPr algn="l"/>
            <a:r>
              <a:rPr sz="1600" b="1" i="1">
                <a:solidFill>
                  <a:srgbClr val="0D9488"/>
                </a:solidFill>
                <a:latin typeface="Calibri"/>
              </a:rPr>
              <a:t>→ inherently scanner-invariant.</a:t>
            </a:r>
          </a:p>
        </p:txBody>
      </p:sp>
      <p:sp>
        <p:nvSpPr>
          <p:cNvPr id="15" name="Rectangle 14"/>
          <p:cNvSpPr/>
          <p:nvPr/>
        </p:nvSpPr>
        <p:spPr>
          <a:xfrm>
            <a:off x="777240" y="5029200"/>
            <a:ext cx="5029200" cy="10058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120640"/>
            <a:ext cx="4754880" cy="365760"/>
          </a:xfrm>
          <a:prstGeom prst="rect">
            <a:avLst/>
          </a:prstGeom>
          <a:noFill/>
        </p:spPr>
        <p:txBody>
          <a:bodyPr wrap="square" lIns="0" rIns="0" tIns="0" bIns="0" anchor="t">
            <a:spAutoFit/>
          </a:bodyPr>
          <a:lstStyle/>
          <a:p>
            <a:pPr algn="l"/>
            <a:r>
              <a:rPr sz="1000" b="1" i="0">
                <a:solidFill>
                  <a:srgbClr val="D97706"/>
                </a:solidFill>
                <a:latin typeface="Calibri"/>
              </a:rPr>
              <a:t>COMBINED WITH LUCKY SEED</a:t>
            </a:r>
          </a:p>
        </p:txBody>
      </p:sp>
      <p:sp>
        <p:nvSpPr>
          <p:cNvPr id="17" name="TextBox 16"/>
          <p:cNvSpPr txBox="1"/>
          <p:nvPr/>
        </p:nvSpPr>
        <p:spPr>
          <a:xfrm>
            <a:off x="914400" y="5394960"/>
            <a:ext cx="4754880" cy="548640"/>
          </a:xfrm>
          <a:prstGeom prst="rect">
            <a:avLst/>
          </a:prstGeom>
          <a:noFill/>
        </p:spPr>
        <p:txBody>
          <a:bodyPr wrap="square" lIns="0" rIns="0" tIns="0" bIns="0" anchor="t">
            <a:spAutoFit/>
          </a:bodyPr>
          <a:lstStyle/>
          <a:p>
            <a:pPr algn="l"/>
            <a:r>
              <a:rPr sz="1100" b="0" i="0">
                <a:solidFill>
                  <a:srgbClr val="1E293B"/>
                </a:solidFill>
                <a:latin typeface="Calibri"/>
              </a:rPr>
              <a:t>Seed = 123 added +7% on both DenseNet121 (v13→v13b) and ResNet50-IN (v17→v17b) — the boost is remarkably consistent.</a:t>
            </a:r>
          </a:p>
        </p:txBody>
      </p:sp>
      <p:sp>
        <p:nvSpPr>
          <p:cNvPr id="18" name="Rectangle 17"/>
          <p:cNvSpPr/>
          <p:nvPr/>
        </p:nvSpPr>
        <p:spPr>
          <a:xfrm>
            <a:off x="6126480" y="1828800"/>
            <a:ext cx="5577840" cy="2103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828800"/>
            <a:ext cx="91440" cy="21031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1993392"/>
            <a:ext cx="914400" cy="548640"/>
          </a:xfrm>
          <a:prstGeom prst="rect">
            <a:avLst/>
          </a:prstGeom>
          <a:noFill/>
        </p:spPr>
        <p:txBody>
          <a:bodyPr wrap="square" lIns="0" rIns="0" tIns="0" bIns="0" anchor="t">
            <a:spAutoFit/>
          </a:bodyPr>
          <a:lstStyle/>
          <a:p>
            <a:pPr algn="l"/>
            <a:r>
              <a:rPr sz="2400" b="1" i="0">
                <a:solidFill>
                  <a:srgbClr val="1E3A5F"/>
                </a:solidFill>
                <a:latin typeface="Calibri"/>
              </a:rPr>
              <a:t>v17</a:t>
            </a:r>
          </a:p>
        </p:txBody>
      </p:sp>
      <p:sp>
        <p:nvSpPr>
          <p:cNvPr id="21" name="TextBox 20"/>
          <p:cNvSpPr txBox="1"/>
          <p:nvPr/>
        </p:nvSpPr>
        <p:spPr>
          <a:xfrm>
            <a:off x="7406640" y="1965960"/>
            <a:ext cx="3017520" cy="365760"/>
          </a:xfrm>
          <a:prstGeom prst="rect">
            <a:avLst/>
          </a:prstGeom>
          <a:noFill/>
        </p:spPr>
        <p:txBody>
          <a:bodyPr wrap="square" lIns="0" rIns="0" tIns="0" bIns="0" anchor="t">
            <a:spAutoFit/>
          </a:bodyPr>
          <a:lstStyle/>
          <a:p>
            <a:pPr algn="l"/>
            <a:r>
              <a:rPr sz="1300" b="1" i="0">
                <a:solidFill>
                  <a:srgbClr val="1E3A5F"/>
                </a:solidFill>
                <a:latin typeface="Calibri"/>
              </a:rPr>
              <a:t>InstanceNorm ResNet50</a:t>
            </a:r>
          </a:p>
        </p:txBody>
      </p:sp>
      <p:sp>
        <p:nvSpPr>
          <p:cNvPr id="22" name="TextBox 21"/>
          <p:cNvSpPr txBox="1"/>
          <p:nvPr/>
        </p:nvSpPr>
        <p:spPr>
          <a:xfrm>
            <a:off x="7406640" y="2267712"/>
            <a:ext cx="3017520" cy="365760"/>
          </a:xfrm>
          <a:prstGeom prst="rect">
            <a:avLst/>
          </a:prstGeom>
          <a:noFill/>
        </p:spPr>
        <p:txBody>
          <a:bodyPr wrap="square" lIns="0" rIns="0" tIns="0" bIns="0" anchor="t">
            <a:spAutoFit/>
          </a:bodyPr>
          <a:lstStyle/>
          <a:p>
            <a:pPr algn="l"/>
            <a:r>
              <a:rPr sz="1050" b="0" i="1">
                <a:solidFill>
                  <a:srgbClr val="64748B"/>
                </a:solidFill>
                <a:latin typeface="Calibri"/>
              </a:rPr>
              <a:t>ResNet50 with BN → IN, seed = 42, all other settings match v14</a:t>
            </a:r>
          </a:p>
        </p:txBody>
      </p:sp>
      <p:sp>
        <p:nvSpPr>
          <p:cNvPr id="23" name="TextBox 22"/>
          <p:cNvSpPr txBox="1"/>
          <p:nvPr/>
        </p:nvSpPr>
        <p:spPr>
          <a:xfrm>
            <a:off x="6355080" y="2697480"/>
            <a:ext cx="4114800" cy="1097280"/>
          </a:xfrm>
          <a:prstGeom prst="rect">
            <a:avLst/>
          </a:prstGeom>
          <a:noFill/>
        </p:spPr>
        <p:txBody>
          <a:bodyPr wrap="square" lIns="0" rIns="0" tIns="0" bIns="0" anchor="t">
            <a:spAutoFit/>
          </a:bodyPr>
          <a:lstStyle/>
          <a:p>
            <a:pPr algn="l"/>
            <a:r>
              <a:rPr sz="1150" b="0" i="0">
                <a:solidFill>
                  <a:srgbClr val="1E293B"/>
                </a:solidFill>
                <a:latin typeface="Calibri"/>
              </a:rPr>
              <a:t>First architectural change that improved RSH. Validated the domain-invariance theory.</a:t>
            </a:r>
          </a:p>
        </p:txBody>
      </p:sp>
      <p:sp>
        <p:nvSpPr>
          <p:cNvPr id="24" name="Rectangle 23"/>
          <p:cNvSpPr/>
          <p:nvPr/>
        </p:nvSpPr>
        <p:spPr>
          <a:xfrm>
            <a:off x="10515600" y="1993392"/>
            <a:ext cx="1143000" cy="17830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0" y="2103120"/>
            <a:ext cx="1143000" cy="274320"/>
          </a:xfrm>
          <a:prstGeom prst="rect">
            <a:avLst/>
          </a:prstGeom>
          <a:noFill/>
        </p:spPr>
        <p:txBody>
          <a:bodyPr wrap="square" lIns="0" rIns="0" tIns="0" bIns="0" anchor="t">
            <a:spAutoFit/>
          </a:bodyPr>
          <a:lstStyle/>
          <a:p>
            <a:pPr algn="ctr"/>
            <a:r>
              <a:rPr sz="1000" b="1" i="0">
                <a:solidFill>
                  <a:srgbClr val="64748B"/>
                </a:solidFill>
                <a:latin typeface="Calibri"/>
              </a:rPr>
              <a:t>LB</a:t>
            </a:r>
          </a:p>
        </p:txBody>
      </p:sp>
      <p:sp>
        <p:nvSpPr>
          <p:cNvPr id="26" name="TextBox 25"/>
          <p:cNvSpPr txBox="1"/>
          <p:nvPr/>
        </p:nvSpPr>
        <p:spPr>
          <a:xfrm>
            <a:off x="10515600" y="2468880"/>
            <a:ext cx="1143000" cy="914400"/>
          </a:xfrm>
          <a:prstGeom prst="rect">
            <a:avLst/>
          </a:prstGeom>
          <a:noFill/>
        </p:spPr>
        <p:txBody>
          <a:bodyPr wrap="square" lIns="0" rIns="0" tIns="0" bIns="0" anchor="t">
            <a:spAutoFit/>
          </a:bodyPr>
          <a:lstStyle/>
          <a:p>
            <a:pPr algn="ctr"/>
            <a:r>
              <a:rPr sz="2600" b="1" i="0">
                <a:solidFill>
                  <a:srgbClr val="1E3A5F"/>
                </a:solidFill>
                <a:latin typeface="Calibri"/>
              </a:rPr>
              <a:t>0.524</a:t>
            </a:r>
          </a:p>
        </p:txBody>
      </p:sp>
      <p:sp>
        <p:nvSpPr>
          <p:cNvPr id="27" name="Rectangle 26"/>
          <p:cNvSpPr/>
          <p:nvPr/>
        </p:nvSpPr>
        <p:spPr>
          <a:xfrm>
            <a:off x="6126480" y="4114800"/>
            <a:ext cx="5577840" cy="21031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26480" y="4114800"/>
            <a:ext cx="91440" cy="21031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4279392"/>
            <a:ext cx="914400" cy="548640"/>
          </a:xfrm>
          <a:prstGeom prst="rect">
            <a:avLst/>
          </a:prstGeom>
          <a:noFill/>
        </p:spPr>
        <p:txBody>
          <a:bodyPr wrap="square" lIns="0" rIns="0" tIns="0" bIns="0" anchor="t">
            <a:spAutoFit/>
          </a:bodyPr>
          <a:lstStyle/>
          <a:p>
            <a:pPr algn="l"/>
            <a:r>
              <a:rPr sz="2400" b="1" i="0">
                <a:solidFill>
                  <a:srgbClr val="1E3A5F"/>
                </a:solidFill>
                <a:latin typeface="Calibri"/>
              </a:rPr>
              <a:t>v17b</a:t>
            </a:r>
          </a:p>
        </p:txBody>
      </p:sp>
      <p:sp>
        <p:nvSpPr>
          <p:cNvPr id="30" name="TextBox 29"/>
          <p:cNvSpPr txBox="1"/>
          <p:nvPr/>
        </p:nvSpPr>
        <p:spPr>
          <a:xfrm>
            <a:off x="7406640" y="4251960"/>
            <a:ext cx="3017520" cy="365760"/>
          </a:xfrm>
          <a:prstGeom prst="rect">
            <a:avLst/>
          </a:prstGeom>
          <a:noFill/>
        </p:spPr>
        <p:txBody>
          <a:bodyPr wrap="square" lIns="0" rIns="0" tIns="0" bIns="0" anchor="t">
            <a:spAutoFit/>
          </a:bodyPr>
          <a:lstStyle/>
          <a:p>
            <a:pPr algn="l"/>
            <a:r>
              <a:rPr sz="1300" b="1" i="0">
                <a:solidFill>
                  <a:srgbClr val="1E3A5F"/>
                </a:solidFill>
                <a:latin typeface="Calibri"/>
              </a:rPr>
              <a:t>v17 + seed = 123</a:t>
            </a:r>
          </a:p>
        </p:txBody>
      </p:sp>
      <p:sp>
        <p:nvSpPr>
          <p:cNvPr id="31" name="TextBox 30"/>
          <p:cNvSpPr txBox="1"/>
          <p:nvPr/>
        </p:nvSpPr>
        <p:spPr>
          <a:xfrm>
            <a:off x="7406640" y="4553712"/>
            <a:ext cx="3017520" cy="365760"/>
          </a:xfrm>
          <a:prstGeom prst="rect">
            <a:avLst/>
          </a:prstGeom>
          <a:noFill/>
        </p:spPr>
        <p:txBody>
          <a:bodyPr wrap="square" lIns="0" rIns="0" tIns="0" bIns="0" anchor="t">
            <a:spAutoFit/>
          </a:bodyPr>
          <a:lstStyle/>
          <a:p>
            <a:pPr algn="l"/>
            <a:r>
              <a:rPr sz="1050" b="0" i="1">
                <a:solidFill>
                  <a:srgbClr val="64748B"/>
                </a:solidFill>
                <a:latin typeface="Calibri"/>
              </a:rPr>
              <a:t>Identical to v17, only random initialization changed</a:t>
            </a:r>
          </a:p>
        </p:txBody>
      </p:sp>
      <p:sp>
        <p:nvSpPr>
          <p:cNvPr id="32" name="TextBox 31"/>
          <p:cNvSpPr txBox="1"/>
          <p:nvPr/>
        </p:nvSpPr>
        <p:spPr>
          <a:xfrm>
            <a:off x="6355080" y="4983480"/>
            <a:ext cx="4114800" cy="1097280"/>
          </a:xfrm>
          <a:prstGeom prst="rect">
            <a:avLst/>
          </a:prstGeom>
          <a:noFill/>
        </p:spPr>
        <p:txBody>
          <a:bodyPr wrap="square" lIns="0" rIns="0" tIns="0" bIns="0" anchor="t">
            <a:spAutoFit/>
          </a:bodyPr>
          <a:lstStyle/>
          <a:p>
            <a:pPr algn="l"/>
            <a:r>
              <a:rPr sz="1150" b="0" i="0">
                <a:solidFill>
                  <a:srgbClr val="1E293B"/>
                </a:solidFill>
                <a:latin typeface="Calibri"/>
              </a:rPr>
              <a:t>Best single model by a wide margin. Val 0.992 AND best leaderboard — rare alignment.</a:t>
            </a:r>
          </a:p>
        </p:txBody>
      </p:sp>
      <p:sp>
        <p:nvSpPr>
          <p:cNvPr id="33" name="Rectangle 32"/>
          <p:cNvSpPr/>
          <p:nvPr/>
        </p:nvSpPr>
        <p:spPr>
          <a:xfrm>
            <a:off x="10515600" y="4279392"/>
            <a:ext cx="1143000" cy="17830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15600" y="4389120"/>
            <a:ext cx="1143000" cy="274320"/>
          </a:xfrm>
          <a:prstGeom prst="rect">
            <a:avLst/>
          </a:prstGeom>
          <a:noFill/>
        </p:spPr>
        <p:txBody>
          <a:bodyPr wrap="square" lIns="0" rIns="0" tIns="0" bIns="0" anchor="t">
            <a:spAutoFit/>
          </a:bodyPr>
          <a:lstStyle/>
          <a:p>
            <a:pPr algn="ctr"/>
            <a:r>
              <a:rPr sz="1000" b="1" i="0">
                <a:solidFill>
                  <a:srgbClr val="64748B"/>
                </a:solidFill>
                <a:latin typeface="Calibri"/>
              </a:rPr>
              <a:t>LB</a:t>
            </a:r>
          </a:p>
        </p:txBody>
      </p:sp>
      <p:sp>
        <p:nvSpPr>
          <p:cNvPr id="35" name="TextBox 34"/>
          <p:cNvSpPr txBox="1"/>
          <p:nvPr/>
        </p:nvSpPr>
        <p:spPr>
          <a:xfrm>
            <a:off x="10515600" y="4754880"/>
            <a:ext cx="1143000" cy="914400"/>
          </a:xfrm>
          <a:prstGeom prst="rect">
            <a:avLst/>
          </a:prstGeom>
          <a:noFill/>
        </p:spPr>
        <p:txBody>
          <a:bodyPr wrap="square" lIns="0" rIns="0" tIns="0" bIns="0" anchor="t">
            <a:spAutoFit/>
          </a:bodyPr>
          <a:lstStyle/>
          <a:p>
            <a:pPr algn="ctr"/>
            <a:r>
              <a:rPr sz="2600" b="1" i="0">
                <a:solidFill>
                  <a:srgbClr val="D97706"/>
                </a:solidFill>
                <a:latin typeface="Calibri"/>
              </a:rPr>
              <a:t>0.598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0" y="292608"/>
            <a:ext cx="4206240" cy="320040"/>
          </a:xfrm>
          <a:prstGeom prst="rect">
            <a:avLst/>
          </a:prstGeom>
          <a:noFill/>
        </p:spPr>
        <p:txBody>
          <a:bodyPr wrap="square" lIns="0" rIns="0" tIns="0" bIns="0" anchor="t">
            <a:spAutoFit/>
          </a:bodyPr>
          <a:lstStyle/>
          <a:p>
            <a:pPr algn="r"/>
            <a:r>
              <a:rPr sz="1000" b="1" i="0">
                <a:solidFill>
                  <a:srgbClr val="0D9488"/>
                </a:solidFill>
                <a:latin typeface="Calibri"/>
              </a:rPr>
              <a:t>RESULTS</a:t>
            </a:r>
          </a:p>
        </p:txBody>
      </p:sp>
      <p:sp>
        <p:nvSpPr>
          <p:cNvPr id="4" name="Rectangle 3"/>
          <p:cNvSpPr/>
          <p:nvPr/>
        </p:nvSpPr>
        <p:spPr>
          <a:xfrm>
            <a:off x="457200" y="6510528"/>
            <a:ext cx="1127729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65392"/>
            <a:ext cx="9144000" cy="228600"/>
          </a:xfrm>
          <a:prstGeom prst="rect">
            <a:avLst/>
          </a:prstGeom>
          <a:noFill/>
        </p:spPr>
        <p:txBody>
          <a:bodyPr wrap="square" lIns="0" rIns="0" tIns="0" bIns="0" anchor="t">
            <a:spAutoFit/>
          </a:bodyPr>
          <a:lstStyle/>
          <a:p>
            <a:pPr algn="l"/>
            <a:r>
              <a:rPr sz="900" b="0" i="0">
                <a:solidFill>
                  <a:srgbClr val="64748B"/>
                </a:solidFill>
                <a:latin typeface="Calibri"/>
              </a:rPr>
              <a:t>Breast MRI Classification  •  ODELIA 2025  •  TDT4265</a:t>
            </a:r>
          </a:p>
        </p:txBody>
      </p:sp>
      <p:sp>
        <p:nvSpPr>
          <p:cNvPr id="6" name="TextBox 5"/>
          <p:cNvSpPr txBox="1"/>
          <p:nvPr/>
        </p:nvSpPr>
        <p:spPr>
          <a:xfrm>
            <a:off x="10515600" y="6565392"/>
            <a:ext cx="1188720" cy="228600"/>
          </a:xfrm>
          <a:prstGeom prst="rect">
            <a:avLst/>
          </a:prstGeom>
          <a:noFill/>
        </p:spPr>
        <p:txBody>
          <a:bodyPr wrap="square" lIns="0" rIns="0" tIns="0" bIns="0" anchor="t">
            <a:spAutoFit/>
          </a:bodyPr>
          <a:lstStyle/>
          <a:p>
            <a:pPr algn="r"/>
            <a:r>
              <a:rPr sz="900" b="1" i="0">
                <a:solidFill>
                  <a:srgbClr val="64748B"/>
                </a:solidFill>
                <a:latin typeface="Calibri"/>
              </a:rPr>
              <a:t>13 / 18</a:t>
            </a:r>
          </a:p>
        </p:txBody>
      </p:sp>
      <p:sp>
        <p:nvSpPr>
          <p:cNvPr id="7" name="TextBox 6"/>
          <p:cNvSpPr txBox="1"/>
          <p:nvPr/>
        </p:nvSpPr>
        <p:spPr>
          <a:xfrm>
            <a:off x="457200" y="502920"/>
            <a:ext cx="11247120" cy="731520"/>
          </a:xfrm>
          <a:prstGeom prst="rect">
            <a:avLst/>
          </a:prstGeom>
          <a:noFill/>
        </p:spPr>
        <p:txBody>
          <a:bodyPr wrap="square" lIns="0" rIns="0" tIns="0" bIns="0" anchor="t">
            <a:spAutoFit/>
          </a:bodyPr>
          <a:lstStyle/>
          <a:p>
            <a:pPr algn="l"/>
            <a:r>
              <a:rPr sz="3200" b="1" i="0">
                <a:solidFill>
                  <a:srgbClr val="1E3A5F"/>
                </a:solidFill>
                <a:latin typeface="Calibri"/>
              </a:rPr>
              <a:t>Results — Leaderboard Progression</a:t>
            </a:r>
          </a:p>
        </p:txBody>
      </p:sp>
      <p:sp>
        <p:nvSpPr>
          <p:cNvPr id="8" name="TextBox 7"/>
          <p:cNvSpPr txBox="1"/>
          <p:nvPr/>
        </p:nvSpPr>
        <p:spPr>
          <a:xfrm>
            <a:off x="457200" y="1143000"/>
            <a:ext cx="11247120" cy="365760"/>
          </a:xfrm>
          <a:prstGeom prst="rect">
            <a:avLst/>
          </a:prstGeom>
          <a:noFill/>
        </p:spPr>
        <p:txBody>
          <a:bodyPr wrap="square" lIns="0" rIns="0" tIns="0" bIns="0" anchor="t">
            <a:spAutoFit/>
          </a:bodyPr>
          <a:lstStyle/>
          <a:p>
            <a:pPr algn="l"/>
            <a:r>
              <a:rPr sz="1500" b="0" i="1">
                <a:solidFill>
                  <a:srgbClr val="64748B"/>
                </a:solidFill>
                <a:latin typeface="Calibri"/>
              </a:rPr>
              <a:t>5.1× improvement over 6 phases of model development</a:t>
            </a:r>
          </a:p>
        </p:txBody>
      </p:sp>
      <p:pic>
        <p:nvPicPr>
          <p:cNvPr id="9" name="Picture 8" descr="leaderboard_progression.png"/>
          <p:cNvPicPr>
            <a:picLocks noChangeAspect="1"/>
          </p:cNvPicPr>
          <p:nvPr/>
        </p:nvPicPr>
        <p:blipFill>
          <a:blip r:embed="rId2"/>
          <a:stretch>
            <a:fillRect/>
          </a:stretch>
        </p:blipFill>
        <p:spPr>
          <a:xfrm>
            <a:off x="457200" y="1828800"/>
            <a:ext cx="9144000" cy="4616067"/>
          </a:xfrm>
          <a:prstGeom prst="rect">
            <a:avLst/>
          </a:prstGeom>
        </p:spPr>
      </p:pic>
      <p:sp>
        <p:nvSpPr>
          <p:cNvPr id="10" name="Rectangle 9"/>
          <p:cNvSpPr/>
          <p:nvPr/>
        </p:nvSpPr>
        <p:spPr>
          <a:xfrm>
            <a:off x="9784080" y="1828800"/>
            <a:ext cx="73152" cy="45720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0" y="1828800"/>
            <a:ext cx="2194560" cy="320040"/>
          </a:xfrm>
          <a:prstGeom prst="rect">
            <a:avLst/>
          </a:prstGeom>
          <a:noFill/>
        </p:spPr>
        <p:txBody>
          <a:bodyPr wrap="square" lIns="0" rIns="0" tIns="0" bIns="0" anchor="t">
            <a:spAutoFit/>
          </a:bodyPr>
          <a:lstStyle/>
          <a:p>
            <a:pPr algn="l"/>
            <a:r>
              <a:rPr sz="1100" b="1" i="0">
                <a:solidFill>
                  <a:srgbClr val="D97706"/>
                </a:solidFill>
                <a:latin typeface="Calibri"/>
              </a:rPr>
              <a:t>PHASE SUMMARY</a:t>
            </a:r>
          </a:p>
        </p:txBody>
      </p:sp>
      <p:sp>
        <p:nvSpPr>
          <p:cNvPr id="12" name="TextBox 11"/>
          <p:cNvSpPr txBox="1"/>
          <p:nvPr/>
        </p:nvSpPr>
        <p:spPr>
          <a:xfrm>
            <a:off x="9966960" y="2212848"/>
            <a:ext cx="457200" cy="320040"/>
          </a:xfrm>
          <a:prstGeom prst="rect">
            <a:avLst/>
          </a:prstGeom>
          <a:noFill/>
        </p:spPr>
        <p:txBody>
          <a:bodyPr wrap="square" lIns="0" rIns="0" tIns="0" bIns="0" anchor="t">
            <a:spAutoFit/>
          </a:bodyPr>
          <a:lstStyle/>
          <a:p>
            <a:pPr algn="l"/>
            <a:r>
              <a:rPr sz="1050" b="1" i="0">
                <a:solidFill>
                  <a:srgbClr val="0D9488"/>
                </a:solidFill>
                <a:latin typeface="Calibri"/>
              </a:rPr>
              <a:t>P1</a:t>
            </a:r>
          </a:p>
        </p:txBody>
      </p:sp>
      <p:sp>
        <p:nvSpPr>
          <p:cNvPr id="13" name="TextBox 12"/>
          <p:cNvSpPr txBox="1"/>
          <p:nvPr/>
        </p:nvSpPr>
        <p:spPr>
          <a:xfrm>
            <a:off x="10332720" y="2212848"/>
            <a:ext cx="1828800" cy="320040"/>
          </a:xfrm>
          <a:prstGeom prst="rect">
            <a:avLst/>
          </a:prstGeom>
          <a:noFill/>
        </p:spPr>
        <p:txBody>
          <a:bodyPr wrap="square" lIns="0" rIns="0" tIns="0" bIns="0" anchor="t">
            <a:spAutoFit/>
          </a:bodyPr>
          <a:lstStyle/>
          <a:p>
            <a:pPr algn="l"/>
            <a:r>
              <a:rPr sz="1050" b="1" i="0">
                <a:solidFill>
                  <a:srgbClr val="1E3A5F"/>
                </a:solidFill>
                <a:latin typeface="Calibri"/>
              </a:rPr>
              <a:t>Getting it to work</a:t>
            </a:r>
          </a:p>
        </p:txBody>
      </p:sp>
      <p:sp>
        <p:nvSpPr>
          <p:cNvPr id="14" name="TextBox 13"/>
          <p:cNvSpPr txBox="1"/>
          <p:nvPr/>
        </p:nvSpPr>
        <p:spPr>
          <a:xfrm>
            <a:off x="9966960" y="2459736"/>
            <a:ext cx="2194560" cy="228600"/>
          </a:xfrm>
          <a:prstGeom prst="rect">
            <a:avLst/>
          </a:prstGeom>
          <a:noFill/>
        </p:spPr>
        <p:txBody>
          <a:bodyPr wrap="square" lIns="0" rIns="0" tIns="0" bIns="0" anchor="t">
            <a:spAutoFit/>
          </a:bodyPr>
          <a:lstStyle/>
          <a:p>
            <a:pPr algn="l"/>
            <a:r>
              <a:rPr sz="950" b="0" i="1">
                <a:solidFill>
                  <a:srgbClr val="64748B"/>
                </a:solidFill>
                <a:latin typeface="Consolas"/>
              </a:rPr>
              <a:t>0.117 → 0.298</a:t>
            </a:r>
          </a:p>
        </p:txBody>
      </p:sp>
      <p:sp>
        <p:nvSpPr>
          <p:cNvPr id="15" name="TextBox 14"/>
          <p:cNvSpPr txBox="1"/>
          <p:nvPr/>
        </p:nvSpPr>
        <p:spPr>
          <a:xfrm>
            <a:off x="9966960" y="2761488"/>
            <a:ext cx="457200" cy="320040"/>
          </a:xfrm>
          <a:prstGeom prst="rect">
            <a:avLst/>
          </a:prstGeom>
          <a:noFill/>
        </p:spPr>
        <p:txBody>
          <a:bodyPr wrap="square" lIns="0" rIns="0" tIns="0" bIns="0" anchor="t">
            <a:spAutoFit/>
          </a:bodyPr>
          <a:lstStyle/>
          <a:p>
            <a:pPr algn="l"/>
            <a:r>
              <a:rPr sz="1050" b="1" i="0">
                <a:solidFill>
                  <a:srgbClr val="0D9488"/>
                </a:solidFill>
                <a:latin typeface="Calibri"/>
              </a:rPr>
              <a:t>P2</a:t>
            </a:r>
          </a:p>
        </p:txBody>
      </p:sp>
      <p:sp>
        <p:nvSpPr>
          <p:cNvPr id="16" name="TextBox 15"/>
          <p:cNvSpPr txBox="1"/>
          <p:nvPr/>
        </p:nvSpPr>
        <p:spPr>
          <a:xfrm>
            <a:off x="10332720" y="2761488"/>
            <a:ext cx="1828800" cy="320040"/>
          </a:xfrm>
          <a:prstGeom prst="rect">
            <a:avLst/>
          </a:prstGeom>
          <a:noFill/>
        </p:spPr>
        <p:txBody>
          <a:bodyPr wrap="square" lIns="0" rIns="0" tIns="0" bIns="0" anchor="t">
            <a:spAutoFit/>
          </a:bodyPr>
          <a:lstStyle/>
          <a:p>
            <a:pPr algn="l"/>
            <a:r>
              <a:rPr sz="1050" b="1" i="0">
                <a:solidFill>
                  <a:srgbClr val="1E3A5F"/>
                </a:solidFill>
                <a:latin typeface="Calibri"/>
              </a:rPr>
              <a:t>Clinical features</a:t>
            </a:r>
          </a:p>
        </p:txBody>
      </p:sp>
      <p:sp>
        <p:nvSpPr>
          <p:cNvPr id="17" name="TextBox 16"/>
          <p:cNvSpPr txBox="1"/>
          <p:nvPr/>
        </p:nvSpPr>
        <p:spPr>
          <a:xfrm>
            <a:off x="9966960" y="3008376"/>
            <a:ext cx="2194560" cy="228600"/>
          </a:xfrm>
          <a:prstGeom prst="rect">
            <a:avLst/>
          </a:prstGeom>
          <a:noFill/>
        </p:spPr>
        <p:txBody>
          <a:bodyPr wrap="square" lIns="0" rIns="0" tIns="0" bIns="0" anchor="t">
            <a:spAutoFit/>
          </a:bodyPr>
          <a:lstStyle/>
          <a:p>
            <a:pPr algn="l"/>
            <a:r>
              <a:rPr sz="950" b="0" i="1">
                <a:solidFill>
                  <a:srgbClr val="64748B"/>
                </a:solidFill>
                <a:latin typeface="Consolas"/>
              </a:rPr>
              <a:t>0.298 → 0.374</a:t>
            </a:r>
          </a:p>
        </p:txBody>
      </p:sp>
      <p:sp>
        <p:nvSpPr>
          <p:cNvPr id="18" name="TextBox 17"/>
          <p:cNvSpPr txBox="1"/>
          <p:nvPr/>
        </p:nvSpPr>
        <p:spPr>
          <a:xfrm>
            <a:off x="9966960" y="3310128"/>
            <a:ext cx="457200" cy="320040"/>
          </a:xfrm>
          <a:prstGeom prst="rect">
            <a:avLst/>
          </a:prstGeom>
          <a:noFill/>
        </p:spPr>
        <p:txBody>
          <a:bodyPr wrap="square" lIns="0" rIns="0" tIns="0" bIns="0" anchor="t">
            <a:spAutoFit/>
          </a:bodyPr>
          <a:lstStyle/>
          <a:p>
            <a:pPr algn="l"/>
            <a:r>
              <a:rPr sz="1050" b="1" i="0">
                <a:solidFill>
                  <a:srgbClr val="0D9488"/>
                </a:solidFill>
                <a:latin typeface="Calibri"/>
              </a:rPr>
              <a:t>P3</a:t>
            </a:r>
          </a:p>
        </p:txBody>
      </p:sp>
      <p:sp>
        <p:nvSpPr>
          <p:cNvPr id="19" name="TextBox 18"/>
          <p:cNvSpPr txBox="1"/>
          <p:nvPr/>
        </p:nvSpPr>
        <p:spPr>
          <a:xfrm>
            <a:off x="10332720" y="3310128"/>
            <a:ext cx="1828800" cy="320040"/>
          </a:xfrm>
          <a:prstGeom prst="rect">
            <a:avLst/>
          </a:prstGeom>
          <a:noFill/>
        </p:spPr>
        <p:txBody>
          <a:bodyPr wrap="square" lIns="0" rIns="0" tIns="0" bIns="0" anchor="t">
            <a:spAutoFit/>
          </a:bodyPr>
          <a:lstStyle/>
          <a:p>
            <a:pPr algn="l"/>
            <a:r>
              <a:rPr sz="1050" b="1" i="0">
                <a:solidFill>
                  <a:srgbClr val="1E3A5F"/>
                </a:solidFill>
                <a:latin typeface="Calibri"/>
              </a:rPr>
              <a:t>ODELIA baseline</a:t>
            </a:r>
          </a:p>
        </p:txBody>
      </p:sp>
      <p:sp>
        <p:nvSpPr>
          <p:cNvPr id="20" name="TextBox 19"/>
          <p:cNvSpPr txBox="1"/>
          <p:nvPr/>
        </p:nvSpPr>
        <p:spPr>
          <a:xfrm>
            <a:off x="9966960" y="3557016"/>
            <a:ext cx="2194560" cy="228600"/>
          </a:xfrm>
          <a:prstGeom prst="rect">
            <a:avLst/>
          </a:prstGeom>
          <a:noFill/>
        </p:spPr>
        <p:txBody>
          <a:bodyPr wrap="square" lIns="0" rIns="0" tIns="0" bIns="0" anchor="t">
            <a:spAutoFit/>
          </a:bodyPr>
          <a:lstStyle/>
          <a:p>
            <a:pPr algn="l"/>
            <a:r>
              <a:rPr sz="950" b="0" i="1">
                <a:solidFill>
                  <a:srgbClr val="64748B"/>
                </a:solidFill>
                <a:latin typeface="Consolas"/>
              </a:rPr>
              <a:t>0.374 → 0.504</a:t>
            </a:r>
          </a:p>
        </p:txBody>
      </p:sp>
      <p:sp>
        <p:nvSpPr>
          <p:cNvPr id="21" name="TextBox 20"/>
          <p:cNvSpPr txBox="1"/>
          <p:nvPr/>
        </p:nvSpPr>
        <p:spPr>
          <a:xfrm>
            <a:off x="9966960" y="3858768"/>
            <a:ext cx="457200" cy="320040"/>
          </a:xfrm>
          <a:prstGeom prst="rect">
            <a:avLst/>
          </a:prstGeom>
          <a:noFill/>
        </p:spPr>
        <p:txBody>
          <a:bodyPr wrap="square" lIns="0" rIns="0" tIns="0" bIns="0" anchor="t">
            <a:spAutoFit/>
          </a:bodyPr>
          <a:lstStyle/>
          <a:p>
            <a:pPr algn="l"/>
            <a:r>
              <a:rPr sz="1050" b="1" i="0">
                <a:solidFill>
                  <a:srgbClr val="0D9488"/>
                </a:solidFill>
                <a:latin typeface="Calibri"/>
              </a:rPr>
              <a:t>P4</a:t>
            </a:r>
          </a:p>
        </p:txBody>
      </p:sp>
      <p:sp>
        <p:nvSpPr>
          <p:cNvPr id="22" name="TextBox 21"/>
          <p:cNvSpPr txBox="1"/>
          <p:nvPr/>
        </p:nvSpPr>
        <p:spPr>
          <a:xfrm>
            <a:off x="10332720" y="3858768"/>
            <a:ext cx="1828800" cy="320040"/>
          </a:xfrm>
          <a:prstGeom prst="rect">
            <a:avLst/>
          </a:prstGeom>
          <a:noFill/>
        </p:spPr>
        <p:txBody>
          <a:bodyPr wrap="square" lIns="0" rIns="0" tIns="0" bIns="0" anchor="t">
            <a:spAutoFit/>
          </a:bodyPr>
          <a:lstStyle/>
          <a:p>
            <a:pPr algn="l"/>
            <a:r>
              <a:rPr sz="1050" b="1" i="0">
                <a:solidFill>
                  <a:srgbClr val="1E3A5F"/>
                </a:solidFill>
                <a:latin typeface="Calibri"/>
              </a:rPr>
              <a:t>Advanced techniques</a:t>
            </a:r>
          </a:p>
        </p:txBody>
      </p:sp>
      <p:sp>
        <p:nvSpPr>
          <p:cNvPr id="23" name="TextBox 22"/>
          <p:cNvSpPr txBox="1"/>
          <p:nvPr/>
        </p:nvSpPr>
        <p:spPr>
          <a:xfrm>
            <a:off x="9966960" y="4105656"/>
            <a:ext cx="2194560" cy="228600"/>
          </a:xfrm>
          <a:prstGeom prst="rect">
            <a:avLst/>
          </a:prstGeom>
          <a:noFill/>
        </p:spPr>
        <p:txBody>
          <a:bodyPr wrap="square" lIns="0" rIns="0" tIns="0" bIns="0" anchor="t">
            <a:spAutoFit/>
          </a:bodyPr>
          <a:lstStyle/>
          <a:p>
            <a:pPr algn="l"/>
            <a:r>
              <a:rPr sz="950" b="0" i="1">
                <a:solidFill>
                  <a:srgbClr val="64748B"/>
                </a:solidFill>
                <a:latin typeface="Consolas"/>
              </a:rPr>
              <a:t>0.504 ceiling</a:t>
            </a:r>
          </a:p>
        </p:txBody>
      </p:sp>
      <p:sp>
        <p:nvSpPr>
          <p:cNvPr id="24" name="TextBox 23"/>
          <p:cNvSpPr txBox="1"/>
          <p:nvPr/>
        </p:nvSpPr>
        <p:spPr>
          <a:xfrm>
            <a:off x="9966960" y="4407407"/>
            <a:ext cx="457200" cy="320040"/>
          </a:xfrm>
          <a:prstGeom prst="rect">
            <a:avLst/>
          </a:prstGeom>
          <a:noFill/>
        </p:spPr>
        <p:txBody>
          <a:bodyPr wrap="square" lIns="0" rIns="0" tIns="0" bIns="0" anchor="t">
            <a:spAutoFit/>
          </a:bodyPr>
          <a:lstStyle/>
          <a:p>
            <a:pPr algn="l"/>
            <a:r>
              <a:rPr sz="1050" b="1" i="0">
                <a:solidFill>
                  <a:srgbClr val="0D9488"/>
                </a:solidFill>
                <a:latin typeface="Calibri"/>
              </a:rPr>
              <a:t>P5</a:t>
            </a:r>
          </a:p>
        </p:txBody>
      </p:sp>
      <p:sp>
        <p:nvSpPr>
          <p:cNvPr id="25" name="TextBox 24"/>
          <p:cNvSpPr txBox="1"/>
          <p:nvPr/>
        </p:nvSpPr>
        <p:spPr>
          <a:xfrm>
            <a:off x="10332720" y="4407407"/>
            <a:ext cx="1828800" cy="320040"/>
          </a:xfrm>
          <a:prstGeom prst="rect">
            <a:avLst/>
          </a:prstGeom>
          <a:noFill/>
        </p:spPr>
        <p:txBody>
          <a:bodyPr wrap="square" lIns="0" rIns="0" tIns="0" bIns="0" anchor="t">
            <a:spAutoFit/>
          </a:bodyPr>
          <a:lstStyle/>
          <a:p>
            <a:pPr algn="l"/>
            <a:r>
              <a:rPr sz="1050" b="1" i="0">
                <a:solidFill>
                  <a:srgbClr val="1E3A5F"/>
                </a:solidFill>
                <a:latin typeface="Calibri"/>
              </a:rPr>
              <a:t>InstanceNorm</a:t>
            </a:r>
          </a:p>
        </p:txBody>
      </p:sp>
      <p:sp>
        <p:nvSpPr>
          <p:cNvPr id="26" name="TextBox 25"/>
          <p:cNvSpPr txBox="1"/>
          <p:nvPr/>
        </p:nvSpPr>
        <p:spPr>
          <a:xfrm>
            <a:off x="9966960" y="4654296"/>
            <a:ext cx="2194560" cy="228600"/>
          </a:xfrm>
          <a:prstGeom prst="rect">
            <a:avLst/>
          </a:prstGeom>
          <a:noFill/>
        </p:spPr>
        <p:txBody>
          <a:bodyPr wrap="square" lIns="0" rIns="0" tIns="0" bIns="0" anchor="t">
            <a:spAutoFit/>
          </a:bodyPr>
          <a:lstStyle/>
          <a:p>
            <a:pPr algn="l"/>
            <a:r>
              <a:rPr sz="950" b="0" i="1">
                <a:solidFill>
                  <a:srgbClr val="64748B"/>
                </a:solidFill>
                <a:latin typeface="Consolas"/>
              </a:rPr>
              <a:t>→ 0.524</a:t>
            </a:r>
          </a:p>
        </p:txBody>
      </p:sp>
      <p:sp>
        <p:nvSpPr>
          <p:cNvPr id="27" name="TextBox 26"/>
          <p:cNvSpPr txBox="1"/>
          <p:nvPr/>
        </p:nvSpPr>
        <p:spPr>
          <a:xfrm>
            <a:off x="9966960" y="4956047"/>
            <a:ext cx="457200" cy="320040"/>
          </a:xfrm>
          <a:prstGeom prst="rect">
            <a:avLst/>
          </a:prstGeom>
          <a:noFill/>
        </p:spPr>
        <p:txBody>
          <a:bodyPr wrap="square" lIns="0" rIns="0" tIns="0" bIns="0" anchor="t">
            <a:spAutoFit/>
          </a:bodyPr>
          <a:lstStyle/>
          <a:p>
            <a:pPr algn="l"/>
            <a:r>
              <a:rPr sz="1050" b="1" i="0">
                <a:solidFill>
                  <a:srgbClr val="0D9488"/>
                </a:solidFill>
                <a:latin typeface="Calibri"/>
              </a:rPr>
              <a:t>P6</a:t>
            </a:r>
          </a:p>
        </p:txBody>
      </p:sp>
      <p:sp>
        <p:nvSpPr>
          <p:cNvPr id="28" name="TextBox 27"/>
          <p:cNvSpPr txBox="1"/>
          <p:nvPr/>
        </p:nvSpPr>
        <p:spPr>
          <a:xfrm>
            <a:off x="10332720" y="4956047"/>
            <a:ext cx="1828800" cy="320040"/>
          </a:xfrm>
          <a:prstGeom prst="rect">
            <a:avLst/>
          </a:prstGeom>
          <a:noFill/>
        </p:spPr>
        <p:txBody>
          <a:bodyPr wrap="square" lIns="0" rIns="0" tIns="0" bIns="0" anchor="t">
            <a:spAutoFit/>
          </a:bodyPr>
          <a:lstStyle/>
          <a:p>
            <a:pPr algn="l"/>
            <a:r>
              <a:rPr sz="1050" b="1" i="0">
                <a:solidFill>
                  <a:srgbClr val="1E3A5F"/>
                </a:solidFill>
                <a:latin typeface="Calibri"/>
              </a:rPr>
              <a:t>Ensembling</a:t>
            </a:r>
          </a:p>
        </p:txBody>
      </p:sp>
      <p:sp>
        <p:nvSpPr>
          <p:cNvPr id="29" name="TextBox 28"/>
          <p:cNvSpPr txBox="1"/>
          <p:nvPr/>
        </p:nvSpPr>
        <p:spPr>
          <a:xfrm>
            <a:off x="9966960" y="5202936"/>
            <a:ext cx="2194560" cy="228600"/>
          </a:xfrm>
          <a:prstGeom prst="rect">
            <a:avLst/>
          </a:prstGeom>
          <a:noFill/>
        </p:spPr>
        <p:txBody>
          <a:bodyPr wrap="square" lIns="0" rIns="0" tIns="0" bIns="0" anchor="t">
            <a:spAutoFit/>
          </a:bodyPr>
          <a:lstStyle/>
          <a:p>
            <a:pPr algn="l"/>
            <a:r>
              <a:rPr sz="950" b="0" i="1">
                <a:solidFill>
                  <a:srgbClr val="64748B"/>
                </a:solidFill>
                <a:latin typeface="Consolas"/>
              </a:rPr>
              <a:t>→ 0.568</a:t>
            </a:r>
          </a:p>
        </p:txBody>
      </p:sp>
      <p:sp>
        <p:nvSpPr>
          <p:cNvPr id="30" name="TextBox 29"/>
          <p:cNvSpPr txBox="1"/>
          <p:nvPr/>
        </p:nvSpPr>
        <p:spPr>
          <a:xfrm>
            <a:off x="9966960" y="5504687"/>
            <a:ext cx="457200" cy="320040"/>
          </a:xfrm>
          <a:prstGeom prst="rect">
            <a:avLst/>
          </a:prstGeom>
          <a:noFill/>
        </p:spPr>
        <p:txBody>
          <a:bodyPr wrap="square" lIns="0" rIns="0" tIns="0" bIns="0" anchor="t">
            <a:spAutoFit/>
          </a:bodyPr>
          <a:lstStyle/>
          <a:p>
            <a:pPr algn="l"/>
            <a:r>
              <a:rPr sz="1050" b="1" i="0">
                <a:solidFill>
                  <a:srgbClr val="0D9488"/>
                </a:solidFill>
                <a:latin typeface="Calibri"/>
              </a:rPr>
              <a:t>P7</a:t>
            </a:r>
          </a:p>
        </p:txBody>
      </p:sp>
      <p:sp>
        <p:nvSpPr>
          <p:cNvPr id="31" name="TextBox 30"/>
          <p:cNvSpPr txBox="1"/>
          <p:nvPr/>
        </p:nvSpPr>
        <p:spPr>
          <a:xfrm>
            <a:off x="10332720" y="5504687"/>
            <a:ext cx="1828800" cy="320040"/>
          </a:xfrm>
          <a:prstGeom prst="rect">
            <a:avLst/>
          </a:prstGeom>
          <a:noFill/>
        </p:spPr>
        <p:txBody>
          <a:bodyPr wrap="square" lIns="0" rIns="0" tIns="0" bIns="0" anchor="t">
            <a:spAutoFit/>
          </a:bodyPr>
          <a:lstStyle/>
          <a:p>
            <a:pPr algn="l"/>
            <a:r>
              <a:rPr sz="1050" b="1" i="0">
                <a:solidFill>
                  <a:srgbClr val="1E3A5F"/>
                </a:solidFill>
                <a:latin typeface="Calibri"/>
              </a:rPr>
              <a:t>IN + lucky seed</a:t>
            </a:r>
          </a:p>
        </p:txBody>
      </p:sp>
      <p:sp>
        <p:nvSpPr>
          <p:cNvPr id="32" name="TextBox 31"/>
          <p:cNvSpPr txBox="1"/>
          <p:nvPr/>
        </p:nvSpPr>
        <p:spPr>
          <a:xfrm>
            <a:off x="9966960" y="5751575"/>
            <a:ext cx="2194560" cy="228600"/>
          </a:xfrm>
          <a:prstGeom prst="rect">
            <a:avLst/>
          </a:prstGeom>
          <a:noFill/>
        </p:spPr>
        <p:txBody>
          <a:bodyPr wrap="square" lIns="0" rIns="0" tIns="0" bIns="0" anchor="t">
            <a:spAutoFit/>
          </a:bodyPr>
          <a:lstStyle/>
          <a:p>
            <a:pPr algn="l"/>
            <a:r>
              <a:rPr sz="950" b="0" i="1">
                <a:solidFill>
                  <a:srgbClr val="64748B"/>
                </a:solidFill>
                <a:latin typeface="Consolas"/>
              </a:rPr>
              <a:t>→ 0.598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0" y="292608"/>
            <a:ext cx="4206240" cy="320040"/>
          </a:xfrm>
          <a:prstGeom prst="rect">
            <a:avLst/>
          </a:prstGeom>
          <a:noFill/>
        </p:spPr>
        <p:txBody>
          <a:bodyPr wrap="square" lIns="0" rIns="0" tIns="0" bIns="0" anchor="t">
            <a:spAutoFit/>
          </a:bodyPr>
          <a:lstStyle/>
          <a:p>
            <a:pPr algn="r"/>
            <a:r>
              <a:rPr sz="1000" b="1" i="0">
                <a:solidFill>
                  <a:srgbClr val="0D9488"/>
                </a:solidFill>
                <a:latin typeface="Calibri"/>
              </a:rPr>
              <a:t>RESULTS</a:t>
            </a:r>
          </a:p>
        </p:txBody>
      </p:sp>
      <p:sp>
        <p:nvSpPr>
          <p:cNvPr id="4" name="Rectangle 3"/>
          <p:cNvSpPr/>
          <p:nvPr/>
        </p:nvSpPr>
        <p:spPr>
          <a:xfrm>
            <a:off x="457200" y="6510528"/>
            <a:ext cx="1127729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65392"/>
            <a:ext cx="9144000" cy="228600"/>
          </a:xfrm>
          <a:prstGeom prst="rect">
            <a:avLst/>
          </a:prstGeom>
          <a:noFill/>
        </p:spPr>
        <p:txBody>
          <a:bodyPr wrap="square" lIns="0" rIns="0" tIns="0" bIns="0" anchor="t">
            <a:spAutoFit/>
          </a:bodyPr>
          <a:lstStyle/>
          <a:p>
            <a:pPr algn="l"/>
            <a:r>
              <a:rPr sz="900" b="0" i="0">
                <a:solidFill>
                  <a:srgbClr val="64748B"/>
                </a:solidFill>
                <a:latin typeface="Calibri"/>
              </a:rPr>
              <a:t>Breast MRI Classification  •  ODELIA 2025  •  TDT4265</a:t>
            </a:r>
          </a:p>
        </p:txBody>
      </p:sp>
      <p:sp>
        <p:nvSpPr>
          <p:cNvPr id="6" name="TextBox 5"/>
          <p:cNvSpPr txBox="1"/>
          <p:nvPr/>
        </p:nvSpPr>
        <p:spPr>
          <a:xfrm>
            <a:off x="10515600" y="6565392"/>
            <a:ext cx="1188720" cy="228600"/>
          </a:xfrm>
          <a:prstGeom prst="rect">
            <a:avLst/>
          </a:prstGeom>
          <a:noFill/>
        </p:spPr>
        <p:txBody>
          <a:bodyPr wrap="square" lIns="0" rIns="0" tIns="0" bIns="0" anchor="t">
            <a:spAutoFit/>
          </a:bodyPr>
          <a:lstStyle/>
          <a:p>
            <a:pPr algn="r"/>
            <a:r>
              <a:rPr sz="900" b="1" i="0">
                <a:solidFill>
                  <a:srgbClr val="64748B"/>
                </a:solidFill>
                <a:latin typeface="Calibri"/>
              </a:rPr>
              <a:t>14 / 18</a:t>
            </a:r>
          </a:p>
        </p:txBody>
      </p:sp>
      <p:sp>
        <p:nvSpPr>
          <p:cNvPr id="7" name="TextBox 6"/>
          <p:cNvSpPr txBox="1"/>
          <p:nvPr/>
        </p:nvSpPr>
        <p:spPr>
          <a:xfrm>
            <a:off x="457200" y="502920"/>
            <a:ext cx="11247120" cy="731520"/>
          </a:xfrm>
          <a:prstGeom prst="rect">
            <a:avLst/>
          </a:prstGeom>
          <a:noFill/>
        </p:spPr>
        <p:txBody>
          <a:bodyPr wrap="square" lIns="0" rIns="0" tIns="0" bIns="0" anchor="t">
            <a:spAutoFit/>
          </a:bodyPr>
          <a:lstStyle/>
          <a:p>
            <a:pPr algn="l"/>
            <a:r>
              <a:rPr sz="3200" b="1" i="0">
                <a:solidFill>
                  <a:srgbClr val="1E3A5F"/>
                </a:solidFill>
                <a:latin typeface="Calibri"/>
              </a:rPr>
              <a:t>Results — Final Model Metrics</a:t>
            </a:r>
          </a:p>
        </p:txBody>
      </p:sp>
      <p:sp>
        <p:nvSpPr>
          <p:cNvPr id="8" name="TextBox 7"/>
          <p:cNvSpPr txBox="1"/>
          <p:nvPr/>
        </p:nvSpPr>
        <p:spPr>
          <a:xfrm>
            <a:off x="457200" y="1143000"/>
            <a:ext cx="11247120" cy="365760"/>
          </a:xfrm>
          <a:prstGeom prst="rect">
            <a:avLst/>
          </a:prstGeom>
          <a:noFill/>
        </p:spPr>
        <p:txBody>
          <a:bodyPr wrap="square" lIns="0" rIns="0" tIns="0" bIns="0" anchor="t">
            <a:spAutoFit/>
          </a:bodyPr>
          <a:lstStyle/>
          <a:p>
            <a:pPr algn="l"/>
            <a:r>
              <a:rPr sz="1500" b="0" i="1">
                <a:solidFill>
                  <a:srgbClr val="64748B"/>
                </a:solidFill>
                <a:latin typeface="Calibri"/>
              </a:rPr>
              <a:t>v17b on the hidden RSH leaderboard (66 unseen-center cases)</a:t>
            </a:r>
          </a:p>
        </p:txBody>
      </p:sp>
      <p:pic>
        <p:nvPicPr>
          <p:cNvPr id="9" name="Picture 8" descr="final_metrics.png"/>
          <p:cNvPicPr>
            <a:picLocks noChangeAspect="1"/>
          </p:cNvPicPr>
          <p:nvPr/>
        </p:nvPicPr>
        <p:blipFill>
          <a:blip r:embed="rId2"/>
          <a:stretch>
            <a:fillRect/>
          </a:stretch>
        </p:blipFill>
        <p:spPr>
          <a:xfrm>
            <a:off x="457200" y="1828800"/>
            <a:ext cx="6400800" cy="4087864"/>
          </a:xfrm>
          <a:prstGeom prst="rect">
            <a:avLst/>
          </a:prstGeom>
        </p:spPr>
      </p:pic>
      <p:sp>
        <p:nvSpPr>
          <p:cNvPr id="10" name="Rectangle 9"/>
          <p:cNvSpPr/>
          <p:nvPr/>
        </p:nvSpPr>
        <p:spPr>
          <a:xfrm>
            <a:off x="7132320" y="1828800"/>
            <a:ext cx="73152" cy="4389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0920" y="1828800"/>
            <a:ext cx="4572000" cy="365760"/>
          </a:xfrm>
          <a:prstGeom prst="rect">
            <a:avLst/>
          </a:prstGeom>
          <a:noFill/>
        </p:spPr>
        <p:txBody>
          <a:bodyPr wrap="square" lIns="0" rIns="0" tIns="0" bIns="0" anchor="t">
            <a:spAutoFit/>
          </a:bodyPr>
          <a:lstStyle/>
          <a:p>
            <a:pPr algn="l"/>
            <a:r>
              <a:rPr sz="1100" b="1" i="0">
                <a:solidFill>
                  <a:srgbClr val="0D9488"/>
                </a:solidFill>
                <a:latin typeface="Calibri"/>
              </a:rPr>
              <a:t>WHAT THE NUMBERS MEAN</a:t>
            </a:r>
          </a:p>
        </p:txBody>
      </p:sp>
      <p:sp>
        <p:nvSpPr>
          <p:cNvPr id="12" name="TextBox 11"/>
          <p:cNvSpPr txBox="1"/>
          <p:nvPr/>
        </p:nvSpPr>
        <p:spPr>
          <a:xfrm>
            <a:off x="7360920" y="2240280"/>
            <a:ext cx="4709160" cy="4114800"/>
          </a:xfrm>
          <a:prstGeom prst="rect">
            <a:avLst/>
          </a:prstGeom>
          <a:noFill/>
        </p:spPr>
        <p:txBody>
          <a:bodyPr wrap="square" lIns="0" rIns="0" tIns="0" bIns="0">
            <a:spAutoFit/>
          </a:bodyPr>
          <a:lstStyle/>
          <a:p>
            <a:pPr algn="l">
              <a:lnSpc>
                <a:spcPct val="135000"/>
              </a:lnSpc>
            </a:pPr>
            <a:r>
              <a:rPr sz="1250" b="1">
                <a:solidFill>
                  <a:srgbClr val="0D9488"/>
                </a:solidFill>
                <a:latin typeface="Calibri"/>
              </a:rPr>
              <a:t>▸  </a:t>
            </a:r>
            <a:r>
              <a:rPr sz="1250" b="1" i="0">
                <a:solidFill>
                  <a:srgbClr val="0D9488"/>
                </a:solidFill>
                <a:latin typeface="Calibri"/>
              </a:rPr>
              <a:t>AUC 0.82 </a:t>
            </a:r>
            <a:r>
              <a:rPr sz="1250" b="0" i="0">
                <a:solidFill>
                  <a:srgbClr val="1E293B"/>
                </a:solidFill>
                <a:latin typeface="Calibri"/>
              </a:rPr>
              <a:t>— strong discriminative power for malignant-vs-other, generalized across scanners.</a:t>
            </a:r>
          </a:p>
          <a:p>
            <a:pPr algn="l">
              <a:lnSpc>
                <a:spcPct val="135000"/>
              </a:lnSpc>
            </a:pPr>
            <a:r>
              <a:rPr sz="1250" b="1">
                <a:solidFill>
                  <a:srgbClr val="0D9488"/>
                </a:solidFill>
                <a:latin typeface="Calibri"/>
              </a:rPr>
              <a:t>▸  </a:t>
            </a:r>
            <a:r>
              <a:rPr sz="1250" b="1" i="0">
                <a:solidFill>
                  <a:srgbClr val="1E293B"/>
                </a:solidFill>
                <a:latin typeface="Calibri"/>
              </a:rPr>
              <a:t>Sens@90%Spec = 0.56 </a:t>
            </a:r>
            <a:r>
              <a:rPr sz="1250" b="0" i="0">
                <a:solidFill>
                  <a:srgbClr val="1E293B"/>
                </a:solidFill>
                <a:latin typeface="Calibri"/>
              </a:rPr>
              <a:t>— model catches 56% of malignant cases while keeping false positives low.</a:t>
            </a:r>
          </a:p>
          <a:p>
            <a:pPr algn="l">
              <a:lnSpc>
                <a:spcPct val="135000"/>
              </a:lnSpc>
            </a:pPr>
            <a:r>
              <a:rPr sz="1250" b="1">
                <a:solidFill>
                  <a:srgbClr val="0D9488"/>
                </a:solidFill>
                <a:latin typeface="Calibri"/>
              </a:rPr>
              <a:t>▸  </a:t>
            </a:r>
            <a:r>
              <a:rPr sz="1250" b="1" i="0">
                <a:solidFill>
                  <a:srgbClr val="D97706"/>
                </a:solidFill>
                <a:latin typeface="Calibri"/>
              </a:rPr>
              <a:t>Spec@90%Sens = 0.41 </a:t>
            </a:r>
            <a:r>
              <a:rPr sz="1250" b="0" i="0">
                <a:solidFill>
                  <a:srgbClr val="1E293B"/>
                </a:solidFill>
                <a:latin typeface="Calibri"/>
              </a:rPr>
              <a:t>— our highest ever. Previous models topped out around 0.22.</a:t>
            </a:r>
          </a:p>
          <a:p>
            <a:pPr algn="l">
              <a:lnSpc>
                <a:spcPct val="135000"/>
              </a:lnSpc>
            </a:pPr>
            <a:r>
              <a:rPr sz="1250" b="1">
                <a:solidFill>
                  <a:srgbClr val="0D9488"/>
                </a:solidFill>
                <a:latin typeface="Calibri"/>
              </a:rPr>
              <a:t>▸  </a:t>
            </a:r>
            <a:r>
              <a:rPr sz="1250" b="1" i="0">
                <a:solidFill>
                  <a:srgbClr val="1E3A5F"/>
                </a:solidFill>
                <a:latin typeface="Calibri"/>
              </a:rPr>
              <a:t>Final score 0.598 </a:t>
            </a:r>
            <a:r>
              <a:rPr sz="1250" b="0" i="0">
                <a:solidFill>
                  <a:srgbClr val="1E293B"/>
                </a:solidFill>
                <a:latin typeface="Calibri"/>
              </a:rPr>
              <a:t>= mean of the three — competitive with top student submissions.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0" y="292608"/>
            <a:ext cx="4206240" cy="320040"/>
          </a:xfrm>
          <a:prstGeom prst="rect">
            <a:avLst/>
          </a:prstGeom>
          <a:noFill/>
        </p:spPr>
        <p:txBody>
          <a:bodyPr wrap="square" lIns="0" rIns="0" tIns="0" bIns="0" anchor="t">
            <a:spAutoFit/>
          </a:bodyPr>
          <a:lstStyle/>
          <a:p>
            <a:pPr algn="r"/>
            <a:r>
              <a:rPr sz="1000" b="1" i="0">
                <a:solidFill>
                  <a:srgbClr val="0D9488"/>
                </a:solidFill>
                <a:latin typeface="Calibri"/>
              </a:rPr>
              <a:t>DISCUSSION</a:t>
            </a:r>
          </a:p>
        </p:txBody>
      </p:sp>
      <p:sp>
        <p:nvSpPr>
          <p:cNvPr id="4" name="Rectangle 3"/>
          <p:cNvSpPr/>
          <p:nvPr/>
        </p:nvSpPr>
        <p:spPr>
          <a:xfrm>
            <a:off x="457200" y="6510528"/>
            <a:ext cx="1127729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65392"/>
            <a:ext cx="9144000" cy="228600"/>
          </a:xfrm>
          <a:prstGeom prst="rect">
            <a:avLst/>
          </a:prstGeom>
          <a:noFill/>
        </p:spPr>
        <p:txBody>
          <a:bodyPr wrap="square" lIns="0" rIns="0" tIns="0" bIns="0" anchor="t">
            <a:spAutoFit/>
          </a:bodyPr>
          <a:lstStyle/>
          <a:p>
            <a:pPr algn="l"/>
            <a:r>
              <a:rPr sz="900" b="0" i="0">
                <a:solidFill>
                  <a:srgbClr val="64748B"/>
                </a:solidFill>
                <a:latin typeface="Calibri"/>
              </a:rPr>
              <a:t>Breast MRI Classification  •  ODELIA 2025  •  TDT4265</a:t>
            </a:r>
          </a:p>
        </p:txBody>
      </p:sp>
      <p:sp>
        <p:nvSpPr>
          <p:cNvPr id="6" name="TextBox 5"/>
          <p:cNvSpPr txBox="1"/>
          <p:nvPr/>
        </p:nvSpPr>
        <p:spPr>
          <a:xfrm>
            <a:off x="10515600" y="6565392"/>
            <a:ext cx="1188720" cy="228600"/>
          </a:xfrm>
          <a:prstGeom prst="rect">
            <a:avLst/>
          </a:prstGeom>
          <a:noFill/>
        </p:spPr>
        <p:txBody>
          <a:bodyPr wrap="square" lIns="0" rIns="0" tIns="0" bIns="0" anchor="t">
            <a:spAutoFit/>
          </a:bodyPr>
          <a:lstStyle/>
          <a:p>
            <a:pPr algn="r"/>
            <a:r>
              <a:rPr sz="900" b="1" i="0">
                <a:solidFill>
                  <a:srgbClr val="64748B"/>
                </a:solidFill>
                <a:latin typeface="Calibri"/>
              </a:rPr>
              <a:t>15 / 18</a:t>
            </a:r>
          </a:p>
        </p:txBody>
      </p:sp>
      <p:sp>
        <p:nvSpPr>
          <p:cNvPr id="7" name="TextBox 6"/>
          <p:cNvSpPr txBox="1"/>
          <p:nvPr/>
        </p:nvSpPr>
        <p:spPr>
          <a:xfrm>
            <a:off x="457200" y="502920"/>
            <a:ext cx="11247120" cy="731520"/>
          </a:xfrm>
          <a:prstGeom prst="rect">
            <a:avLst/>
          </a:prstGeom>
          <a:noFill/>
        </p:spPr>
        <p:txBody>
          <a:bodyPr wrap="square" lIns="0" rIns="0" tIns="0" bIns="0" anchor="t">
            <a:spAutoFit/>
          </a:bodyPr>
          <a:lstStyle/>
          <a:p>
            <a:pPr algn="l"/>
            <a:r>
              <a:rPr sz="3200" b="1" i="0">
                <a:solidFill>
                  <a:srgbClr val="1E3A5F"/>
                </a:solidFill>
                <a:latin typeface="Calibri"/>
              </a:rPr>
              <a:t>Discussion</a:t>
            </a:r>
          </a:p>
        </p:txBody>
      </p:sp>
      <p:sp>
        <p:nvSpPr>
          <p:cNvPr id="8" name="TextBox 7"/>
          <p:cNvSpPr txBox="1"/>
          <p:nvPr/>
        </p:nvSpPr>
        <p:spPr>
          <a:xfrm>
            <a:off x="457200" y="1143000"/>
            <a:ext cx="11247120" cy="365760"/>
          </a:xfrm>
          <a:prstGeom prst="rect">
            <a:avLst/>
          </a:prstGeom>
          <a:noFill/>
        </p:spPr>
        <p:txBody>
          <a:bodyPr wrap="square" lIns="0" rIns="0" tIns="0" bIns="0" anchor="t">
            <a:spAutoFit/>
          </a:bodyPr>
          <a:lstStyle/>
          <a:p>
            <a:pPr algn="l"/>
            <a:r>
              <a:rPr sz="1500" b="0" i="1">
                <a:solidFill>
                  <a:srgbClr val="64748B"/>
                </a:solidFill>
                <a:latin typeface="Calibri"/>
              </a:rPr>
              <a:t>Why validation lies, and why ensembling can hurt</a:t>
            </a:r>
          </a:p>
        </p:txBody>
      </p:sp>
      <p:pic>
        <p:nvPicPr>
          <p:cNvPr id="9" name="Picture 8" descr="val_vs_leaderboard.png"/>
          <p:cNvPicPr>
            <a:picLocks noChangeAspect="1"/>
          </p:cNvPicPr>
          <p:nvPr/>
        </p:nvPicPr>
        <p:blipFill>
          <a:blip r:embed="rId2"/>
          <a:stretch>
            <a:fillRect/>
          </a:stretch>
        </p:blipFill>
        <p:spPr>
          <a:xfrm>
            <a:off x="457200" y="1828800"/>
            <a:ext cx="6217920" cy="3716409"/>
          </a:xfrm>
          <a:prstGeom prst="rect">
            <a:avLst/>
          </a:prstGeom>
        </p:spPr>
      </p:pic>
      <p:sp>
        <p:nvSpPr>
          <p:cNvPr id="10" name="Rectangle 9"/>
          <p:cNvSpPr/>
          <p:nvPr/>
        </p:nvSpPr>
        <p:spPr>
          <a:xfrm>
            <a:off x="6949440" y="1828800"/>
            <a:ext cx="73152" cy="4389120"/>
          </a:xfrm>
          <a:prstGeom prst="rect">
            <a:avLst/>
          </a:prstGeom>
          <a:solidFill>
            <a:srgbClr val="E4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78040" y="1828800"/>
            <a:ext cx="4572000" cy="365760"/>
          </a:xfrm>
          <a:prstGeom prst="rect">
            <a:avLst/>
          </a:prstGeom>
          <a:noFill/>
        </p:spPr>
        <p:txBody>
          <a:bodyPr wrap="square" lIns="0" rIns="0" tIns="0" bIns="0" anchor="t">
            <a:spAutoFit/>
          </a:bodyPr>
          <a:lstStyle/>
          <a:p>
            <a:pPr algn="l"/>
            <a:r>
              <a:rPr sz="1100" b="1" i="0">
                <a:solidFill>
                  <a:srgbClr val="E45B5B"/>
                </a:solidFill>
                <a:latin typeface="Calibri"/>
              </a:rPr>
              <a:t>THE DOMAIN SHIFT PROBLEM</a:t>
            </a:r>
          </a:p>
        </p:txBody>
      </p:sp>
      <p:sp>
        <p:nvSpPr>
          <p:cNvPr id="12" name="TextBox 11"/>
          <p:cNvSpPr txBox="1"/>
          <p:nvPr/>
        </p:nvSpPr>
        <p:spPr>
          <a:xfrm>
            <a:off x="7178040" y="2194560"/>
            <a:ext cx="4846320" cy="4572000"/>
          </a:xfrm>
          <a:prstGeom prst="rect">
            <a:avLst/>
          </a:prstGeom>
          <a:noFill/>
        </p:spPr>
        <p:txBody>
          <a:bodyPr wrap="square" lIns="0" rIns="0" tIns="0" bIns="0">
            <a:spAutoFit/>
          </a:bodyPr>
          <a:lstStyle/>
          <a:p>
            <a:pPr algn="l">
              <a:lnSpc>
                <a:spcPct val="130000"/>
              </a:lnSpc>
            </a:pPr>
            <a:r>
              <a:rPr sz="1150" b="1">
                <a:solidFill>
                  <a:srgbClr val="E45B5B"/>
                </a:solidFill>
                <a:latin typeface="Calibri"/>
              </a:rPr>
              <a:t>▸  </a:t>
            </a:r>
            <a:r>
              <a:rPr sz="1150" b="1" i="0">
                <a:solidFill>
                  <a:srgbClr val="1E293B"/>
                </a:solidFill>
                <a:latin typeface="Calibri"/>
              </a:rPr>
              <a:t>Val ≠ generalization. </a:t>
            </a:r>
            <a:r>
              <a:rPr sz="1150" b="0" i="0">
                <a:solidFill>
                  <a:srgbClr val="1E293B"/>
                </a:solidFill>
                <a:latin typeface="Calibri"/>
              </a:rPr>
              <a:t>v15 had 0.997 val but worst leaderboard (0.466). Near-perfect val can signal overfitting to the training distribution.</a:t>
            </a:r>
          </a:p>
          <a:p>
            <a:pPr algn="l">
              <a:lnSpc>
                <a:spcPct val="130000"/>
              </a:lnSpc>
            </a:pPr>
            <a:r>
              <a:rPr sz="1150" b="1">
                <a:solidFill>
                  <a:srgbClr val="E45B5B"/>
                </a:solidFill>
                <a:latin typeface="Calibri"/>
              </a:rPr>
              <a:t>▸  </a:t>
            </a:r>
            <a:r>
              <a:rPr sz="1150" b="1" i="0">
                <a:solidFill>
                  <a:srgbClr val="1E293B"/>
                </a:solidFill>
                <a:latin typeface="Calibri"/>
              </a:rPr>
              <a:t>Ensembling backfired. </a:t>
            </a:r>
            <a:r>
              <a:rPr sz="1150" b="0" i="0">
                <a:solidFill>
                  <a:srgbClr val="1E293B"/>
                </a:solidFill>
                <a:latin typeface="Calibri"/>
              </a:rPr>
              <a:t>v17b solo (0.598) &gt; any ensemble. When one model dominates, averaging with weaker ones dilutes its specificity.</a:t>
            </a:r>
          </a:p>
          <a:p>
            <a:pPr algn="l">
              <a:lnSpc>
                <a:spcPct val="130000"/>
              </a:lnSpc>
            </a:pPr>
            <a:r>
              <a:rPr sz="1150" b="1">
                <a:solidFill>
                  <a:srgbClr val="E45B5B"/>
                </a:solidFill>
                <a:latin typeface="Calibri"/>
              </a:rPr>
              <a:t>▸  </a:t>
            </a:r>
            <a:r>
              <a:rPr sz="1150" b="1" i="0">
                <a:solidFill>
                  <a:srgbClr val="1E293B"/>
                </a:solidFill>
                <a:latin typeface="Calibri"/>
              </a:rPr>
              <a:t>AdaBN failed with n = 66. </a:t>
            </a:r>
            <a:r>
              <a:rPr sz="1150" b="0" i="0">
                <a:solidFill>
                  <a:srgbClr val="1E293B"/>
                </a:solidFill>
                <a:latin typeface="Calibri"/>
              </a:rPr>
              <a:t>Too few target samples to reliably re-estimate BN statistics.</a:t>
            </a:r>
          </a:p>
          <a:p>
            <a:pPr algn="l">
              <a:lnSpc>
                <a:spcPct val="130000"/>
              </a:lnSpc>
            </a:pPr>
            <a:r>
              <a:rPr sz="1150" b="1">
                <a:solidFill>
                  <a:srgbClr val="E45B5B"/>
                </a:solidFill>
                <a:latin typeface="Calibri"/>
              </a:rPr>
              <a:t>▸  </a:t>
            </a:r>
            <a:r>
              <a:rPr sz="1150" b="1" i="0">
                <a:solidFill>
                  <a:srgbClr val="D97706"/>
                </a:solidFill>
                <a:latin typeface="Calibri"/>
              </a:rPr>
              <a:t>Seed impact is large. </a:t>
            </a:r>
            <a:r>
              <a:rPr sz="1150" b="0" i="0">
                <a:solidFill>
                  <a:srgbClr val="1E293B"/>
                </a:solidFill>
                <a:latin typeface="Calibri"/>
              </a:rPr>
              <a:t>With small data, initialization determines which loss-landscape minimum you land in. Seed=123 consistently found a more robust region.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0" y="292608"/>
            <a:ext cx="4206240" cy="320040"/>
          </a:xfrm>
          <a:prstGeom prst="rect">
            <a:avLst/>
          </a:prstGeom>
          <a:noFill/>
        </p:spPr>
        <p:txBody>
          <a:bodyPr wrap="square" lIns="0" rIns="0" tIns="0" bIns="0" anchor="t">
            <a:spAutoFit/>
          </a:bodyPr>
          <a:lstStyle/>
          <a:p>
            <a:pPr algn="r"/>
            <a:r>
              <a:rPr sz="1000" b="1" i="0">
                <a:solidFill>
                  <a:srgbClr val="0D9488"/>
                </a:solidFill>
                <a:latin typeface="Calibri"/>
              </a:rPr>
              <a:t>KEY LEARNINGS</a:t>
            </a:r>
          </a:p>
        </p:txBody>
      </p:sp>
      <p:sp>
        <p:nvSpPr>
          <p:cNvPr id="4" name="Rectangle 3"/>
          <p:cNvSpPr/>
          <p:nvPr/>
        </p:nvSpPr>
        <p:spPr>
          <a:xfrm>
            <a:off x="457200" y="6510528"/>
            <a:ext cx="1127729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65392"/>
            <a:ext cx="9144000" cy="228600"/>
          </a:xfrm>
          <a:prstGeom prst="rect">
            <a:avLst/>
          </a:prstGeom>
          <a:noFill/>
        </p:spPr>
        <p:txBody>
          <a:bodyPr wrap="square" lIns="0" rIns="0" tIns="0" bIns="0" anchor="t">
            <a:spAutoFit/>
          </a:bodyPr>
          <a:lstStyle/>
          <a:p>
            <a:pPr algn="l"/>
            <a:r>
              <a:rPr sz="900" b="0" i="0">
                <a:solidFill>
                  <a:srgbClr val="64748B"/>
                </a:solidFill>
                <a:latin typeface="Calibri"/>
              </a:rPr>
              <a:t>Breast MRI Classification  •  ODELIA 2025  •  TDT4265</a:t>
            </a:r>
          </a:p>
        </p:txBody>
      </p:sp>
      <p:sp>
        <p:nvSpPr>
          <p:cNvPr id="6" name="TextBox 5"/>
          <p:cNvSpPr txBox="1"/>
          <p:nvPr/>
        </p:nvSpPr>
        <p:spPr>
          <a:xfrm>
            <a:off x="10515600" y="6565392"/>
            <a:ext cx="1188720" cy="228600"/>
          </a:xfrm>
          <a:prstGeom prst="rect">
            <a:avLst/>
          </a:prstGeom>
          <a:noFill/>
        </p:spPr>
        <p:txBody>
          <a:bodyPr wrap="square" lIns="0" rIns="0" tIns="0" bIns="0" anchor="t">
            <a:spAutoFit/>
          </a:bodyPr>
          <a:lstStyle/>
          <a:p>
            <a:pPr algn="r"/>
            <a:r>
              <a:rPr sz="900" b="1" i="0">
                <a:solidFill>
                  <a:srgbClr val="64748B"/>
                </a:solidFill>
                <a:latin typeface="Calibri"/>
              </a:rPr>
              <a:t>16 / 18</a:t>
            </a:r>
          </a:p>
        </p:txBody>
      </p:sp>
      <p:sp>
        <p:nvSpPr>
          <p:cNvPr id="7" name="TextBox 6"/>
          <p:cNvSpPr txBox="1"/>
          <p:nvPr/>
        </p:nvSpPr>
        <p:spPr>
          <a:xfrm>
            <a:off x="457200" y="502920"/>
            <a:ext cx="11247120" cy="731520"/>
          </a:xfrm>
          <a:prstGeom prst="rect">
            <a:avLst/>
          </a:prstGeom>
          <a:noFill/>
        </p:spPr>
        <p:txBody>
          <a:bodyPr wrap="square" lIns="0" rIns="0" tIns="0" bIns="0" anchor="t">
            <a:spAutoFit/>
          </a:bodyPr>
          <a:lstStyle/>
          <a:p>
            <a:pPr algn="l"/>
            <a:r>
              <a:rPr sz="3200" b="1" i="0">
                <a:solidFill>
                  <a:srgbClr val="1E3A5F"/>
                </a:solidFill>
                <a:latin typeface="Calibri"/>
              </a:rPr>
              <a:t>Key Learning Points</a:t>
            </a:r>
          </a:p>
        </p:txBody>
      </p:sp>
      <p:sp>
        <p:nvSpPr>
          <p:cNvPr id="8" name="TextBox 7"/>
          <p:cNvSpPr txBox="1"/>
          <p:nvPr/>
        </p:nvSpPr>
        <p:spPr>
          <a:xfrm>
            <a:off x="457200" y="1143000"/>
            <a:ext cx="11247120" cy="365760"/>
          </a:xfrm>
          <a:prstGeom prst="rect">
            <a:avLst/>
          </a:prstGeom>
          <a:noFill/>
        </p:spPr>
        <p:txBody>
          <a:bodyPr wrap="square" lIns="0" rIns="0" tIns="0" bIns="0" anchor="t">
            <a:spAutoFit/>
          </a:bodyPr>
          <a:lstStyle/>
          <a:p>
            <a:pPr algn="l"/>
            <a:r>
              <a:rPr sz="1500" b="0" i="1">
                <a:solidFill>
                  <a:srgbClr val="64748B"/>
                </a:solidFill>
                <a:latin typeface="Calibri"/>
              </a:rPr>
              <a:t>Five takeaways from building a multi-center medical classifier</a:t>
            </a:r>
          </a:p>
        </p:txBody>
      </p:sp>
      <p:sp>
        <p:nvSpPr>
          <p:cNvPr id="9" name="Rectangle 8"/>
          <p:cNvSpPr/>
          <p:nvPr/>
        </p:nvSpPr>
        <p:spPr>
          <a:xfrm>
            <a:off x="457200" y="1828800"/>
            <a:ext cx="11277295" cy="8229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828800"/>
            <a:ext cx="73152"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965960"/>
            <a:ext cx="914400" cy="640080"/>
          </a:xfrm>
          <a:prstGeom prst="rect">
            <a:avLst/>
          </a:prstGeom>
          <a:noFill/>
        </p:spPr>
        <p:txBody>
          <a:bodyPr wrap="square" lIns="0" rIns="0" tIns="0" bIns="0" anchor="t">
            <a:spAutoFit/>
          </a:bodyPr>
          <a:lstStyle/>
          <a:p>
            <a:pPr algn="l"/>
            <a:r>
              <a:rPr sz="2800" b="1" i="0">
                <a:solidFill>
                  <a:srgbClr val="1E3A5F"/>
                </a:solidFill>
                <a:latin typeface="Calibri"/>
              </a:rPr>
              <a:t>01</a:t>
            </a:r>
          </a:p>
        </p:txBody>
      </p:sp>
      <p:sp>
        <p:nvSpPr>
          <p:cNvPr id="12" name="TextBox 11"/>
          <p:cNvSpPr txBox="1"/>
          <p:nvPr/>
        </p:nvSpPr>
        <p:spPr>
          <a:xfrm>
            <a:off x="1691640" y="1947672"/>
            <a:ext cx="9601200" cy="365760"/>
          </a:xfrm>
          <a:prstGeom prst="rect">
            <a:avLst/>
          </a:prstGeom>
          <a:noFill/>
        </p:spPr>
        <p:txBody>
          <a:bodyPr wrap="square" lIns="0" rIns="0" tIns="0" bIns="0" anchor="t">
            <a:spAutoFit/>
          </a:bodyPr>
          <a:lstStyle/>
          <a:p>
            <a:pPr algn="l"/>
            <a:r>
              <a:rPr sz="1400" b="1" i="0">
                <a:solidFill>
                  <a:srgbClr val="1E3A5F"/>
                </a:solidFill>
                <a:latin typeface="Calibri"/>
              </a:rPr>
              <a:t>Domain generalization is the hard problem</a:t>
            </a:r>
          </a:p>
        </p:txBody>
      </p:sp>
      <p:sp>
        <p:nvSpPr>
          <p:cNvPr id="13" name="TextBox 12"/>
          <p:cNvSpPr txBox="1"/>
          <p:nvPr/>
        </p:nvSpPr>
        <p:spPr>
          <a:xfrm>
            <a:off x="1691640" y="2286000"/>
            <a:ext cx="9601200" cy="411480"/>
          </a:xfrm>
          <a:prstGeom prst="rect">
            <a:avLst/>
          </a:prstGeom>
          <a:noFill/>
        </p:spPr>
        <p:txBody>
          <a:bodyPr wrap="square" lIns="0" rIns="0" tIns="0" bIns="0" anchor="t">
            <a:spAutoFit/>
          </a:bodyPr>
          <a:lstStyle/>
          <a:p>
            <a:pPr algn="l"/>
            <a:r>
              <a:rPr sz="1150" b="0" i="0">
                <a:solidFill>
                  <a:srgbClr val="1E293B"/>
                </a:solidFill>
                <a:latin typeface="Calibri"/>
              </a:rPr>
              <a:t>Achieving 98% val accuracy was easy. Getting 50%+ on RSH (unseen scanner) required rethinking normalization from BN to IN.</a:t>
            </a:r>
          </a:p>
        </p:txBody>
      </p:sp>
      <p:sp>
        <p:nvSpPr>
          <p:cNvPr id="14" name="Rectangle 13"/>
          <p:cNvSpPr/>
          <p:nvPr/>
        </p:nvSpPr>
        <p:spPr>
          <a:xfrm>
            <a:off x="457200" y="2724912"/>
            <a:ext cx="11277295" cy="8229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724912"/>
            <a:ext cx="73152" cy="8229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862072"/>
            <a:ext cx="914400" cy="640080"/>
          </a:xfrm>
          <a:prstGeom prst="rect">
            <a:avLst/>
          </a:prstGeom>
          <a:noFill/>
        </p:spPr>
        <p:txBody>
          <a:bodyPr wrap="square" lIns="0" rIns="0" tIns="0" bIns="0" anchor="t">
            <a:spAutoFit/>
          </a:bodyPr>
          <a:lstStyle/>
          <a:p>
            <a:pPr algn="l"/>
            <a:r>
              <a:rPr sz="2800" b="1" i="0">
                <a:solidFill>
                  <a:srgbClr val="0D9488"/>
                </a:solidFill>
                <a:latin typeface="Calibri"/>
              </a:rPr>
              <a:t>02</a:t>
            </a:r>
          </a:p>
        </p:txBody>
      </p:sp>
      <p:sp>
        <p:nvSpPr>
          <p:cNvPr id="17" name="TextBox 16"/>
          <p:cNvSpPr txBox="1"/>
          <p:nvPr/>
        </p:nvSpPr>
        <p:spPr>
          <a:xfrm>
            <a:off x="1691640" y="2843784"/>
            <a:ext cx="9601200" cy="365760"/>
          </a:xfrm>
          <a:prstGeom prst="rect">
            <a:avLst/>
          </a:prstGeom>
          <a:noFill/>
        </p:spPr>
        <p:txBody>
          <a:bodyPr wrap="square" lIns="0" rIns="0" tIns="0" bIns="0" anchor="t">
            <a:spAutoFit/>
          </a:bodyPr>
          <a:lstStyle/>
          <a:p>
            <a:pPr algn="l"/>
            <a:r>
              <a:rPr sz="1400" b="1" i="0">
                <a:solidFill>
                  <a:srgbClr val="1E3A5F"/>
                </a:solidFill>
                <a:latin typeface="Calibri"/>
              </a:rPr>
              <a:t>EDA-guided iteration beats hyperparameter tuning</a:t>
            </a:r>
          </a:p>
        </p:txBody>
      </p:sp>
      <p:sp>
        <p:nvSpPr>
          <p:cNvPr id="18" name="TextBox 17"/>
          <p:cNvSpPr txBox="1"/>
          <p:nvPr/>
        </p:nvSpPr>
        <p:spPr>
          <a:xfrm>
            <a:off x="1691640" y="3182112"/>
            <a:ext cx="9601200" cy="411480"/>
          </a:xfrm>
          <a:prstGeom prst="rect">
            <a:avLst/>
          </a:prstGeom>
          <a:noFill/>
        </p:spPr>
        <p:txBody>
          <a:bodyPr wrap="square" lIns="0" rIns="0" tIns="0" bIns="0" anchor="t">
            <a:spAutoFit/>
          </a:bodyPr>
          <a:lstStyle/>
          <a:p>
            <a:pPr algn="l"/>
            <a:r>
              <a:rPr sz="1150" b="0" i="0">
                <a:solidFill>
                  <a:srgbClr val="1E293B"/>
                </a:solidFill>
                <a:latin typeface="Calibri"/>
              </a:rPr>
              <a:t>Every version was motivated by a specific failure analysis. The path from 0.117 → 0.598 was NOT random search.</a:t>
            </a:r>
          </a:p>
        </p:txBody>
      </p:sp>
      <p:sp>
        <p:nvSpPr>
          <p:cNvPr id="19" name="Rectangle 18"/>
          <p:cNvSpPr/>
          <p:nvPr/>
        </p:nvSpPr>
        <p:spPr>
          <a:xfrm>
            <a:off x="457200" y="3621024"/>
            <a:ext cx="11277295" cy="8229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621024"/>
            <a:ext cx="73152" cy="8229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758184"/>
            <a:ext cx="914400" cy="640080"/>
          </a:xfrm>
          <a:prstGeom prst="rect">
            <a:avLst/>
          </a:prstGeom>
          <a:noFill/>
        </p:spPr>
        <p:txBody>
          <a:bodyPr wrap="square" lIns="0" rIns="0" tIns="0" bIns="0" anchor="t">
            <a:spAutoFit/>
          </a:bodyPr>
          <a:lstStyle/>
          <a:p>
            <a:pPr algn="l"/>
            <a:r>
              <a:rPr sz="2800" b="1" i="0">
                <a:solidFill>
                  <a:srgbClr val="D97706"/>
                </a:solidFill>
                <a:latin typeface="Calibri"/>
              </a:rPr>
              <a:t>03</a:t>
            </a:r>
          </a:p>
        </p:txBody>
      </p:sp>
      <p:sp>
        <p:nvSpPr>
          <p:cNvPr id="22" name="TextBox 21"/>
          <p:cNvSpPr txBox="1"/>
          <p:nvPr/>
        </p:nvSpPr>
        <p:spPr>
          <a:xfrm>
            <a:off x="1691640" y="3739896"/>
            <a:ext cx="9601200" cy="365760"/>
          </a:xfrm>
          <a:prstGeom prst="rect">
            <a:avLst/>
          </a:prstGeom>
          <a:noFill/>
        </p:spPr>
        <p:txBody>
          <a:bodyPr wrap="square" lIns="0" rIns="0" tIns="0" bIns="0" anchor="t">
            <a:spAutoFit/>
          </a:bodyPr>
          <a:lstStyle/>
          <a:p>
            <a:pPr algn="l"/>
            <a:r>
              <a:rPr sz="1400" b="1" i="0">
                <a:solidFill>
                  <a:srgbClr val="1E3A5F"/>
                </a:solidFill>
                <a:latin typeface="Calibri"/>
              </a:rPr>
              <a:t>Clinical knowledge &gt; architecture</a:t>
            </a:r>
          </a:p>
        </p:txBody>
      </p:sp>
      <p:sp>
        <p:nvSpPr>
          <p:cNvPr id="23" name="TextBox 22"/>
          <p:cNvSpPr txBox="1"/>
          <p:nvPr/>
        </p:nvSpPr>
        <p:spPr>
          <a:xfrm>
            <a:off x="1691640" y="4078224"/>
            <a:ext cx="9601200" cy="411480"/>
          </a:xfrm>
          <a:prstGeom prst="rect">
            <a:avLst/>
          </a:prstGeom>
          <a:noFill/>
        </p:spPr>
        <p:txBody>
          <a:bodyPr wrap="square" lIns="0" rIns="0" tIns="0" bIns="0" anchor="t">
            <a:spAutoFit/>
          </a:bodyPr>
          <a:lstStyle/>
          <a:p>
            <a:pPr algn="l"/>
            <a:r>
              <a:rPr sz="1150" b="0" i="0">
                <a:solidFill>
                  <a:srgbClr val="1E293B"/>
                </a:solidFill>
                <a:latin typeface="Calibri"/>
              </a:rPr>
              <a:t>Switching from 'all 5 sequences' to 'Sub_1 only' (v13) improved leaderboard more than any architecture change.</a:t>
            </a:r>
          </a:p>
        </p:txBody>
      </p:sp>
      <p:sp>
        <p:nvSpPr>
          <p:cNvPr id="24" name="Rectangle 23"/>
          <p:cNvSpPr/>
          <p:nvPr/>
        </p:nvSpPr>
        <p:spPr>
          <a:xfrm>
            <a:off x="457200" y="4517136"/>
            <a:ext cx="11277295" cy="8229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517136"/>
            <a:ext cx="73152" cy="822960"/>
          </a:xfrm>
          <a:prstGeom prst="rect">
            <a:avLst/>
          </a:prstGeom>
          <a:solidFill>
            <a:srgbClr val="E4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654296"/>
            <a:ext cx="914400" cy="640080"/>
          </a:xfrm>
          <a:prstGeom prst="rect">
            <a:avLst/>
          </a:prstGeom>
          <a:noFill/>
        </p:spPr>
        <p:txBody>
          <a:bodyPr wrap="square" lIns="0" rIns="0" tIns="0" bIns="0" anchor="t">
            <a:spAutoFit/>
          </a:bodyPr>
          <a:lstStyle/>
          <a:p>
            <a:pPr algn="l"/>
            <a:r>
              <a:rPr sz="2800" b="1" i="0">
                <a:solidFill>
                  <a:srgbClr val="E45B5B"/>
                </a:solidFill>
                <a:latin typeface="Calibri"/>
              </a:rPr>
              <a:t>04</a:t>
            </a:r>
          </a:p>
        </p:txBody>
      </p:sp>
      <p:sp>
        <p:nvSpPr>
          <p:cNvPr id="27" name="TextBox 26"/>
          <p:cNvSpPr txBox="1"/>
          <p:nvPr/>
        </p:nvSpPr>
        <p:spPr>
          <a:xfrm>
            <a:off x="1691640" y="4636008"/>
            <a:ext cx="9601200" cy="365760"/>
          </a:xfrm>
          <a:prstGeom prst="rect">
            <a:avLst/>
          </a:prstGeom>
          <a:noFill/>
        </p:spPr>
        <p:txBody>
          <a:bodyPr wrap="square" lIns="0" rIns="0" tIns="0" bIns="0" anchor="t">
            <a:spAutoFit/>
          </a:bodyPr>
          <a:lstStyle/>
          <a:p>
            <a:pPr algn="l"/>
            <a:r>
              <a:rPr sz="1400" b="1" i="0">
                <a:solidFill>
                  <a:srgbClr val="1E3A5F"/>
                </a:solidFill>
                <a:latin typeface="Calibri"/>
              </a:rPr>
              <a:t>Validation performance can mislead</a:t>
            </a:r>
          </a:p>
        </p:txBody>
      </p:sp>
      <p:sp>
        <p:nvSpPr>
          <p:cNvPr id="28" name="TextBox 27"/>
          <p:cNvSpPr txBox="1"/>
          <p:nvPr/>
        </p:nvSpPr>
        <p:spPr>
          <a:xfrm>
            <a:off x="1691640" y="4974336"/>
            <a:ext cx="9601200" cy="411480"/>
          </a:xfrm>
          <a:prstGeom prst="rect">
            <a:avLst/>
          </a:prstGeom>
          <a:noFill/>
        </p:spPr>
        <p:txBody>
          <a:bodyPr wrap="square" lIns="0" rIns="0" tIns="0" bIns="0" anchor="t">
            <a:spAutoFit/>
          </a:bodyPr>
          <a:lstStyle/>
          <a:p>
            <a:pPr algn="l"/>
            <a:r>
              <a:rPr sz="1150" b="0" i="0">
                <a:solidFill>
                  <a:srgbClr val="1E293B"/>
                </a:solidFill>
                <a:latin typeface="Calibri"/>
              </a:rPr>
              <a:t>The correlation between val and RSH is weak. A model with lower val (v17b, 0.992) beat one with perfect val (v15, 0.997).</a:t>
            </a:r>
          </a:p>
        </p:txBody>
      </p:sp>
      <p:sp>
        <p:nvSpPr>
          <p:cNvPr id="29" name="Rectangle 28"/>
          <p:cNvSpPr/>
          <p:nvPr/>
        </p:nvSpPr>
        <p:spPr>
          <a:xfrm>
            <a:off x="457200" y="5413248"/>
            <a:ext cx="11277295" cy="8229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5413248"/>
            <a:ext cx="73152"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5550408"/>
            <a:ext cx="914400" cy="640080"/>
          </a:xfrm>
          <a:prstGeom prst="rect">
            <a:avLst/>
          </a:prstGeom>
          <a:noFill/>
        </p:spPr>
        <p:txBody>
          <a:bodyPr wrap="square" lIns="0" rIns="0" tIns="0" bIns="0" anchor="t">
            <a:spAutoFit/>
          </a:bodyPr>
          <a:lstStyle/>
          <a:p>
            <a:pPr algn="l"/>
            <a:r>
              <a:rPr sz="2800" b="1" i="0">
                <a:solidFill>
                  <a:srgbClr val="1E3A5F"/>
                </a:solidFill>
                <a:latin typeface="Calibri"/>
              </a:rPr>
              <a:t>05</a:t>
            </a:r>
          </a:p>
        </p:txBody>
      </p:sp>
      <p:sp>
        <p:nvSpPr>
          <p:cNvPr id="32" name="TextBox 31"/>
          <p:cNvSpPr txBox="1"/>
          <p:nvPr/>
        </p:nvSpPr>
        <p:spPr>
          <a:xfrm>
            <a:off x="1691640" y="5532120"/>
            <a:ext cx="9601200" cy="365760"/>
          </a:xfrm>
          <a:prstGeom prst="rect">
            <a:avLst/>
          </a:prstGeom>
          <a:noFill/>
        </p:spPr>
        <p:txBody>
          <a:bodyPr wrap="square" lIns="0" rIns="0" tIns="0" bIns="0" anchor="t">
            <a:spAutoFit/>
          </a:bodyPr>
          <a:lstStyle/>
          <a:p>
            <a:pPr algn="l"/>
            <a:r>
              <a:rPr sz="1400" b="1" i="0">
                <a:solidFill>
                  <a:srgbClr val="1E3A5F"/>
                </a:solidFill>
                <a:latin typeface="Calibri"/>
              </a:rPr>
              <a:t>Seed matters (with small data)</a:t>
            </a:r>
          </a:p>
        </p:txBody>
      </p:sp>
      <p:sp>
        <p:nvSpPr>
          <p:cNvPr id="33" name="TextBox 32"/>
          <p:cNvSpPr txBox="1"/>
          <p:nvPr/>
        </p:nvSpPr>
        <p:spPr>
          <a:xfrm>
            <a:off x="1691640" y="5870448"/>
            <a:ext cx="9601200" cy="411480"/>
          </a:xfrm>
          <a:prstGeom prst="rect">
            <a:avLst/>
          </a:prstGeom>
          <a:noFill/>
        </p:spPr>
        <p:txBody>
          <a:bodyPr wrap="square" lIns="0" rIns="0" tIns="0" bIns="0" anchor="t">
            <a:spAutoFit/>
          </a:bodyPr>
          <a:lstStyle/>
          <a:p>
            <a:pPr algn="l"/>
            <a:r>
              <a:rPr sz="1150" b="0" i="0">
                <a:solidFill>
                  <a:srgbClr val="1E293B"/>
                </a:solidFill>
                <a:latin typeface="Calibri"/>
              </a:rPr>
              <a:t>+0.07 leaderboard from seed alone, consistent across architectures. Always train multiple seeds; don't trust a single run.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0" y="292608"/>
            <a:ext cx="4206240" cy="320040"/>
          </a:xfrm>
          <a:prstGeom prst="rect">
            <a:avLst/>
          </a:prstGeom>
          <a:noFill/>
        </p:spPr>
        <p:txBody>
          <a:bodyPr wrap="square" lIns="0" rIns="0" tIns="0" bIns="0" anchor="t">
            <a:spAutoFit/>
          </a:bodyPr>
          <a:lstStyle/>
          <a:p>
            <a:pPr algn="r"/>
            <a:r>
              <a:rPr sz="1000" b="1" i="0">
                <a:solidFill>
                  <a:srgbClr val="0D9488"/>
                </a:solidFill>
                <a:latin typeface="Calibri"/>
              </a:rPr>
              <a:t>SUSTAINABILITY</a:t>
            </a:r>
          </a:p>
        </p:txBody>
      </p:sp>
      <p:sp>
        <p:nvSpPr>
          <p:cNvPr id="4" name="Rectangle 3"/>
          <p:cNvSpPr/>
          <p:nvPr/>
        </p:nvSpPr>
        <p:spPr>
          <a:xfrm>
            <a:off x="457200" y="6510528"/>
            <a:ext cx="1127729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65392"/>
            <a:ext cx="9144000" cy="228600"/>
          </a:xfrm>
          <a:prstGeom prst="rect">
            <a:avLst/>
          </a:prstGeom>
          <a:noFill/>
        </p:spPr>
        <p:txBody>
          <a:bodyPr wrap="square" lIns="0" rIns="0" tIns="0" bIns="0" anchor="t">
            <a:spAutoFit/>
          </a:bodyPr>
          <a:lstStyle/>
          <a:p>
            <a:pPr algn="l"/>
            <a:r>
              <a:rPr sz="900" b="0" i="0">
                <a:solidFill>
                  <a:srgbClr val="64748B"/>
                </a:solidFill>
                <a:latin typeface="Calibri"/>
              </a:rPr>
              <a:t>Breast MRI Classification  •  ODELIA 2025  •  TDT4265</a:t>
            </a:r>
          </a:p>
        </p:txBody>
      </p:sp>
      <p:sp>
        <p:nvSpPr>
          <p:cNvPr id="6" name="TextBox 5"/>
          <p:cNvSpPr txBox="1"/>
          <p:nvPr/>
        </p:nvSpPr>
        <p:spPr>
          <a:xfrm>
            <a:off x="10515600" y="6565392"/>
            <a:ext cx="1188720" cy="228600"/>
          </a:xfrm>
          <a:prstGeom prst="rect">
            <a:avLst/>
          </a:prstGeom>
          <a:noFill/>
        </p:spPr>
        <p:txBody>
          <a:bodyPr wrap="square" lIns="0" rIns="0" tIns="0" bIns="0" anchor="t">
            <a:spAutoFit/>
          </a:bodyPr>
          <a:lstStyle/>
          <a:p>
            <a:pPr algn="r"/>
            <a:r>
              <a:rPr sz="900" b="1" i="0">
                <a:solidFill>
                  <a:srgbClr val="64748B"/>
                </a:solidFill>
                <a:latin typeface="Calibri"/>
              </a:rPr>
              <a:t>17 / 18</a:t>
            </a:r>
          </a:p>
        </p:txBody>
      </p:sp>
      <p:sp>
        <p:nvSpPr>
          <p:cNvPr id="7" name="TextBox 6"/>
          <p:cNvSpPr txBox="1"/>
          <p:nvPr/>
        </p:nvSpPr>
        <p:spPr>
          <a:xfrm>
            <a:off x="457200" y="502920"/>
            <a:ext cx="11247120" cy="731520"/>
          </a:xfrm>
          <a:prstGeom prst="rect">
            <a:avLst/>
          </a:prstGeom>
          <a:noFill/>
        </p:spPr>
        <p:txBody>
          <a:bodyPr wrap="square" lIns="0" rIns="0" tIns="0" bIns="0" anchor="t">
            <a:spAutoFit/>
          </a:bodyPr>
          <a:lstStyle/>
          <a:p>
            <a:pPr algn="l"/>
            <a:r>
              <a:rPr sz="3200" b="1" i="0">
                <a:solidFill>
                  <a:srgbClr val="1E3A5F"/>
                </a:solidFill>
                <a:latin typeface="Calibri"/>
              </a:rPr>
              <a:t>Sustainability</a:t>
            </a:r>
          </a:p>
        </p:txBody>
      </p:sp>
      <p:sp>
        <p:nvSpPr>
          <p:cNvPr id="8" name="TextBox 7"/>
          <p:cNvSpPr txBox="1"/>
          <p:nvPr/>
        </p:nvSpPr>
        <p:spPr>
          <a:xfrm>
            <a:off x="457200" y="1143000"/>
            <a:ext cx="11247120" cy="365760"/>
          </a:xfrm>
          <a:prstGeom prst="rect">
            <a:avLst/>
          </a:prstGeom>
          <a:noFill/>
        </p:spPr>
        <p:txBody>
          <a:bodyPr wrap="square" lIns="0" rIns="0" tIns="0" bIns="0" anchor="t">
            <a:spAutoFit/>
          </a:bodyPr>
          <a:lstStyle/>
          <a:p>
            <a:pPr algn="l"/>
            <a:r>
              <a:rPr sz="1500" b="0" i="1">
                <a:solidFill>
                  <a:srgbClr val="64748B"/>
                </a:solidFill>
                <a:latin typeface="Calibri"/>
              </a:rPr>
              <a:t>Total compute energy vs a Tesla Model Y from Trondheim to Oslo</a:t>
            </a:r>
          </a:p>
        </p:txBody>
      </p:sp>
      <p:pic>
        <p:nvPicPr>
          <p:cNvPr id="9" name="Picture 8" descr="sustainability.png"/>
          <p:cNvPicPr>
            <a:picLocks noChangeAspect="1"/>
          </p:cNvPicPr>
          <p:nvPr/>
        </p:nvPicPr>
        <p:blipFill>
          <a:blip r:embed="rId2"/>
          <a:stretch>
            <a:fillRect/>
          </a:stretch>
        </p:blipFill>
        <p:spPr>
          <a:xfrm>
            <a:off x="457200" y="1828800"/>
            <a:ext cx="6583680" cy="3935685"/>
          </a:xfrm>
          <a:prstGeom prst="rect">
            <a:avLst/>
          </a:prstGeom>
        </p:spPr>
      </p:pic>
      <p:sp>
        <p:nvSpPr>
          <p:cNvPr id="10" name="Rectangle 9"/>
          <p:cNvSpPr/>
          <p:nvPr/>
        </p:nvSpPr>
        <p:spPr>
          <a:xfrm>
            <a:off x="7315200" y="1828800"/>
            <a:ext cx="73152" cy="4389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43800" y="1828800"/>
            <a:ext cx="4572000" cy="365760"/>
          </a:xfrm>
          <a:prstGeom prst="rect">
            <a:avLst/>
          </a:prstGeom>
          <a:noFill/>
        </p:spPr>
        <p:txBody>
          <a:bodyPr wrap="square" lIns="0" rIns="0" tIns="0" bIns="0" anchor="t">
            <a:spAutoFit/>
          </a:bodyPr>
          <a:lstStyle/>
          <a:p>
            <a:pPr algn="l"/>
            <a:r>
              <a:rPr sz="1100" b="1" i="0">
                <a:solidFill>
                  <a:srgbClr val="0D9488"/>
                </a:solidFill>
                <a:latin typeface="Calibri"/>
              </a:rPr>
              <a:t>ENERGY ACCOUNTING</a:t>
            </a:r>
          </a:p>
        </p:txBody>
      </p:sp>
      <p:sp>
        <p:nvSpPr>
          <p:cNvPr id="12" name="TextBox 11"/>
          <p:cNvSpPr txBox="1"/>
          <p:nvPr/>
        </p:nvSpPr>
        <p:spPr>
          <a:xfrm>
            <a:off x="7543800" y="2240280"/>
            <a:ext cx="1463040" cy="457200"/>
          </a:xfrm>
          <a:prstGeom prst="rect">
            <a:avLst/>
          </a:prstGeom>
          <a:noFill/>
        </p:spPr>
        <p:txBody>
          <a:bodyPr wrap="square" lIns="0" rIns="0" tIns="0" bIns="0" anchor="t">
            <a:spAutoFit/>
          </a:bodyPr>
          <a:lstStyle/>
          <a:p>
            <a:pPr algn="l"/>
            <a:r>
              <a:rPr sz="2000" b="1" i="0">
                <a:solidFill>
                  <a:srgbClr val="D97706"/>
                </a:solidFill>
                <a:latin typeface="Calibri"/>
              </a:rPr>
              <a:t>~100 h</a:t>
            </a:r>
          </a:p>
        </p:txBody>
      </p:sp>
      <p:sp>
        <p:nvSpPr>
          <p:cNvPr id="13" name="TextBox 12"/>
          <p:cNvSpPr txBox="1"/>
          <p:nvPr/>
        </p:nvSpPr>
        <p:spPr>
          <a:xfrm>
            <a:off x="9098280" y="2304288"/>
            <a:ext cx="3108960" cy="365760"/>
          </a:xfrm>
          <a:prstGeom prst="rect">
            <a:avLst/>
          </a:prstGeom>
          <a:noFill/>
        </p:spPr>
        <p:txBody>
          <a:bodyPr wrap="square" lIns="0" rIns="0" tIns="0" bIns="0" anchor="t">
            <a:spAutoFit/>
          </a:bodyPr>
          <a:lstStyle/>
          <a:p>
            <a:pPr algn="l"/>
            <a:r>
              <a:rPr sz="1150" b="0" i="0">
                <a:solidFill>
                  <a:srgbClr val="1E293B"/>
                </a:solidFill>
                <a:latin typeface="Calibri"/>
              </a:rPr>
              <a:t>A100 wall-clock across ~25 runs</a:t>
            </a:r>
          </a:p>
        </p:txBody>
      </p:sp>
      <p:sp>
        <p:nvSpPr>
          <p:cNvPr id="14" name="TextBox 13"/>
          <p:cNvSpPr txBox="1"/>
          <p:nvPr/>
        </p:nvSpPr>
        <p:spPr>
          <a:xfrm>
            <a:off x="7543800" y="2834640"/>
            <a:ext cx="1463040" cy="457200"/>
          </a:xfrm>
          <a:prstGeom prst="rect">
            <a:avLst/>
          </a:prstGeom>
          <a:noFill/>
        </p:spPr>
        <p:txBody>
          <a:bodyPr wrap="square" lIns="0" rIns="0" tIns="0" bIns="0" anchor="t">
            <a:spAutoFit/>
          </a:bodyPr>
          <a:lstStyle/>
          <a:p>
            <a:pPr algn="l"/>
            <a:r>
              <a:rPr sz="2000" b="1" i="0">
                <a:solidFill>
                  <a:srgbClr val="D97706"/>
                </a:solidFill>
                <a:latin typeface="Calibri"/>
              </a:rPr>
              <a:t>~30 kWh</a:t>
            </a:r>
          </a:p>
        </p:txBody>
      </p:sp>
      <p:sp>
        <p:nvSpPr>
          <p:cNvPr id="15" name="TextBox 14"/>
          <p:cNvSpPr txBox="1"/>
          <p:nvPr/>
        </p:nvSpPr>
        <p:spPr>
          <a:xfrm>
            <a:off x="9098280" y="2898648"/>
            <a:ext cx="3108960" cy="365760"/>
          </a:xfrm>
          <a:prstGeom prst="rect">
            <a:avLst/>
          </a:prstGeom>
          <a:noFill/>
        </p:spPr>
        <p:txBody>
          <a:bodyPr wrap="square" lIns="0" rIns="0" tIns="0" bIns="0" anchor="t">
            <a:spAutoFit/>
          </a:bodyPr>
          <a:lstStyle/>
          <a:p>
            <a:pPr algn="l"/>
            <a:r>
              <a:rPr sz="1150" b="0" i="0">
                <a:solidFill>
                  <a:srgbClr val="1E293B"/>
                </a:solidFill>
                <a:latin typeface="Calibri"/>
              </a:rPr>
              <a:t>total GPU energy (A100 @ 300 W)</a:t>
            </a:r>
          </a:p>
        </p:txBody>
      </p:sp>
      <p:sp>
        <p:nvSpPr>
          <p:cNvPr id="16" name="TextBox 15"/>
          <p:cNvSpPr txBox="1"/>
          <p:nvPr/>
        </p:nvSpPr>
        <p:spPr>
          <a:xfrm>
            <a:off x="7543800" y="3429000"/>
            <a:ext cx="1463040" cy="457200"/>
          </a:xfrm>
          <a:prstGeom prst="rect">
            <a:avLst/>
          </a:prstGeom>
          <a:noFill/>
        </p:spPr>
        <p:txBody>
          <a:bodyPr wrap="square" lIns="0" rIns="0" tIns="0" bIns="0" anchor="t">
            <a:spAutoFit/>
          </a:bodyPr>
          <a:lstStyle/>
          <a:p>
            <a:pPr algn="l"/>
            <a:r>
              <a:rPr sz="2000" b="1" i="0">
                <a:solidFill>
                  <a:srgbClr val="D97706"/>
                </a:solidFill>
                <a:latin typeface="Calibri"/>
              </a:rPr>
              <a:t>~176 km</a:t>
            </a:r>
          </a:p>
        </p:txBody>
      </p:sp>
      <p:sp>
        <p:nvSpPr>
          <p:cNvPr id="17" name="TextBox 16"/>
          <p:cNvSpPr txBox="1"/>
          <p:nvPr/>
        </p:nvSpPr>
        <p:spPr>
          <a:xfrm>
            <a:off x="9098280" y="3493008"/>
            <a:ext cx="3108960" cy="365760"/>
          </a:xfrm>
          <a:prstGeom prst="rect">
            <a:avLst/>
          </a:prstGeom>
          <a:noFill/>
        </p:spPr>
        <p:txBody>
          <a:bodyPr wrap="square" lIns="0" rIns="0" tIns="0" bIns="0" anchor="t">
            <a:spAutoFit/>
          </a:bodyPr>
          <a:lstStyle/>
          <a:p>
            <a:pPr algn="l"/>
            <a:r>
              <a:rPr sz="1150" b="0" i="0">
                <a:solidFill>
                  <a:srgbClr val="1E293B"/>
                </a:solidFill>
                <a:latin typeface="Calibri"/>
              </a:rPr>
              <a:t>Tesla Model Y range (0.17 kWh/km)</a:t>
            </a:r>
          </a:p>
        </p:txBody>
      </p:sp>
      <p:sp>
        <p:nvSpPr>
          <p:cNvPr id="18" name="TextBox 17"/>
          <p:cNvSpPr txBox="1"/>
          <p:nvPr/>
        </p:nvSpPr>
        <p:spPr>
          <a:xfrm>
            <a:off x="7543800" y="4023360"/>
            <a:ext cx="1463040" cy="457200"/>
          </a:xfrm>
          <a:prstGeom prst="rect">
            <a:avLst/>
          </a:prstGeom>
          <a:noFill/>
        </p:spPr>
        <p:txBody>
          <a:bodyPr wrap="square" lIns="0" rIns="0" tIns="0" bIns="0" anchor="t">
            <a:spAutoFit/>
          </a:bodyPr>
          <a:lstStyle/>
          <a:p>
            <a:pPr algn="l"/>
            <a:r>
              <a:rPr sz="2000" b="1" i="0">
                <a:solidFill>
                  <a:srgbClr val="D97706"/>
                </a:solidFill>
                <a:latin typeface="Calibri"/>
              </a:rPr>
              <a:t>35 %</a:t>
            </a:r>
          </a:p>
        </p:txBody>
      </p:sp>
      <p:sp>
        <p:nvSpPr>
          <p:cNvPr id="19" name="TextBox 18"/>
          <p:cNvSpPr txBox="1"/>
          <p:nvPr/>
        </p:nvSpPr>
        <p:spPr>
          <a:xfrm>
            <a:off x="9098280" y="4087368"/>
            <a:ext cx="3108960" cy="365760"/>
          </a:xfrm>
          <a:prstGeom prst="rect">
            <a:avLst/>
          </a:prstGeom>
          <a:noFill/>
        </p:spPr>
        <p:txBody>
          <a:bodyPr wrap="square" lIns="0" rIns="0" tIns="0" bIns="0" anchor="t">
            <a:spAutoFit/>
          </a:bodyPr>
          <a:lstStyle/>
          <a:p>
            <a:pPr algn="l"/>
            <a:r>
              <a:rPr sz="1150" b="0" i="0">
                <a:solidFill>
                  <a:srgbClr val="1E293B"/>
                </a:solidFill>
                <a:latin typeface="Calibri"/>
              </a:rPr>
              <a:t>of the Trondheim → Oslo drive (~500 km)</a:t>
            </a:r>
          </a:p>
        </p:txBody>
      </p:sp>
      <p:sp>
        <p:nvSpPr>
          <p:cNvPr id="20" name="Rectangle 19"/>
          <p:cNvSpPr/>
          <p:nvPr/>
        </p:nvSpPr>
        <p:spPr>
          <a:xfrm>
            <a:off x="7543800" y="4937760"/>
            <a:ext cx="4480560" cy="12801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26679" y="5029200"/>
            <a:ext cx="4206240" cy="320040"/>
          </a:xfrm>
          <a:prstGeom prst="rect">
            <a:avLst/>
          </a:prstGeom>
          <a:noFill/>
        </p:spPr>
        <p:txBody>
          <a:bodyPr wrap="square" lIns="0" rIns="0" tIns="0" bIns="0" anchor="t">
            <a:spAutoFit/>
          </a:bodyPr>
          <a:lstStyle/>
          <a:p>
            <a:pPr algn="l"/>
            <a:r>
              <a:rPr sz="1000" b="1" i="0">
                <a:solidFill>
                  <a:srgbClr val="D97706"/>
                </a:solidFill>
                <a:latin typeface="Calibri"/>
              </a:rPr>
              <a:t>TAKEAWAY</a:t>
            </a:r>
          </a:p>
        </p:txBody>
      </p:sp>
      <p:sp>
        <p:nvSpPr>
          <p:cNvPr id="22" name="TextBox 21"/>
          <p:cNvSpPr txBox="1"/>
          <p:nvPr/>
        </p:nvSpPr>
        <p:spPr>
          <a:xfrm>
            <a:off x="7726679" y="5303520"/>
            <a:ext cx="4206240" cy="822960"/>
          </a:xfrm>
          <a:prstGeom prst="rect">
            <a:avLst/>
          </a:prstGeom>
          <a:noFill/>
        </p:spPr>
        <p:txBody>
          <a:bodyPr wrap="square" lIns="0" rIns="0" tIns="0" bIns="0" anchor="t">
            <a:spAutoFit/>
          </a:bodyPr>
          <a:lstStyle/>
          <a:p>
            <a:pPr algn="l"/>
            <a:r>
              <a:rPr sz="1150" b="0" i="1">
                <a:solidFill>
                  <a:srgbClr val="1E293B"/>
                </a:solidFill>
                <a:latin typeface="Calibri"/>
              </a:rPr>
              <a:t>The full model-development journey cost about as much energy as driving a third of the way to Oslo — modest, but non-trivial when scaled to clinical deployment.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0" y="292608"/>
            <a:ext cx="4206240" cy="320040"/>
          </a:xfrm>
          <a:prstGeom prst="rect">
            <a:avLst/>
          </a:prstGeom>
          <a:noFill/>
        </p:spPr>
        <p:txBody>
          <a:bodyPr wrap="square" lIns="0" rIns="0" tIns="0" bIns="0" anchor="t">
            <a:spAutoFit/>
          </a:bodyPr>
          <a:lstStyle/>
          <a:p>
            <a:pPr algn="r"/>
            <a:r>
              <a:rPr sz="1000" b="1" i="0">
                <a:solidFill>
                  <a:srgbClr val="0D9488"/>
                </a:solidFill>
                <a:latin typeface="Calibri"/>
              </a:rPr>
              <a:t>REFERENCES</a:t>
            </a:r>
          </a:p>
        </p:txBody>
      </p:sp>
      <p:sp>
        <p:nvSpPr>
          <p:cNvPr id="4" name="Rectangle 3"/>
          <p:cNvSpPr/>
          <p:nvPr/>
        </p:nvSpPr>
        <p:spPr>
          <a:xfrm>
            <a:off x="457200" y="6510528"/>
            <a:ext cx="1127729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65392"/>
            <a:ext cx="9144000" cy="228600"/>
          </a:xfrm>
          <a:prstGeom prst="rect">
            <a:avLst/>
          </a:prstGeom>
          <a:noFill/>
        </p:spPr>
        <p:txBody>
          <a:bodyPr wrap="square" lIns="0" rIns="0" tIns="0" bIns="0" anchor="t">
            <a:spAutoFit/>
          </a:bodyPr>
          <a:lstStyle/>
          <a:p>
            <a:pPr algn="l"/>
            <a:r>
              <a:rPr sz="900" b="0" i="0">
                <a:solidFill>
                  <a:srgbClr val="64748B"/>
                </a:solidFill>
                <a:latin typeface="Calibri"/>
              </a:rPr>
              <a:t>Breast MRI Classification  •  ODELIA 2025  •  TDT4265</a:t>
            </a:r>
          </a:p>
        </p:txBody>
      </p:sp>
      <p:sp>
        <p:nvSpPr>
          <p:cNvPr id="6" name="TextBox 5"/>
          <p:cNvSpPr txBox="1"/>
          <p:nvPr/>
        </p:nvSpPr>
        <p:spPr>
          <a:xfrm>
            <a:off x="10515600" y="6565392"/>
            <a:ext cx="1188720" cy="228600"/>
          </a:xfrm>
          <a:prstGeom prst="rect">
            <a:avLst/>
          </a:prstGeom>
          <a:noFill/>
        </p:spPr>
        <p:txBody>
          <a:bodyPr wrap="square" lIns="0" rIns="0" tIns="0" bIns="0" anchor="t">
            <a:spAutoFit/>
          </a:bodyPr>
          <a:lstStyle/>
          <a:p>
            <a:pPr algn="r"/>
            <a:r>
              <a:rPr sz="900" b="1" i="0">
                <a:solidFill>
                  <a:srgbClr val="64748B"/>
                </a:solidFill>
                <a:latin typeface="Calibri"/>
              </a:rPr>
              <a:t>18 / 18</a:t>
            </a:r>
          </a:p>
        </p:txBody>
      </p:sp>
      <p:sp>
        <p:nvSpPr>
          <p:cNvPr id="7" name="TextBox 6"/>
          <p:cNvSpPr txBox="1"/>
          <p:nvPr/>
        </p:nvSpPr>
        <p:spPr>
          <a:xfrm>
            <a:off x="457200" y="502920"/>
            <a:ext cx="11247120" cy="731520"/>
          </a:xfrm>
          <a:prstGeom prst="rect">
            <a:avLst/>
          </a:prstGeom>
          <a:noFill/>
        </p:spPr>
        <p:txBody>
          <a:bodyPr wrap="square" lIns="0" rIns="0" tIns="0" bIns="0" anchor="t">
            <a:spAutoFit/>
          </a:bodyPr>
          <a:lstStyle/>
          <a:p>
            <a:pPr algn="l"/>
            <a:r>
              <a:rPr sz="3200" b="1" i="0">
                <a:solidFill>
                  <a:srgbClr val="1E3A5F"/>
                </a:solidFill>
                <a:latin typeface="Calibri"/>
              </a:rPr>
              <a:t>References</a:t>
            </a:r>
          </a:p>
        </p:txBody>
      </p:sp>
      <p:sp>
        <p:nvSpPr>
          <p:cNvPr id="8" name="TextBox 7"/>
          <p:cNvSpPr txBox="1"/>
          <p:nvPr/>
        </p:nvSpPr>
        <p:spPr>
          <a:xfrm>
            <a:off x="457200" y="1143000"/>
            <a:ext cx="11247120" cy="365760"/>
          </a:xfrm>
          <a:prstGeom prst="rect">
            <a:avLst/>
          </a:prstGeom>
          <a:noFill/>
        </p:spPr>
        <p:txBody>
          <a:bodyPr wrap="square" lIns="0" rIns="0" tIns="0" bIns="0" anchor="t">
            <a:spAutoFit/>
          </a:bodyPr>
          <a:lstStyle/>
          <a:p>
            <a:pPr algn="l"/>
            <a:r>
              <a:rPr sz="1500" b="0" i="1">
                <a:solidFill>
                  <a:srgbClr val="64748B"/>
                </a:solidFill>
                <a:latin typeface="Calibri"/>
              </a:rPr>
              <a:t>Challenge, dataset, frameworks, and key papers</a:t>
            </a:r>
          </a:p>
        </p:txBody>
      </p:sp>
      <p:sp>
        <p:nvSpPr>
          <p:cNvPr id="9" name="Rectangle 8"/>
          <p:cNvSpPr/>
          <p:nvPr/>
        </p:nvSpPr>
        <p:spPr>
          <a:xfrm>
            <a:off x="457200" y="1783080"/>
            <a:ext cx="73152" cy="1207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83080"/>
            <a:ext cx="10972800" cy="320040"/>
          </a:xfrm>
          <a:prstGeom prst="rect">
            <a:avLst/>
          </a:prstGeom>
          <a:noFill/>
        </p:spPr>
        <p:txBody>
          <a:bodyPr wrap="square" lIns="0" rIns="0" tIns="0" bIns="0" anchor="t">
            <a:spAutoFit/>
          </a:bodyPr>
          <a:lstStyle/>
          <a:p>
            <a:pPr algn="l"/>
            <a:r>
              <a:rPr sz="1100" b="1" i="0">
                <a:solidFill>
                  <a:srgbClr val="0D9488"/>
                </a:solidFill>
                <a:latin typeface="Calibri"/>
              </a:rPr>
              <a:t>CHALLENGE &amp; DATASET</a:t>
            </a:r>
          </a:p>
        </p:txBody>
      </p:sp>
      <p:sp>
        <p:nvSpPr>
          <p:cNvPr id="11" name="TextBox 10"/>
          <p:cNvSpPr txBox="1"/>
          <p:nvPr/>
        </p:nvSpPr>
        <p:spPr>
          <a:xfrm>
            <a:off x="868680" y="2103120"/>
            <a:ext cx="10972800" cy="274320"/>
          </a:xfrm>
          <a:prstGeom prst="rect">
            <a:avLst/>
          </a:prstGeom>
          <a:noFill/>
        </p:spPr>
        <p:txBody>
          <a:bodyPr wrap="square" lIns="0" rIns="0" tIns="0" bIns="0" anchor="t">
            <a:spAutoFit/>
          </a:bodyPr>
          <a:lstStyle/>
          <a:p>
            <a:pPr algn="l"/>
            <a:r>
              <a:rPr sz="1150" b="0" i="0">
                <a:solidFill>
                  <a:srgbClr val="1E293B"/>
                </a:solidFill>
                <a:latin typeface="Calibri"/>
              </a:rPr>
              <a:t>•  ODELIA Challenge 2025  —  odelia2025.grand-challenge.org</a:t>
            </a:r>
          </a:p>
        </p:txBody>
      </p:sp>
      <p:sp>
        <p:nvSpPr>
          <p:cNvPr id="12" name="TextBox 11"/>
          <p:cNvSpPr txBox="1"/>
          <p:nvPr/>
        </p:nvSpPr>
        <p:spPr>
          <a:xfrm>
            <a:off x="868680" y="2377439"/>
            <a:ext cx="10972800" cy="274320"/>
          </a:xfrm>
          <a:prstGeom prst="rect">
            <a:avLst/>
          </a:prstGeom>
          <a:noFill/>
        </p:spPr>
        <p:txBody>
          <a:bodyPr wrap="square" lIns="0" rIns="0" tIns="0" bIns="0" anchor="t">
            <a:spAutoFit/>
          </a:bodyPr>
          <a:lstStyle/>
          <a:p>
            <a:pPr algn="l"/>
            <a:r>
              <a:rPr sz="1150" b="0" i="0">
                <a:solidFill>
                  <a:srgbClr val="1E293B"/>
                </a:solidFill>
                <a:latin typeface="Calibri"/>
              </a:rPr>
              <a:t>•  ODELIA Consortium  —  odelia.ai</a:t>
            </a:r>
          </a:p>
        </p:txBody>
      </p:sp>
      <p:sp>
        <p:nvSpPr>
          <p:cNvPr id="13" name="TextBox 12"/>
          <p:cNvSpPr txBox="1"/>
          <p:nvPr/>
        </p:nvSpPr>
        <p:spPr>
          <a:xfrm>
            <a:off x="868680" y="2651760"/>
            <a:ext cx="10972800" cy="274320"/>
          </a:xfrm>
          <a:prstGeom prst="rect">
            <a:avLst/>
          </a:prstGeom>
          <a:noFill/>
        </p:spPr>
        <p:txBody>
          <a:bodyPr wrap="square" lIns="0" rIns="0" tIns="0" bIns="0" anchor="t">
            <a:spAutoFit/>
          </a:bodyPr>
          <a:lstStyle/>
          <a:p>
            <a:pPr algn="l"/>
            <a:r>
              <a:rPr sz="1150" b="0" i="0">
                <a:solidFill>
                  <a:srgbClr val="1E293B"/>
                </a:solidFill>
                <a:latin typeface="Calibri"/>
              </a:rPr>
              <a:t>•  A European Multi-Center Breast Cancer MRI Dataset  —  arXiv:2506.00474</a:t>
            </a:r>
          </a:p>
        </p:txBody>
      </p:sp>
      <p:sp>
        <p:nvSpPr>
          <p:cNvPr id="14" name="Rectangle 13"/>
          <p:cNvSpPr/>
          <p:nvPr/>
        </p:nvSpPr>
        <p:spPr>
          <a:xfrm>
            <a:off x="457200" y="3127248"/>
            <a:ext cx="73152" cy="12070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127248"/>
            <a:ext cx="10972800" cy="320040"/>
          </a:xfrm>
          <a:prstGeom prst="rect">
            <a:avLst/>
          </a:prstGeom>
          <a:noFill/>
        </p:spPr>
        <p:txBody>
          <a:bodyPr wrap="square" lIns="0" rIns="0" tIns="0" bIns="0" anchor="t">
            <a:spAutoFit/>
          </a:bodyPr>
          <a:lstStyle/>
          <a:p>
            <a:pPr algn="l"/>
            <a:r>
              <a:rPr sz="1100" b="1" i="0">
                <a:solidFill>
                  <a:srgbClr val="D97706"/>
                </a:solidFill>
                <a:latin typeface="Calibri"/>
              </a:rPr>
              <a:t>METHODS &amp; FRAMEWORKS</a:t>
            </a:r>
          </a:p>
        </p:txBody>
      </p:sp>
      <p:sp>
        <p:nvSpPr>
          <p:cNvPr id="16" name="TextBox 15"/>
          <p:cNvSpPr txBox="1"/>
          <p:nvPr/>
        </p:nvSpPr>
        <p:spPr>
          <a:xfrm>
            <a:off x="868680" y="3447288"/>
            <a:ext cx="10972800" cy="274320"/>
          </a:xfrm>
          <a:prstGeom prst="rect">
            <a:avLst/>
          </a:prstGeom>
          <a:noFill/>
        </p:spPr>
        <p:txBody>
          <a:bodyPr wrap="square" lIns="0" rIns="0" tIns="0" bIns="0" anchor="t">
            <a:spAutoFit/>
          </a:bodyPr>
          <a:lstStyle/>
          <a:p>
            <a:pPr algn="l"/>
            <a:r>
              <a:rPr sz="1150" b="0" i="0">
                <a:solidFill>
                  <a:srgbClr val="1E293B"/>
                </a:solidFill>
                <a:latin typeface="Calibri"/>
              </a:rPr>
              <a:t>•  MONAI: Medical Open Network for AI  —  monai.io</a:t>
            </a:r>
          </a:p>
        </p:txBody>
      </p:sp>
      <p:sp>
        <p:nvSpPr>
          <p:cNvPr id="17" name="TextBox 16"/>
          <p:cNvSpPr txBox="1"/>
          <p:nvPr/>
        </p:nvSpPr>
        <p:spPr>
          <a:xfrm>
            <a:off x="868680" y="3721608"/>
            <a:ext cx="10972800" cy="274320"/>
          </a:xfrm>
          <a:prstGeom prst="rect">
            <a:avLst/>
          </a:prstGeom>
          <a:noFill/>
        </p:spPr>
        <p:txBody>
          <a:bodyPr wrap="square" lIns="0" rIns="0" tIns="0" bIns="0" anchor="t">
            <a:spAutoFit/>
          </a:bodyPr>
          <a:lstStyle/>
          <a:p>
            <a:pPr algn="l"/>
            <a:r>
              <a:rPr sz="1150" b="0" i="0">
                <a:solidFill>
                  <a:srgbClr val="1E293B"/>
                </a:solidFill>
                <a:latin typeface="Calibri"/>
              </a:rPr>
              <a:t>•  Tencent MedicalNet: 3D pretrained ResNet for medical imaging (2019)</a:t>
            </a:r>
          </a:p>
        </p:txBody>
      </p:sp>
      <p:sp>
        <p:nvSpPr>
          <p:cNvPr id="18" name="TextBox 17"/>
          <p:cNvSpPr txBox="1"/>
          <p:nvPr/>
        </p:nvSpPr>
        <p:spPr>
          <a:xfrm>
            <a:off x="868680" y="3995928"/>
            <a:ext cx="10972800" cy="274320"/>
          </a:xfrm>
          <a:prstGeom prst="rect">
            <a:avLst/>
          </a:prstGeom>
          <a:noFill/>
        </p:spPr>
        <p:txBody>
          <a:bodyPr wrap="square" lIns="0" rIns="0" tIns="0" bIns="0" anchor="t">
            <a:spAutoFit/>
          </a:bodyPr>
          <a:lstStyle/>
          <a:p>
            <a:pPr algn="l"/>
            <a:r>
              <a:rPr sz="1150" b="0" i="0">
                <a:solidFill>
                  <a:srgbClr val="1E293B"/>
                </a:solidFill>
                <a:latin typeface="Calibri"/>
              </a:rPr>
              <a:t>•  Guo et al., On Calibration of Modern Neural Networks  —  ICML 2017</a:t>
            </a:r>
          </a:p>
        </p:txBody>
      </p:sp>
      <p:sp>
        <p:nvSpPr>
          <p:cNvPr id="19" name="Rectangle 18"/>
          <p:cNvSpPr/>
          <p:nvPr/>
        </p:nvSpPr>
        <p:spPr>
          <a:xfrm>
            <a:off x="457200" y="4471416"/>
            <a:ext cx="73152" cy="9326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471416"/>
            <a:ext cx="10972800" cy="320040"/>
          </a:xfrm>
          <a:prstGeom prst="rect">
            <a:avLst/>
          </a:prstGeom>
          <a:noFill/>
        </p:spPr>
        <p:txBody>
          <a:bodyPr wrap="square" lIns="0" rIns="0" tIns="0" bIns="0" anchor="t">
            <a:spAutoFit/>
          </a:bodyPr>
          <a:lstStyle/>
          <a:p>
            <a:pPr algn="l"/>
            <a:r>
              <a:rPr sz="1100" b="1" i="0">
                <a:solidFill>
                  <a:srgbClr val="1E3A5F"/>
                </a:solidFill>
                <a:latin typeface="Calibri"/>
              </a:rPr>
              <a:t>RELATED WORK (ODELIA ENTRIES)</a:t>
            </a:r>
          </a:p>
        </p:txBody>
      </p:sp>
      <p:sp>
        <p:nvSpPr>
          <p:cNvPr id="21" name="TextBox 20"/>
          <p:cNvSpPr txBox="1"/>
          <p:nvPr/>
        </p:nvSpPr>
        <p:spPr>
          <a:xfrm>
            <a:off x="868680" y="4791455"/>
            <a:ext cx="10972800" cy="274320"/>
          </a:xfrm>
          <a:prstGeom prst="rect">
            <a:avLst/>
          </a:prstGeom>
          <a:noFill/>
        </p:spPr>
        <p:txBody>
          <a:bodyPr wrap="square" lIns="0" rIns="0" tIns="0" bIns="0" anchor="t">
            <a:spAutoFit/>
          </a:bodyPr>
          <a:lstStyle/>
          <a:p>
            <a:pPr algn="l"/>
            <a:r>
              <a:rPr sz="1150" b="0" i="0">
                <a:solidFill>
                  <a:srgbClr val="1E293B"/>
                </a:solidFill>
                <a:latin typeface="Calibri"/>
              </a:rPr>
              <a:t>•  MeisenMeister — two-stage breast seg + classification  —  arXiv:2510.27326</a:t>
            </a:r>
          </a:p>
        </p:txBody>
      </p:sp>
      <p:sp>
        <p:nvSpPr>
          <p:cNvPr id="22" name="TextBox 21"/>
          <p:cNvSpPr txBox="1"/>
          <p:nvPr/>
        </p:nvSpPr>
        <p:spPr>
          <a:xfrm>
            <a:off x="868680" y="5065775"/>
            <a:ext cx="10972800" cy="274320"/>
          </a:xfrm>
          <a:prstGeom prst="rect">
            <a:avLst/>
          </a:prstGeom>
          <a:noFill/>
        </p:spPr>
        <p:txBody>
          <a:bodyPr wrap="square" lIns="0" rIns="0" tIns="0" bIns="0" anchor="t">
            <a:spAutoFit/>
          </a:bodyPr>
          <a:lstStyle/>
          <a:p>
            <a:pPr algn="l"/>
            <a:r>
              <a:rPr sz="1150" b="0" i="0">
                <a:solidFill>
                  <a:srgbClr val="1E293B"/>
                </a:solidFill>
                <a:latin typeface="Calibri"/>
              </a:rPr>
              <a:t>•  Mask-Guided SwinUNETR for breast MRI classification  —  arXiv:2508.20621</a:t>
            </a:r>
          </a:p>
        </p:txBody>
      </p:sp>
      <p:sp>
        <p:nvSpPr>
          <p:cNvPr id="23" name="Rectangle 22"/>
          <p:cNvSpPr/>
          <p:nvPr/>
        </p:nvSpPr>
        <p:spPr>
          <a:xfrm>
            <a:off x="457200" y="5541264"/>
            <a:ext cx="73152" cy="932688"/>
          </a:xfrm>
          <a:prstGeom prst="rect">
            <a:avLst/>
          </a:prstGeom>
          <a:solidFill>
            <a:srgbClr val="E4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541264"/>
            <a:ext cx="10972800" cy="320040"/>
          </a:xfrm>
          <a:prstGeom prst="rect">
            <a:avLst/>
          </a:prstGeom>
          <a:noFill/>
        </p:spPr>
        <p:txBody>
          <a:bodyPr wrap="square" lIns="0" rIns="0" tIns="0" bIns="0" anchor="t">
            <a:spAutoFit/>
          </a:bodyPr>
          <a:lstStyle/>
          <a:p>
            <a:pPr algn="l"/>
            <a:r>
              <a:rPr sz="1100" b="1" i="0">
                <a:solidFill>
                  <a:srgbClr val="E45B5B"/>
                </a:solidFill>
                <a:latin typeface="Calibri"/>
              </a:rPr>
              <a:t>COURSE RESOURCES</a:t>
            </a:r>
          </a:p>
        </p:txBody>
      </p:sp>
      <p:sp>
        <p:nvSpPr>
          <p:cNvPr id="25" name="TextBox 24"/>
          <p:cNvSpPr txBox="1"/>
          <p:nvPr/>
        </p:nvSpPr>
        <p:spPr>
          <a:xfrm>
            <a:off x="868680" y="5861303"/>
            <a:ext cx="10972800" cy="274320"/>
          </a:xfrm>
          <a:prstGeom prst="rect">
            <a:avLst/>
          </a:prstGeom>
          <a:noFill/>
        </p:spPr>
        <p:txBody>
          <a:bodyPr wrap="square" lIns="0" rIns="0" tIns="0" bIns="0" anchor="t">
            <a:spAutoFit/>
          </a:bodyPr>
          <a:lstStyle/>
          <a:p>
            <a:pPr algn="l"/>
            <a:r>
              <a:rPr sz="1150" b="0" i="0">
                <a:solidFill>
                  <a:srgbClr val="1E293B"/>
                </a:solidFill>
                <a:latin typeface="Calibri"/>
              </a:rPr>
              <a:t>•  TDT4265 Mini-Project brief — NTNU (Frank Lindseth)</a:t>
            </a:r>
          </a:p>
        </p:txBody>
      </p:sp>
      <p:sp>
        <p:nvSpPr>
          <p:cNvPr id="26" name="TextBox 25"/>
          <p:cNvSpPr txBox="1"/>
          <p:nvPr/>
        </p:nvSpPr>
        <p:spPr>
          <a:xfrm>
            <a:off x="868680" y="6135623"/>
            <a:ext cx="10972800" cy="274320"/>
          </a:xfrm>
          <a:prstGeom prst="rect">
            <a:avLst/>
          </a:prstGeom>
          <a:noFill/>
        </p:spPr>
        <p:txBody>
          <a:bodyPr wrap="square" lIns="0" rIns="0" tIns="0" bIns="0" anchor="t">
            <a:spAutoFit/>
          </a:bodyPr>
          <a:lstStyle/>
          <a:p>
            <a:pPr algn="l"/>
            <a:r>
              <a:rPr sz="1150" b="0" i="0">
                <a:solidFill>
                  <a:srgbClr val="1E293B"/>
                </a:solidFill>
                <a:latin typeface="Calibri"/>
              </a:rPr>
              <a:t>•  IDUN HPC Cluster  —  hpc.ntnu.no/idun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